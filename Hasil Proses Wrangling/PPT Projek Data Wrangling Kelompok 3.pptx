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Lst>
  <p:sldSz cx="18288000" cy="10287000"/>
  <p:notesSz cx="6858000" cy="9144000"/>
  <p:embeddedFontLst>
    <p:embeddedFont>
      <p:font typeface="Roboto Condensed Bold" charset="1" panose="02000000000000000000"/>
      <p:regular r:id="rId41"/>
    </p:embeddedFont>
    <p:embeddedFont>
      <p:font typeface="Open Sans" charset="1" panose="00000000000000000000"/>
      <p:regular r:id="rId42"/>
    </p:embeddedFont>
    <p:embeddedFont>
      <p:font typeface="Open Sans Bold" charset="1" panose="00000000000000000000"/>
      <p:regular r:id="rId43"/>
    </p:embeddedFont>
    <p:embeddedFont>
      <p:font typeface="Open Sans Semi-Bold" charset="1" panose="00000000000000000000"/>
      <p:regular r:id="rId44"/>
    </p:embeddedFont>
    <p:embeddedFont>
      <p:font typeface="Open Sans Italics" charset="1" panose="00000000000000000000"/>
      <p:regular r:id="rId4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fonts/font41.fntdata" Type="http://schemas.openxmlformats.org/officeDocument/2006/relationships/font"/><Relationship Id="rId42" Target="fonts/font42.fntdata" Type="http://schemas.openxmlformats.org/officeDocument/2006/relationships/font"/><Relationship Id="rId43" Target="fonts/font43.fntdata" Type="http://schemas.openxmlformats.org/officeDocument/2006/relationships/font"/><Relationship Id="rId44" Target="fonts/font44.fntdata" Type="http://schemas.openxmlformats.org/officeDocument/2006/relationships/font"/><Relationship Id="rId45" Target="fonts/font45.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png" Type="http://schemas.openxmlformats.org/officeDocument/2006/relationships/image"/><Relationship Id="rId11" Target="../media/image20.svg" Type="http://schemas.openxmlformats.org/officeDocument/2006/relationships/image"/><Relationship Id="rId12" Target="../media/image21.png" Type="http://schemas.openxmlformats.org/officeDocument/2006/relationships/image"/><Relationship Id="rId13" Target="../media/image2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1.png" Type="http://schemas.openxmlformats.org/officeDocument/2006/relationships/image"/><Relationship Id="rId9" Target="../media/image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png" Type="http://schemas.openxmlformats.org/officeDocument/2006/relationships/image"/><Relationship Id="rId11" Target="../media/image2.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14" Target="../media/image25.png" Type="http://schemas.openxmlformats.org/officeDocument/2006/relationships/image"/><Relationship Id="rId15" Target="../media/image26.svg" Type="http://schemas.openxmlformats.org/officeDocument/2006/relationships/image"/><Relationship Id="rId16" Target="../media/image17.png" Type="http://schemas.openxmlformats.org/officeDocument/2006/relationships/image"/><Relationship Id="rId17" Target="../media/image18.svg" Type="http://schemas.openxmlformats.org/officeDocument/2006/relationships/image"/><Relationship Id="rId18" Target="../media/image27.png" Type="http://schemas.openxmlformats.org/officeDocument/2006/relationships/image"/><Relationship Id="rId19" Target="../media/image28.sv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23.png" Type="http://schemas.openxmlformats.org/officeDocument/2006/relationships/image"/><Relationship Id="rId7" Target="../media/image24.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png" Type="http://schemas.openxmlformats.org/officeDocument/2006/relationships/image"/><Relationship Id="rId11" Target="../media/image14.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14" Target="../media/image15.png" Type="http://schemas.openxmlformats.org/officeDocument/2006/relationships/image"/><Relationship Id="rId15" Target="../media/image16.svg" Type="http://schemas.openxmlformats.org/officeDocument/2006/relationships/image"/><Relationship Id="rId16" Target="../media/image17.png" Type="http://schemas.openxmlformats.org/officeDocument/2006/relationships/image"/><Relationship Id="rId17" Target="../media/image18.svg" Type="http://schemas.openxmlformats.org/officeDocument/2006/relationships/image"/><Relationship Id="rId18" Target="../media/image27.png" Type="http://schemas.openxmlformats.org/officeDocument/2006/relationships/image"/><Relationship Id="rId19" Target="../media/image28.sv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 Id="rId8" Target="../media/image29.png" Type="http://schemas.openxmlformats.org/officeDocument/2006/relationships/image"/><Relationship Id="rId9" Target="../media/image30.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1.png" Type="http://schemas.openxmlformats.org/officeDocument/2006/relationships/image"/><Relationship Id="rId11" Target="../media/image32.svg" Type="http://schemas.openxmlformats.org/officeDocument/2006/relationships/image"/><Relationship Id="rId12" Target="../media/image13.png" Type="http://schemas.openxmlformats.org/officeDocument/2006/relationships/image"/><Relationship Id="rId13" Target="../media/image14.svg" Type="http://schemas.openxmlformats.org/officeDocument/2006/relationships/image"/><Relationship Id="rId14" Target="../media/image15.png" Type="http://schemas.openxmlformats.org/officeDocument/2006/relationships/image"/><Relationship Id="rId15" Target="../media/image16.svg" Type="http://schemas.openxmlformats.org/officeDocument/2006/relationships/image"/><Relationship Id="rId16" Target="../media/image17.png" Type="http://schemas.openxmlformats.org/officeDocument/2006/relationships/image"/><Relationship Id="rId17" Target="../media/image18.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3.png" Type="http://schemas.openxmlformats.org/officeDocument/2006/relationships/image"/><Relationship Id="rId9" Target="../media/image4.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png" Type="http://schemas.openxmlformats.org/officeDocument/2006/relationships/image"/><Relationship Id="rId11" Target="../media/image14.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14" Target="../media/image25.png" Type="http://schemas.openxmlformats.org/officeDocument/2006/relationships/image"/><Relationship Id="rId15" Target="../media/image26.svg" Type="http://schemas.openxmlformats.org/officeDocument/2006/relationships/image"/><Relationship Id="rId16" Target="../media/image27.png" Type="http://schemas.openxmlformats.org/officeDocument/2006/relationships/image"/><Relationship Id="rId17" Target="../media/image28.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33.png" Type="http://schemas.openxmlformats.org/officeDocument/2006/relationships/image"/><Relationship Id="rId9" Target="../media/image34.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5.png" Type="http://schemas.openxmlformats.org/officeDocument/2006/relationships/image"/><Relationship Id="rId13" Target="../media/image16.svg" Type="http://schemas.openxmlformats.org/officeDocument/2006/relationships/image"/><Relationship Id="rId14" Target="../media/image25.png" Type="http://schemas.openxmlformats.org/officeDocument/2006/relationships/image"/><Relationship Id="rId15" Target="../media/image26.svg" Type="http://schemas.openxmlformats.org/officeDocument/2006/relationships/image"/><Relationship Id="rId16" Target="../media/image27.png" Type="http://schemas.openxmlformats.org/officeDocument/2006/relationships/image"/><Relationship Id="rId17" Target="../media/image28.svg" Type="http://schemas.openxmlformats.org/officeDocument/2006/relationships/image"/><Relationship Id="rId18" Target="../media/image35.png" Type="http://schemas.openxmlformats.org/officeDocument/2006/relationships/image"/><Relationship Id="rId19" Target="../media/image36.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png" Type="http://schemas.openxmlformats.org/officeDocument/2006/relationships/image"/><Relationship Id="rId11" Target="../media/image2.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14" Target="../media/image15.png" Type="http://schemas.openxmlformats.org/officeDocument/2006/relationships/image"/><Relationship Id="rId15" Target="../media/image16.svg" Type="http://schemas.openxmlformats.org/officeDocument/2006/relationships/image"/><Relationship Id="rId16" Target="../media/image27.png" Type="http://schemas.openxmlformats.org/officeDocument/2006/relationships/image"/><Relationship Id="rId17" Target="../media/image28.sv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37.png" Type="http://schemas.openxmlformats.org/officeDocument/2006/relationships/image"/><Relationship Id="rId7" Target="../media/image3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5.png" Type="http://schemas.openxmlformats.org/officeDocument/2006/relationships/image"/><Relationship Id="rId13" Target="../media/image16.svg" Type="http://schemas.openxmlformats.org/officeDocument/2006/relationships/image"/><Relationship Id="rId14" Target="../media/image25.png" Type="http://schemas.openxmlformats.org/officeDocument/2006/relationships/image"/><Relationship Id="rId15" Target="../media/image26.svg" Type="http://schemas.openxmlformats.org/officeDocument/2006/relationships/image"/><Relationship Id="rId16" Target="../media/image27.png" Type="http://schemas.openxmlformats.org/officeDocument/2006/relationships/image"/><Relationship Id="rId17" Target="../media/image28.svg" Type="http://schemas.openxmlformats.org/officeDocument/2006/relationships/image"/><Relationship Id="rId18" Target="../media/image39.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png" Type="http://schemas.openxmlformats.org/officeDocument/2006/relationships/image"/><Relationship Id="rId11" Target="../media/image2.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14" Target="../media/image15.png" Type="http://schemas.openxmlformats.org/officeDocument/2006/relationships/image"/><Relationship Id="rId15" Target="../media/image16.svg" Type="http://schemas.openxmlformats.org/officeDocument/2006/relationships/image"/><Relationship Id="rId16" Target="../media/image27.png" Type="http://schemas.openxmlformats.org/officeDocument/2006/relationships/image"/><Relationship Id="rId17" Target="../media/image28.sv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37.png" Type="http://schemas.openxmlformats.org/officeDocument/2006/relationships/image"/><Relationship Id="rId7" Target="../media/image3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5.png" Type="http://schemas.openxmlformats.org/officeDocument/2006/relationships/image"/><Relationship Id="rId13" Target="../media/image16.svg" Type="http://schemas.openxmlformats.org/officeDocument/2006/relationships/image"/><Relationship Id="rId14" Target="../media/image17.png" Type="http://schemas.openxmlformats.org/officeDocument/2006/relationships/image"/><Relationship Id="rId15" Target="../media/image18.svg" Type="http://schemas.openxmlformats.org/officeDocument/2006/relationships/image"/><Relationship Id="rId16" Target="../media/image40.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png" Type="http://schemas.openxmlformats.org/officeDocument/2006/relationships/image"/><Relationship Id="rId9" Target="../media/image2.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1.png" Type="http://schemas.openxmlformats.org/officeDocument/2006/relationships/image"/><Relationship Id="rId11" Target="../media/image32.svg" Type="http://schemas.openxmlformats.org/officeDocument/2006/relationships/image"/><Relationship Id="rId12" Target="../media/image13.png" Type="http://schemas.openxmlformats.org/officeDocument/2006/relationships/image"/><Relationship Id="rId13" Target="../media/image14.svg" Type="http://schemas.openxmlformats.org/officeDocument/2006/relationships/image"/><Relationship Id="rId14" Target="../media/image15.png" Type="http://schemas.openxmlformats.org/officeDocument/2006/relationships/image"/><Relationship Id="rId15" Target="../media/image16.svg" Type="http://schemas.openxmlformats.org/officeDocument/2006/relationships/image"/><Relationship Id="rId16" Target="../media/image17.png" Type="http://schemas.openxmlformats.org/officeDocument/2006/relationships/image"/><Relationship Id="rId17" Target="../media/image18.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3.png" Type="http://schemas.openxmlformats.org/officeDocument/2006/relationships/image"/><Relationship Id="rId9" Target="../media/image4.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25.png" Type="http://schemas.openxmlformats.org/officeDocument/2006/relationships/image"/><Relationship Id="rId13" Target="../media/image26.svg" Type="http://schemas.openxmlformats.org/officeDocument/2006/relationships/image"/><Relationship Id="rId14" Target="../media/image27.png" Type="http://schemas.openxmlformats.org/officeDocument/2006/relationships/image"/><Relationship Id="rId15" Target="../media/image28.svg" Type="http://schemas.openxmlformats.org/officeDocument/2006/relationships/image"/><Relationship Id="rId16" Target="../media/image41.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27.png" Type="http://schemas.openxmlformats.org/officeDocument/2006/relationships/image"/><Relationship Id="rId13" Target="../media/image28.svg" Type="http://schemas.openxmlformats.org/officeDocument/2006/relationships/image"/><Relationship Id="rId14" Target="../media/image42.png" Type="http://schemas.openxmlformats.org/officeDocument/2006/relationships/image"/><Relationship Id="rId15" Target="../media/image43.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27.png" Type="http://schemas.openxmlformats.org/officeDocument/2006/relationships/image"/><Relationship Id="rId13" Target="../media/image28.svg" Type="http://schemas.openxmlformats.org/officeDocument/2006/relationships/image"/><Relationship Id="rId14" Target="../media/image44.png" Type="http://schemas.openxmlformats.org/officeDocument/2006/relationships/image"/><Relationship Id="rId15" Target="../media/image45.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27.png" Type="http://schemas.openxmlformats.org/officeDocument/2006/relationships/image"/><Relationship Id="rId13" Target="../media/image28.svg" Type="http://schemas.openxmlformats.org/officeDocument/2006/relationships/image"/><Relationship Id="rId14" Target="../media/image46.png" Type="http://schemas.openxmlformats.org/officeDocument/2006/relationships/image"/><Relationship Id="rId15" Target="../media/image47.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png" Type="http://schemas.openxmlformats.org/officeDocument/2006/relationships/image"/><Relationship Id="rId11" Target="../media/image2.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14" Target="../media/image15.png" Type="http://schemas.openxmlformats.org/officeDocument/2006/relationships/image"/><Relationship Id="rId15" Target="../media/image16.svg" Type="http://schemas.openxmlformats.org/officeDocument/2006/relationships/image"/><Relationship Id="rId16" Target="../media/image27.png" Type="http://schemas.openxmlformats.org/officeDocument/2006/relationships/image"/><Relationship Id="rId17" Target="../media/image28.sv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37.png" Type="http://schemas.openxmlformats.org/officeDocument/2006/relationships/image"/><Relationship Id="rId7" Target="../media/image3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png" Type="http://schemas.openxmlformats.org/officeDocument/2006/relationships/image"/><Relationship Id="rId11" Target="../media/image14.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14" Target="../media/image25.png" Type="http://schemas.openxmlformats.org/officeDocument/2006/relationships/image"/><Relationship Id="rId15" Target="../media/image26.svg" Type="http://schemas.openxmlformats.org/officeDocument/2006/relationships/image"/><Relationship Id="rId16" Target="../media/image27.png" Type="http://schemas.openxmlformats.org/officeDocument/2006/relationships/image"/><Relationship Id="rId17" Target="../media/image28.svg" Type="http://schemas.openxmlformats.org/officeDocument/2006/relationships/image"/><Relationship Id="rId18" Target="../media/image48.png" Type="http://schemas.openxmlformats.org/officeDocument/2006/relationships/image"/><Relationship Id="rId19" Target="../media/image49.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33.png" Type="http://schemas.openxmlformats.org/officeDocument/2006/relationships/image"/><Relationship Id="rId9" Target="../media/image34.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png" Type="http://schemas.openxmlformats.org/officeDocument/2006/relationships/image"/><Relationship Id="rId11" Target="../media/image14.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14" Target="../media/image25.png" Type="http://schemas.openxmlformats.org/officeDocument/2006/relationships/image"/><Relationship Id="rId15" Target="../media/image26.svg" Type="http://schemas.openxmlformats.org/officeDocument/2006/relationships/image"/><Relationship Id="rId16" Target="../media/image27.png" Type="http://schemas.openxmlformats.org/officeDocument/2006/relationships/image"/><Relationship Id="rId17" Target="../media/image28.svg" Type="http://schemas.openxmlformats.org/officeDocument/2006/relationships/image"/><Relationship Id="rId18" Target="../media/image50.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33.png" Type="http://schemas.openxmlformats.org/officeDocument/2006/relationships/image"/><Relationship Id="rId9" Target="../media/image34.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25.png" Type="http://schemas.openxmlformats.org/officeDocument/2006/relationships/image"/><Relationship Id="rId13" Target="../media/image26.svg" Type="http://schemas.openxmlformats.org/officeDocument/2006/relationships/image"/><Relationship Id="rId14" Target="../media/image27.png" Type="http://schemas.openxmlformats.org/officeDocument/2006/relationships/image"/><Relationship Id="rId15" Target="../media/image28.svg" Type="http://schemas.openxmlformats.org/officeDocument/2006/relationships/image"/><Relationship Id="rId16" Target="../media/image51.png" Type="http://schemas.openxmlformats.org/officeDocument/2006/relationships/image"/><Relationship Id="rId17" Target="../media/image52.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png" Type="http://schemas.openxmlformats.org/officeDocument/2006/relationships/image"/><Relationship Id="rId11" Target="../media/image2.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14" Target="../media/image15.png" Type="http://schemas.openxmlformats.org/officeDocument/2006/relationships/image"/><Relationship Id="rId15" Target="../media/image16.svg" Type="http://schemas.openxmlformats.org/officeDocument/2006/relationships/image"/><Relationship Id="rId16" Target="../media/image25.png" Type="http://schemas.openxmlformats.org/officeDocument/2006/relationships/image"/><Relationship Id="rId17" Target="../media/image2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3.png" Type="http://schemas.openxmlformats.org/officeDocument/2006/relationships/image"/><Relationship Id="rId20" Target="../media/image27.png" Type="http://schemas.openxmlformats.org/officeDocument/2006/relationships/image"/><Relationship Id="rId21" Target="../media/image28.sv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23.png" Type="http://schemas.openxmlformats.org/officeDocument/2006/relationships/image"/><Relationship Id="rId7" Target="../media/image24.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5.png" Type="http://schemas.openxmlformats.org/officeDocument/2006/relationships/image"/><Relationship Id="rId13" Target="../media/image16.svg" Type="http://schemas.openxmlformats.org/officeDocument/2006/relationships/image"/><Relationship Id="rId14" Target="../media/image25.png" Type="http://schemas.openxmlformats.org/officeDocument/2006/relationships/image"/><Relationship Id="rId15" Target="../media/image26.svg" Type="http://schemas.openxmlformats.org/officeDocument/2006/relationships/image"/><Relationship Id="rId16" Target="../media/image17.png" Type="http://schemas.openxmlformats.org/officeDocument/2006/relationships/image"/><Relationship Id="rId17" Target="../media/image18.svg" Type="http://schemas.openxmlformats.org/officeDocument/2006/relationships/image"/><Relationship Id="rId18" Target="../media/image27.png" Type="http://schemas.openxmlformats.org/officeDocument/2006/relationships/image"/><Relationship Id="rId19" Target="../media/image28.svg" Type="http://schemas.openxmlformats.org/officeDocument/2006/relationships/image"/><Relationship Id="rId2" Target="../media/image3.png" Type="http://schemas.openxmlformats.org/officeDocument/2006/relationships/image"/><Relationship Id="rId20" Target="../media/image53.png" Type="http://schemas.openxmlformats.org/officeDocument/2006/relationships/image"/><Relationship Id="rId21" Target="../media/image54.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png" Type="http://schemas.openxmlformats.org/officeDocument/2006/relationships/image"/><Relationship Id="rId9" Target="../media/image2.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5.png" Type="http://schemas.openxmlformats.org/officeDocument/2006/relationships/image"/><Relationship Id="rId13" Target="../media/image16.svg" Type="http://schemas.openxmlformats.org/officeDocument/2006/relationships/image"/><Relationship Id="rId14" Target="../media/image25.png" Type="http://schemas.openxmlformats.org/officeDocument/2006/relationships/image"/><Relationship Id="rId15" Target="../media/image26.svg" Type="http://schemas.openxmlformats.org/officeDocument/2006/relationships/image"/><Relationship Id="rId16" Target="../media/image17.png" Type="http://schemas.openxmlformats.org/officeDocument/2006/relationships/image"/><Relationship Id="rId17" Target="../media/image18.svg" Type="http://schemas.openxmlformats.org/officeDocument/2006/relationships/image"/><Relationship Id="rId18" Target="../media/image27.png" Type="http://schemas.openxmlformats.org/officeDocument/2006/relationships/image"/><Relationship Id="rId19" Target="../media/image28.svg" Type="http://schemas.openxmlformats.org/officeDocument/2006/relationships/image"/><Relationship Id="rId2" Target="../media/image3.png" Type="http://schemas.openxmlformats.org/officeDocument/2006/relationships/image"/><Relationship Id="rId20" Target="../media/image55.png" Type="http://schemas.openxmlformats.org/officeDocument/2006/relationships/image"/><Relationship Id="rId21" Target="../media/image56.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png" Type="http://schemas.openxmlformats.org/officeDocument/2006/relationships/image"/><Relationship Id="rId9" Target="../media/image2.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5.png" Type="http://schemas.openxmlformats.org/officeDocument/2006/relationships/image"/><Relationship Id="rId13" Target="../media/image16.svg" Type="http://schemas.openxmlformats.org/officeDocument/2006/relationships/image"/><Relationship Id="rId14" Target="../media/image25.png" Type="http://schemas.openxmlformats.org/officeDocument/2006/relationships/image"/><Relationship Id="rId15" Target="../media/image26.svg" Type="http://schemas.openxmlformats.org/officeDocument/2006/relationships/image"/><Relationship Id="rId16" Target="../media/image17.png" Type="http://schemas.openxmlformats.org/officeDocument/2006/relationships/image"/><Relationship Id="rId17" Target="../media/image18.svg" Type="http://schemas.openxmlformats.org/officeDocument/2006/relationships/image"/><Relationship Id="rId18" Target="../media/image27.png" Type="http://schemas.openxmlformats.org/officeDocument/2006/relationships/image"/><Relationship Id="rId19" Target="../media/image28.svg" Type="http://schemas.openxmlformats.org/officeDocument/2006/relationships/image"/><Relationship Id="rId2" Target="../media/image3.png" Type="http://schemas.openxmlformats.org/officeDocument/2006/relationships/image"/><Relationship Id="rId20" Target="../media/image57.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png" Type="http://schemas.openxmlformats.org/officeDocument/2006/relationships/image"/><Relationship Id="rId9" Target="../media/image2.sv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5.png" Type="http://schemas.openxmlformats.org/officeDocument/2006/relationships/image"/><Relationship Id="rId13" Target="../media/image16.svg" Type="http://schemas.openxmlformats.org/officeDocument/2006/relationships/image"/><Relationship Id="rId14" Target="../media/image25.png" Type="http://schemas.openxmlformats.org/officeDocument/2006/relationships/image"/><Relationship Id="rId15" Target="../media/image26.svg" Type="http://schemas.openxmlformats.org/officeDocument/2006/relationships/image"/><Relationship Id="rId16" Target="../media/image17.png" Type="http://schemas.openxmlformats.org/officeDocument/2006/relationships/image"/><Relationship Id="rId17" Target="../media/image18.svg" Type="http://schemas.openxmlformats.org/officeDocument/2006/relationships/image"/><Relationship Id="rId18" Target="../media/image27.png" Type="http://schemas.openxmlformats.org/officeDocument/2006/relationships/image"/><Relationship Id="rId19" Target="../media/image28.svg" Type="http://schemas.openxmlformats.org/officeDocument/2006/relationships/image"/><Relationship Id="rId2" Target="../media/image3.png" Type="http://schemas.openxmlformats.org/officeDocument/2006/relationships/image"/><Relationship Id="rId20" Target="../media/image58.png" Type="http://schemas.openxmlformats.org/officeDocument/2006/relationships/image"/><Relationship Id="rId21" Target="../media/image59.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png" Type="http://schemas.openxmlformats.org/officeDocument/2006/relationships/image"/><Relationship Id="rId9" Target="../media/image2.sv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5.png" Type="http://schemas.openxmlformats.org/officeDocument/2006/relationships/image"/><Relationship Id="rId13" Target="../media/image16.svg" Type="http://schemas.openxmlformats.org/officeDocument/2006/relationships/image"/><Relationship Id="rId14" Target="../media/image25.png" Type="http://schemas.openxmlformats.org/officeDocument/2006/relationships/image"/><Relationship Id="rId15" Target="../media/image26.svg" Type="http://schemas.openxmlformats.org/officeDocument/2006/relationships/image"/><Relationship Id="rId16" Target="../media/image17.png" Type="http://schemas.openxmlformats.org/officeDocument/2006/relationships/image"/><Relationship Id="rId17" Target="../media/image18.svg" Type="http://schemas.openxmlformats.org/officeDocument/2006/relationships/image"/><Relationship Id="rId18" Target="../media/image27.png" Type="http://schemas.openxmlformats.org/officeDocument/2006/relationships/image"/><Relationship Id="rId19" Target="../media/image28.svg" Type="http://schemas.openxmlformats.org/officeDocument/2006/relationships/image"/><Relationship Id="rId2" Target="../media/image3.png" Type="http://schemas.openxmlformats.org/officeDocument/2006/relationships/image"/><Relationship Id="rId20" Target="../media/image60.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png" Type="http://schemas.openxmlformats.org/officeDocument/2006/relationships/image"/><Relationship Id="rId9" Target="../media/image2.sv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5.png" Type="http://schemas.openxmlformats.org/officeDocument/2006/relationships/image"/><Relationship Id="rId13" Target="../media/image16.svg" Type="http://schemas.openxmlformats.org/officeDocument/2006/relationships/image"/><Relationship Id="rId14" Target="../media/image25.png" Type="http://schemas.openxmlformats.org/officeDocument/2006/relationships/image"/><Relationship Id="rId15" Target="../media/image26.svg" Type="http://schemas.openxmlformats.org/officeDocument/2006/relationships/image"/><Relationship Id="rId16" Target="../media/image17.png" Type="http://schemas.openxmlformats.org/officeDocument/2006/relationships/image"/><Relationship Id="rId17" Target="../media/image18.svg" Type="http://schemas.openxmlformats.org/officeDocument/2006/relationships/image"/><Relationship Id="rId18" Target="../media/image27.png" Type="http://schemas.openxmlformats.org/officeDocument/2006/relationships/image"/><Relationship Id="rId19" Target="../media/image28.svg" Type="http://schemas.openxmlformats.org/officeDocument/2006/relationships/image"/><Relationship Id="rId2" Target="../media/image3.png" Type="http://schemas.openxmlformats.org/officeDocument/2006/relationships/image"/><Relationship Id="rId20" Target="../media/image61.png" Type="http://schemas.openxmlformats.org/officeDocument/2006/relationships/image"/><Relationship Id="rId21" Target="../media/image62.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png" Type="http://schemas.openxmlformats.org/officeDocument/2006/relationships/image"/><Relationship Id="rId9" Target="../media/image2.sv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5.png" Type="http://schemas.openxmlformats.org/officeDocument/2006/relationships/image"/><Relationship Id="rId13" Target="../media/image16.svg" Type="http://schemas.openxmlformats.org/officeDocument/2006/relationships/image"/><Relationship Id="rId14" Target="../media/image25.png" Type="http://schemas.openxmlformats.org/officeDocument/2006/relationships/image"/><Relationship Id="rId15" Target="../media/image26.svg" Type="http://schemas.openxmlformats.org/officeDocument/2006/relationships/image"/><Relationship Id="rId16" Target="../media/image17.png" Type="http://schemas.openxmlformats.org/officeDocument/2006/relationships/image"/><Relationship Id="rId17" Target="../media/image18.svg" Type="http://schemas.openxmlformats.org/officeDocument/2006/relationships/image"/><Relationship Id="rId18" Target="../media/image27.png" Type="http://schemas.openxmlformats.org/officeDocument/2006/relationships/image"/><Relationship Id="rId19" Target="../media/image28.svg" Type="http://schemas.openxmlformats.org/officeDocument/2006/relationships/image"/><Relationship Id="rId2" Target="../media/image3.png" Type="http://schemas.openxmlformats.org/officeDocument/2006/relationships/image"/><Relationship Id="rId20" Target="../media/image6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png" Type="http://schemas.openxmlformats.org/officeDocument/2006/relationships/image"/><Relationship Id="rId9" Target="../media/image2.sv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5.png" Type="http://schemas.openxmlformats.org/officeDocument/2006/relationships/image"/><Relationship Id="rId13" Target="../media/image16.svg" Type="http://schemas.openxmlformats.org/officeDocument/2006/relationships/image"/><Relationship Id="rId14" Target="../media/image25.png" Type="http://schemas.openxmlformats.org/officeDocument/2006/relationships/image"/><Relationship Id="rId15" Target="../media/image26.svg" Type="http://schemas.openxmlformats.org/officeDocument/2006/relationships/image"/><Relationship Id="rId16" Target="../media/image17.png" Type="http://schemas.openxmlformats.org/officeDocument/2006/relationships/image"/><Relationship Id="rId17" Target="../media/image18.svg" Type="http://schemas.openxmlformats.org/officeDocument/2006/relationships/image"/><Relationship Id="rId18" Target="../media/image27.png" Type="http://schemas.openxmlformats.org/officeDocument/2006/relationships/image"/><Relationship Id="rId19" Target="../media/image28.svg" Type="http://schemas.openxmlformats.org/officeDocument/2006/relationships/image"/><Relationship Id="rId2" Target="../media/image3.png" Type="http://schemas.openxmlformats.org/officeDocument/2006/relationships/image"/><Relationship Id="rId20" Target="../media/image64.png" Type="http://schemas.openxmlformats.org/officeDocument/2006/relationships/image"/><Relationship Id="rId21" Target="../media/image65.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png" Type="http://schemas.openxmlformats.org/officeDocument/2006/relationships/image"/><Relationship Id="rId9" Target="../media/image2.sv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1.png" Type="http://schemas.openxmlformats.org/officeDocument/2006/relationships/image"/><Relationship Id="rId11" Target="../media/image32.svg" Type="http://schemas.openxmlformats.org/officeDocument/2006/relationships/image"/><Relationship Id="rId12" Target="https://github.com/septianiamalia/Projek-Data-Wrangling-Kelompok-3_2024C" TargetMode="External" Type="http://schemas.openxmlformats.org/officeDocument/2006/relationships/hyperlink"/><Relationship Id="rId13" Target="../media/image13.png" Type="http://schemas.openxmlformats.org/officeDocument/2006/relationships/image"/><Relationship Id="rId14" Target="../media/image14.svg" Type="http://schemas.openxmlformats.org/officeDocument/2006/relationships/image"/><Relationship Id="rId15" Target="../media/image15.png" Type="http://schemas.openxmlformats.org/officeDocument/2006/relationships/image"/><Relationship Id="rId16" Target="../media/image16.svg" Type="http://schemas.openxmlformats.org/officeDocument/2006/relationships/image"/><Relationship Id="rId17" Target="../media/image17.png" Type="http://schemas.openxmlformats.org/officeDocument/2006/relationships/image"/><Relationship Id="rId18" Target="../media/image18.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3.png" Type="http://schemas.openxmlformats.org/officeDocument/2006/relationships/image"/><Relationship Id="rId9" Target="../media/image4.sv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5.png" Type="http://schemas.openxmlformats.org/officeDocument/2006/relationships/image"/><Relationship Id="rId13" Target="../media/image16.svg" Type="http://schemas.openxmlformats.org/officeDocument/2006/relationships/image"/><Relationship Id="rId14" Target="../media/image25.png" Type="http://schemas.openxmlformats.org/officeDocument/2006/relationships/image"/><Relationship Id="rId15" Target="../media/image26.svg" Type="http://schemas.openxmlformats.org/officeDocument/2006/relationships/image"/><Relationship Id="rId16" Target="../media/image17.png" Type="http://schemas.openxmlformats.org/officeDocument/2006/relationships/image"/><Relationship Id="rId17" Target="../media/image18.svg" Type="http://schemas.openxmlformats.org/officeDocument/2006/relationships/image"/><Relationship Id="rId18" Target="../media/image66.pn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png" Type="http://schemas.openxmlformats.org/officeDocument/2006/relationships/image"/><Relationship Id="rId9" Target="../media/image2.sv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1.png" Type="http://schemas.openxmlformats.org/officeDocument/2006/relationships/image"/><Relationship Id="rId11" Target="../media/image32.svg" Type="http://schemas.openxmlformats.org/officeDocument/2006/relationships/image"/><Relationship Id="rId12" Target="../media/image13.png" Type="http://schemas.openxmlformats.org/officeDocument/2006/relationships/image"/><Relationship Id="rId13" Target="../media/image14.svg" Type="http://schemas.openxmlformats.org/officeDocument/2006/relationships/image"/><Relationship Id="rId14" Target="../media/image15.png" Type="http://schemas.openxmlformats.org/officeDocument/2006/relationships/image"/><Relationship Id="rId15" Target="../media/image16.svg" Type="http://schemas.openxmlformats.org/officeDocument/2006/relationships/image"/><Relationship Id="rId16" Target="../media/image17.png" Type="http://schemas.openxmlformats.org/officeDocument/2006/relationships/image"/><Relationship Id="rId17" Target="../media/image18.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3.png" Type="http://schemas.openxmlformats.org/officeDocument/2006/relationships/image"/><Relationship Id="rId9" Target="../media/image4.sv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1.png" Type="http://schemas.openxmlformats.org/officeDocument/2006/relationships/image"/><Relationship Id="rId11" Target="../media/image32.svg" Type="http://schemas.openxmlformats.org/officeDocument/2006/relationships/image"/><Relationship Id="rId12" Target="../media/image13.png" Type="http://schemas.openxmlformats.org/officeDocument/2006/relationships/image"/><Relationship Id="rId13" Target="../media/image14.svg" Type="http://schemas.openxmlformats.org/officeDocument/2006/relationships/image"/><Relationship Id="rId14" Target="../media/image15.png" Type="http://schemas.openxmlformats.org/officeDocument/2006/relationships/image"/><Relationship Id="rId15" Target="../media/image16.svg" Type="http://schemas.openxmlformats.org/officeDocument/2006/relationships/image"/><Relationship Id="rId16" Target="../media/image17.png" Type="http://schemas.openxmlformats.org/officeDocument/2006/relationships/image"/><Relationship Id="rId17" Target="../media/image18.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3.png" Type="http://schemas.openxmlformats.org/officeDocument/2006/relationships/image"/><Relationship Id="rId9" Target="../media/image4.sv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png" Type="http://schemas.openxmlformats.org/officeDocument/2006/relationships/image"/><Relationship Id="rId11" Target="../media/image2.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14" Target="../media/image15.png" Type="http://schemas.openxmlformats.org/officeDocument/2006/relationships/image"/><Relationship Id="rId15" Target="../media/image16.svg" Type="http://schemas.openxmlformats.org/officeDocument/2006/relationships/image"/><Relationship Id="rId16" Target="../media/image25.png" Type="http://schemas.openxmlformats.org/officeDocument/2006/relationships/image"/><Relationship Id="rId17" Target="../media/image2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3.png" Type="http://schemas.openxmlformats.org/officeDocument/2006/relationships/image"/><Relationship Id="rId20" Target="../media/image27.png" Type="http://schemas.openxmlformats.org/officeDocument/2006/relationships/image"/><Relationship Id="rId21" Target="../media/image28.sv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23.png" Type="http://schemas.openxmlformats.org/officeDocument/2006/relationships/image"/><Relationship Id="rId7" Target="../media/image24.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png" Type="http://schemas.openxmlformats.org/officeDocument/2006/relationships/image"/><Relationship Id="rId11" Target="../media/image24.svg" Type="http://schemas.openxmlformats.org/officeDocument/2006/relationships/image"/><Relationship Id="rId12" Target="../media/image13.png" Type="http://schemas.openxmlformats.org/officeDocument/2006/relationships/image"/><Relationship Id="rId13" Target="../media/image14.svg" Type="http://schemas.openxmlformats.org/officeDocument/2006/relationships/image"/><Relationship Id="rId14" Target="../media/image9.png" Type="http://schemas.openxmlformats.org/officeDocument/2006/relationships/image"/><Relationship Id="rId15" Target="../media/image10.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25.png" Type="http://schemas.openxmlformats.org/officeDocument/2006/relationships/image"/><Relationship Id="rId19" Target="../media/image26.svg" Type="http://schemas.openxmlformats.org/officeDocument/2006/relationships/image"/><Relationship Id="rId2" Target="../media/image5.png" Type="http://schemas.openxmlformats.org/officeDocument/2006/relationships/image"/><Relationship Id="rId20" Target="../media/image17.png" Type="http://schemas.openxmlformats.org/officeDocument/2006/relationships/image"/><Relationship Id="rId21" Target="../media/image18.svg" Type="http://schemas.openxmlformats.org/officeDocument/2006/relationships/image"/><Relationship Id="rId22" Target="../media/image27.png" Type="http://schemas.openxmlformats.org/officeDocument/2006/relationships/image"/><Relationship Id="rId23" Target="../media/image28.sv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F8E9"/>
        </a:solidFill>
      </p:bgPr>
    </p:bg>
    <p:spTree>
      <p:nvGrpSpPr>
        <p:cNvPr id="1" name=""/>
        <p:cNvGrpSpPr/>
        <p:nvPr/>
      </p:nvGrpSpPr>
      <p:grpSpPr>
        <a:xfrm>
          <a:off x="0" y="0"/>
          <a:ext cx="0" cy="0"/>
          <a:chOff x="0" y="0"/>
          <a:chExt cx="0" cy="0"/>
        </a:xfrm>
      </p:grpSpPr>
      <p:sp>
        <p:nvSpPr>
          <p:cNvPr name="Freeform 2" id="2"/>
          <p:cNvSpPr/>
          <p:nvPr/>
        </p:nvSpPr>
        <p:spPr>
          <a:xfrm flipH="false" flipV="false" rot="-5687936">
            <a:off x="15336566" y="-1307732"/>
            <a:ext cx="3845468" cy="4114800"/>
          </a:xfrm>
          <a:custGeom>
            <a:avLst/>
            <a:gdLst/>
            <a:ahLst/>
            <a:cxnLst/>
            <a:rect r="r" b="b" t="t" l="l"/>
            <a:pathLst>
              <a:path h="4114800" w="3845468">
                <a:moveTo>
                  <a:pt x="0" y="0"/>
                </a:moveTo>
                <a:lnTo>
                  <a:pt x="3845468" y="0"/>
                </a:lnTo>
                <a:lnTo>
                  <a:pt x="3845468"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3138009" y="1035414"/>
            <a:ext cx="4121291" cy="571004"/>
            <a:chOff x="0" y="0"/>
            <a:chExt cx="1370603" cy="189897"/>
          </a:xfrm>
        </p:grpSpPr>
        <p:sp>
          <p:nvSpPr>
            <p:cNvPr name="Freeform 4" id="4"/>
            <p:cNvSpPr/>
            <p:nvPr/>
          </p:nvSpPr>
          <p:spPr>
            <a:xfrm flipH="false" flipV="false" rot="0">
              <a:off x="0" y="0"/>
              <a:ext cx="1370603" cy="189897"/>
            </a:xfrm>
            <a:custGeom>
              <a:avLst/>
              <a:gdLst/>
              <a:ahLst/>
              <a:cxnLst/>
              <a:rect r="r" b="b" t="t" l="l"/>
              <a:pathLst>
                <a:path h="189897" w="1370603">
                  <a:moveTo>
                    <a:pt x="94948" y="0"/>
                  </a:moveTo>
                  <a:lnTo>
                    <a:pt x="1275655" y="0"/>
                  </a:lnTo>
                  <a:cubicBezTo>
                    <a:pt x="1300837" y="0"/>
                    <a:pt x="1324987" y="10003"/>
                    <a:pt x="1342794" y="27810"/>
                  </a:cubicBezTo>
                  <a:cubicBezTo>
                    <a:pt x="1360600" y="45616"/>
                    <a:pt x="1370603" y="69767"/>
                    <a:pt x="1370603" y="94948"/>
                  </a:cubicBezTo>
                  <a:lnTo>
                    <a:pt x="1370603" y="94948"/>
                  </a:lnTo>
                  <a:cubicBezTo>
                    <a:pt x="1370603" y="147387"/>
                    <a:pt x="1328094" y="189897"/>
                    <a:pt x="1275655" y="189897"/>
                  </a:cubicBezTo>
                  <a:lnTo>
                    <a:pt x="94948" y="189897"/>
                  </a:lnTo>
                  <a:cubicBezTo>
                    <a:pt x="42510" y="189897"/>
                    <a:pt x="0" y="147387"/>
                    <a:pt x="0" y="94948"/>
                  </a:cubicBezTo>
                  <a:lnTo>
                    <a:pt x="0" y="94948"/>
                  </a:lnTo>
                  <a:cubicBezTo>
                    <a:pt x="0" y="42510"/>
                    <a:pt x="42510" y="0"/>
                    <a:pt x="94948" y="0"/>
                  </a:cubicBezTo>
                  <a:close/>
                </a:path>
              </a:pathLst>
            </a:custGeom>
            <a:solidFill>
              <a:srgbClr val="FAA607"/>
            </a:solidFill>
            <a:ln cap="rnd">
              <a:noFill/>
              <a:prstDash val="solid"/>
              <a:round/>
            </a:ln>
          </p:spPr>
        </p:sp>
        <p:sp>
          <p:nvSpPr>
            <p:cNvPr name="TextBox 5" id="5"/>
            <p:cNvSpPr txBox="true"/>
            <p:nvPr/>
          </p:nvSpPr>
          <p:spPr>
            <a:xfrm>
              <a:off x="0" y="-57150"/>
              <a:ext cx="1370603" cy="247047"/>
            </a:xfrm>
            <a:prstGeom prst="rect">
              <a:avLst/>
            </a:prstGeom>
          </p:spPr>
          <p:txBody>
            <a:bodyPr anchor="ctr" rtlCol="false" tIns="50800" lIns="50800" bIns="50800" rIns="50800"/>
            <a:lstStyle/>
            <a:p>
              <a:pPr algn="ctr" marL="0" indent="0" lvl="0">
                <a:lnSpc>
                  <a:spcPts val="2824"/>
                </a:lnSpc>
                <a:spcBef>
                  <a:spcPct val="0"/>
                </a:spcBef>
              </a:pPr>
            </a:p>
          </p:txBody>
        </p:sp>
      </p:grpSp>
      <p:sp>
        <p:nvSpPr>
          <p:cNvPr name="Freeform 6" id="6"/>
          <p:cNvSpPr/>
          <p:nvPr/>
        </p:nvSpPr>
        <p:spPr>
          <a:xfrm flipH="false" flipV="false" rot="0">
            <a:off x="16815378" y="1166754"/>
            <a:ext cx="296763" cy="308325"/>
          </a:xfrm>
          <a:custGeom>
            <a:avLst/>
            <a:gdLst/>
            <a:ahLst/>
            <a:cxnLst/>
            <a:rect r="r" b="b" t="t" l="l"/>
            <a:pathLst>
              <a:path h="308325" w="296763">
                <a:moveTo>
                  <a:pt x="0" y="0"/>
                </a:moveTo>
                <a:lnTo>
                  <a:pt x="296763" y="0"/>
                </a:lnTo>
                <a:lnTo>
                  <a:pt x="296763" y="308325"/>
                </a:lnTo>
                <a:lnTo>
                  <a:pt x="0" y="30832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2145208">
            <a:off x="10948592" y="5500567"/>
            <a:ext cx="8984724" cy="4018622"/>
          </a:xfrm>
          <a:custGeom>
            <a:avLst/>
            <a:gdLst/>
            <a:ahLst/>
            <a:cxnLst/>
            <a:rect r="r" b="b" t="t" l="l"/>
            <a:pathLst>
              <a:path h="4018622" w="8984724">
                <a:moveTo>
                  <a:pt x="0" y="0"/>
                </a:moveTo>
                <a:lnTo>
                  <a:pt x="8984725" y="0"/>
                </a:lnTo>
                <a:lnTo>
                  <a:pt x="8984725" y="4018623"/>
                </a:lnTo>
                <a:lnTo>
                  <a:pt x="0" y="401862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0384998" y="2397989"/>
            <a:ext cx="6430380" cy="6430380"/>
          </a:xfrm>
          <a:custGeom>
            <a:avLst/>
            <a:gdLst/>
            <a:ahLst/>
            <a:cxnLst/>
            <a:rect r="r" b="b" t="t" l="l"/>
            <a:pathLst>
              <a:path h="6430380" w="6430380">
                <a:moveTo>
                  <a:pt x="0" y="0"/>
                </a:moveTo>
                <a:lnTo>
                  <a:pt x="6430380" y="0"/>
                </a:lnTo>
                <a:lnTo>
                  <a:pt x="6430380" y="6430380"/>
                </a:lnTo>
                <a:lnTo>
                  <a:pt x="0" y="643038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9" id="9"/>
          <p:cNvGrpSpPr/>
          <p:nvPr/>
        </p:nvGrpSpPr>
        <p:grpSpPr>
          <a:xfrm rot="0">
            <a:off x="1847695" y="6530496"/>
            <a:ext cx="174754" cy="979383"/>
            <a:chOff x="0" y="0"/>
            <a:chExt cx="46026" cy="257944"/>
          </a:xfrm>
        </p:grpSpPr>
        <p:sp>
          <p:nvSpPr>
            <p:cNvPr name="Freeform 10" id="10"/>
            <p:cNvSpPr/>
            <p:nvPr/>
          </p:nvSpPr>
          <p:spPr>
            <a:xfrm flipH="false" flipV="false" rot="0">
              <a:off x="0" y="0"/>
              <a:ext cx="46026" cy="257944"/>
            </a:xfrm>
            <a:custGeom>
              <a:avLst/>
              <a:gdLst/>
              <a:ahLst/>
              <a:cxnLst/>
              <a:rect r="r" b="b" t="t" l="l"/>
              <a:pathLst>
                <a:path h="257944" w="46026">
                  <a:moveTo>
                    <a:pt x="23013" y="0"/>
                  </a:moveTo>
                  <a:lnTo>
                    <a:pt x="23013" y="0"/>
                  </a:lnTo>
                  <a:cubicBezTo>
                    <a:pt x="35723" y="0"/>
                    <a:pt x="46026" y="10303"/>
                    <a:pt x="46026" y="23013"/>
                  </a:cubicBezTo>
                  <a:lnTo>
                    <a:pt x="46026" y="234931"/>
                  </a:lnTo>
                  <a:cubicBezTo>
                    <a:pt x="46026" y="241035"/>
                    <a:pt x="43601" y="246888"/>
                    <a:pt x="39285" y="251204"/>
                  </a:cubicBezTo>
                  <a:cubicBezTo>
                    <a:pt x="34970" y="255520"/>
                    <a:pt x="29116" y="257944"/>
                    <a:pt x="23013" y="257944"/>
                  </a:cubicBezTo>
                  <a:lnTo>
                    <a:pt x="23013" y="257944"/>
                  </a:lnTo>
                  <a:cubicBezTo>
                    <a:pt x="16910" y="257944"/>
                    <a:pt x="11056" y="255520"/>
                    <a:pt x="6740" y="251204"/>
                  </a:cubicBezTo>
                  <a:cubicBezTo>
                    <a:pt x="2425" y="246888"/>
                    <a:pt x="0" y="241035"/>
                    <a:pt x="0" y="234931"/>
                  </a:cubicBezTo>
                  <a:lnTo>
                    <a:pt x="0" y="23013"/>
                  </a:lnTo>
                  <a:cubicBezTo>
                    <a:pt x="0" y="16910"/>
                    <a:pt x="2425" y="11056"/>
                    <a:pt x="6740" y="6740"/>
                  </a:cubicBezTo>
                  <a:cubicBezTo>
                    <a:pt x="11056" y="2425"/>
                    <a:pt x="16910" y="0"/>
                    <a:pt x="23013" y="0"/>
                  </a:cubicBezTo>
                  <a:close/>
                </a:path>
              </a:pathLst>
            </a:custGeom>
            <a:solidFill>
              <a:srgbClr val="FAA607"/>
            </a:solidFill>
          </p:spPr>
        </p:sp>
        <p:sp>
          <p:nvSpPr>
            <p:cNvPr name="TextBox 11" id="11"/>
            <p:cNvSpPr txBox="true"/>
            <p:nvPr/>
          </p:nvSpPr>
          <p:spPr>
            <a:xfrm>
              <a:off x="0" y="28575"/>
              <a:ext cx="46026" cy="229369"/>
            </a:xfrm>
            <a:prstGeom prst="rect">
              <a:avLst/>
            </a:prstGeom>
          </p:spPr>
          <p:txBody>
            <a:bodyPr anchor="ctr" rtlCol="false" tIns="50800" lIns="50800" bIns="50800" rIns="50800"/>
            <a:lstStyle/>
            <a:p>
              <a:pPr algn="ctr">
                <a:lnSpc>
                  <a:spcPts val="2000"/>
                </a:lnSpc>
              </a:pPr>
            </a:p>
          </p:txBody>
        </p:sp>
      </p:grpSp>
      <p:sp>
        <p:nvSpPr>
          <p:cNvPr name="Freeform 12" id="12"/>
          <p:cNvSpPr/>
          <p:nvPr/>
        </p:nvSpPr>
        <p:spPr>
          <a:xfrm flipH="false" flipV="false" rot="6034560">
            <a:off x="-1502391" y="7200900"/>
            <a:ext cx="3845468" cy="4114800"/>
          </a:xfrm>
          <a:custGeom>
            <a:avLst/>
            <a:gdLst/>
            <a:ahLst/>
            <a:cxnLst/>
            <a:rect r="r" b="b" t="t" l="l"/>
            <a:pathLst>
              <a:path h="4114800" w="3845468">
                <a:moveTo>
                  <a:pt x="0" y="0"/>
                </a:moveTo>
                <a:lnTo>
                  <a:pt x="3845468" y="0"/>
                </a:lnTo>
                <a:lnTo>
                  <a:pt x="384546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13" id="13"/>
          <p:cNvGrpSpPr/>
          <p:nvPr/>
        </p:nvGrpSpPr>
        <p:grpSpPr>
          <a:xfrm rot="0">
            <a:off x="1847695" y="7961066"/>
            <a:ext cx="3662437" cy="626198"/>
            <a:chOff x="0" y="0"/>
            <a:chExt cx="811224" cy="138702"/>
          </a:xfrm>
        </p:grpSpPr>
        <p:sp>
          <p:nvSpPr>
            <p:cNvPr name="Freeform 14" id="14"/>
            <p:cNvSpPr/>
            <p:nvPr/>
          </p:nvSpPr>
          <p:spPr>
            <a:xfrm flipH="false" flipV="false" rot="0">
              <a:off x="0" y="0"/>
              <a:ext cx="811224" cy="138702"/>
            </a:xfrm>
            <a:custGeom>
              <a:avLst/>
              <a:gdLst/>
              <a:ahLst/>
              <a:cxnLst/>
              <a:rect r="r" b="b" t="t" l="l"/>
              <a:pathLst>
                <a:path h="138702" w="811224">
                  <a:moveTo>
                    <a:pt x="69351" y="0"/>
                  </a:moveTo>
                  <a:lnTo>
                    <a:pt x="741873" y="0"/>
                  </a:lnTo>
                  <a:cubicBezTo>
                    <a:pt x="760266" y="0"/>
                    <a:pt x="777905" y="7307"/>
                    <a:pt x="790911" y="20312"/>
                  </a:cubicBezTo>
                  <a:cubicBezTo>
                    <a:pt x="803917" y="33318"/>
                    <a:pt x="811224" y="50958"/>
                    <a:pt x="811224" y="69351"/>
                  </a:cubicBezTo>
                  <a:lnTo>
                    <a:pt x="811224" y="69351"/>
                  </a:lnTo>
                  <a:cubicBezTo>
                    <a:pt x="811224" y="107652"/>
                    <a:pt x="780174" y="138702"/>
                    <a:pt x="741873" y="138702"/>
                  </a:cubicBezTo>
                  <a:lnTo>
                    <a:pt x="69351" y="138702"/>
                  </a:lnTo>
                  <a:cubicBezTo>
                    <a:pt x="31049" y="138702"/>
                    <a:pt x="0" y="107652"/>
                    <a:pt x="0" y="69351"/>
                  </a:cubicBezTo>
                  <a:lnTo>
                    <a:pt x="0" y="69351"/>
                  </a:lnTo>
                  <a:cubicBezTo>
                    <a:pt x="0" y="31049"/>
                    <a:pt x="31049" y="0"/>
                    <a:pt x="69351" y="0"/>
                  </a:cubicBezTo>
                  <a:close/>
                </a:path>
              </a:pathLst>
            </a:custGeom>
            <a:solidFill>
              <a:srgbClr val="5D4FCA"/>
            </a:solidFill>
            <a:ln cap="rnd">
              <a:noFill/>
              <a:prstDash val="solid"/>
              <a:round/>
            </a:ln>
          </p:spPr>
        </p:sp>
        <p:sp>
          <p:nvSpPr>
            <p:cNvPr name="TextBox 15" id="15"/>
            <p:cNvSpPr txBox="true"/>
            <p:nvPr/>
          </p:nvSpPr>
          <p:spPr>
            <a:xfrm>
              <a:off x="0" y="-47625"/>
              <a:ext cx="811224" cy="186327"/>
            </a:xfrm>
            <a:prstGeom prst="rect">
              <a:avLst/>
            </a:prstGeom>
          </p:spPr>
          <p:txBody>
            <a:bodyPr anchor="ctr" rtlCol="false" tIns="50800" lIns="50800" bIns="50800" rIns="50800"/>
            <a:lstStyle/>
            <a:p>
              <a:pPr algn="ctr" marL="0" indent="0" lvl="0">
                <a:lnSpc>
                  <a:spcPts val="2824"/>
                </a:lnSpc>
                <a:spcBef>
                  <a:spcPct val="0"/>
                </a:spcBef>
              </a:pPr>
            </a:p>
          </p:txBody>
        </p:sp>
      </p:grpSp>
      <p:grpSp>
        <p:nvGrpSpPr>
          <p:cNvPr name="Group 16" id="16"/>
          <p:cNvGrpSpPr/>
          <p:nvPr/>
        </p:nvGrpSpPr>
        <p:grpSpPr>
          <a:xfrm rot="0">
            <a:off x="5774503" y="7961066"/>
            <a:ext cx="3057319" cy="626198"/>
            <a:chOff x="0" y="0"/>
            <a:chExt cx="677191" cy="138702"/>
          </a:xfrm>
        </p:grpSpPr>
        <p:sp>
          <p:nvSpPr>
            <p:cNvPr name="Freeform 17" id="17"/>
            <p:cNvSpPr/>
            <p:nvPr/>
          </p:nvSpPr>
          <p:spPr>
            <a:xfrm flipH="false" flipV="false" rot="0">
              <a:off x="0" y="0"/>
              <a:ext cx="677191" cy="138702"/>
            </a:xfrm>
            <a:custGeom>
              <a:avLst/>
              <a:gdLst/>
              <a:ahLst/>
              <a:cxnLst/>
              <a:rect r="r" b="b" t="t" l="l"/>
              <a:pathLst>
                <a:path h="138702" w="677191">
                  <a:moveTo>
                    <a:pt x="69351" y="0"/>
                  </a:moveTo>
                  <a:lnTo>
                    <a:pt x="607840" y="0"/>
                  </a:lnTo>
                  <a:cubicBezTo>
                    <a:pt x="646142" y="0"/>
                    <a:pt x="677191" y="31049"/>
                    <a:pt x="677191" y="69351"/>
                  </a:cubicBezTo>
                  <a:lnTo>
                    <a:pt x="677191" y="69351"/>
                  </a:lnTo>
                  <a:cubicBezTo>
                    <a:pt x="677191" y="87744"/>
                    <a:pt x="669885" y="105384"/>
                    <a:pt x="656879" y="118389"/>
                  </a:cubicBezTo>
                  <a:cubicBezTo>
                    <a:pt x="643873" y="131395"/>
                    <a:pt x="626233" y="138702"/>
                    <a:pt x="607840" y="138702"/>
                  </a:cubicBezTo>
                  <a:lnTo>
                    <a:pt x="69351" y="138702"/>
                  </a:lnTo>
                  <a:cubicBezTo>
                    <a:pt x="31049" y="138702"/>
                    <a:pt x="0" y="107652"/>
                    <a:pt x="0" y="69351"/>
                  </a:cubicBezTo>
                  <a:lnTo>
                    <a:pt x="0" y="69351"/>
                  </a:lnTo>
                  <a:cubicBezTo>
                    <a:pt x="0" y="31049"/>
                    <a:pt x="31049" y="0"/>
                    <a:pt x="69351" y="0"/>
                  </a:cubicBezTo>
                  <a:close/>
                </a:path>
              </a:pathLst>
            </a:custGeom>
            <a:solidFill>
              <a:srgbClr val="000000">
                <a:alpha val="0"/>
              </a:srgbClr>
            </a:solidFill>
            <a:ln w="38100" cap="rnd">
              <a:solidFill>
                <a:srgbClr val="5D4FCA"/>
              </a:solidFill>
              <a:prstDash val="solid"/>
              <a:round/>
            </a:ln>
          </p:spPr>
        </p:sp>
        <p:sp>
          <p:nvSpPr>
            <p:cNvPr name="TextBox 18" id="18"/>
            <p:cNvSpPr txBox="true"/>
            <p:nvPr/>
          </p:nvSpPr>
          <p:spPr>
            <a:xfrm>
              <a:off x="0" y="-47625"/>
              <a:ext cx="677191" cy="186327"/>
            </a:xfrm>
            <a:prstGeom prst="rect">
              <a:avLst/>
            </a:prstGeom>
          </p:spPr>
          <p:txBody>
            <a:bodyPr anchor="ctr" rtlCol="false" tIns="50800" lIns="50800" bIns="50800" rIns="50800"/>
            <a:lstStyle/>
            <a:p>
              <a:pPr algn="ctr" marL="0" indent="0" lvl="0">
                <a:lnSpc>
                  <a:spcPts val="2824"/>
                </a:lnSpc>
                <a:spcBef>
                  <a:spcPct val="0"/>
                </a:spcBef>
              </a:pPr>
            </a:p>
          </p:txBody>
        </p:sp>
      </p:grpSp>
      <p:sp>
        <p:nvSpPr>
          <p:cNvPr name="Freeform 19" id="19"/>
          <p:cNvSpPr/>
          <p:nvPr/>
        </p:nvSpPr>
        <p:spPr>
          <a:xfrm flipH="false" flipV="false" rot="0">
            <a:off x="4963155" y="8045842"/>
            <a:ext cx="452602" cy="452602"/>
          </a:xfrm>
          <a:custGeom>
            <a:avLst/>
            <a:gdLst/>
            <a:ahLst/>
            <a:cxnLst/>
            <a:rect r="r" b="b" t="t" l="l"/>
            <a:pathLst>
              <a:path h="452602" w="452602">
                <a:moveTo>
                  <a:pt x="0" y="0"/>
                </a:moveTo>
                <a:lnTo>
                  <a:pt x="452602" y="0"/>
                </a:lnTo>
                <a:lnTo>
                  <a:pt x="452602" y="452602"/>
                </a:lnTo>
                <a:lnTo>
                  <a:pt x="0" y="45260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0" id="20"/>
          <p:cNvSpPr/>
          <p:nvPr/>
        </p:nvSpPr>
        <p:spPr>
          <a:xfrm flipH="false" flipV="false" rot="-1615711">
            <a:off x="-1616725" y="-602606"/>
            <a:ext cx="8327333" cy="3724589"/>
          </a:xfrm>
          <a:custGeom>
            <a:avLst/>
            <a:gdLst/>
            <a:ahLst/>
            <a:cxnLst/>
            <a:rect r="r" b="b" t="t" l="l"/>
            <a:pathLst>
              <a:path h="3724589" w="8327333">
                <a:moveTo>
                  <a:pt x="0" y="0"/>
                </a:moveTo>
                <a:lnTo>
                  <a:pt x="8327333" y="0"/>
                </a:lnTo>
                <a:lnTo>
                  <a:pt x="8327333" y="3724589"/>
                </a:lnTo>
                <a:lnTo>
                  <a:pt x="0" y="372458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1" id="21"/>
          <p:cNvSpPr/>
          <p:nvPr/>
        </p:nvSpPr>
        <p:spPr>
          <a:xfrm flipH="false" flipV="false" rot="0">
            <a:off x="1028700" y="1049653"/>
            <a:ext cx="647545" cy="495666"/>
          </a:xfrm>
          <a:custGeom>
            <a:avLst/>
            <a:gdLst/>
            <a:ahLst/>
            <a:cxnLst/>
            <a:rect r="r" b="b" t="t" l="l"/>
            <a:pathLst>
              <a:path h="495666" w="647545">
                <a:moveTo>
                  <a:pt x="0" y="0"/>
                </a:moveTo>
                <a:lnTo>
                  <a:pt x="647545" y="0"/>
                </a:lnTo>
                <a:lnTo>
                  <a:pt x="647545" y="495666"/>
                </a:lnTo>
                <a:lnTo>
                  <a:pt x="0" y="495666"/>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22" id="22"/>
          <p:cNvSpPr/>
          <p:nvPr/>
        </p:nvSpPr>
        <p:spPr>
          <a:xfrm flipH="false" flipV="false" rot="9047260">
            <a:off x="9744810" y="8545904"/>
            <a:ext cx="468267" cy="292880"/>
          </a:xfrm>
          <a:custGeom>
            <a:avLst/>
            <a:gdLst/>
            <a:ahLst/>
            <a:cxnLst/>
            <a:rect r="r" b="b" t="t" l="l"/>
            <a:pathLst>
              <a:path h="292880" w="468267">
                <a:moveTo>
                  <a:pt x="0" y="0"/>
                </a:moveTo>
                <a:lnTo>
                  <a:pt x="468268" y="0"/>
                </a:lnTo>
                <a:lnTo>
                  <a:pt x="468268" y="292880"/>
                </a:lnTo>
                <a:lnTo>
                  <a:pt x="0" y="292880"/>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23" id="23"/>
          <p:cNvSpPr/>
          <p:nvPr/>
        </p:nvSpPr>
        <p:spPr>
          <a:xfrm flipH="false" flipV="false" rot="-1342151">
            <a:off x="7200354" y="1402033"/>
            <a:ext cx="626952" cy="392130"/>
          </a:xfrm>
          <a:custGeom>
            <a:avLst/>
            <a:gdLst/>
            <a:ahLst/>
            <a:cxnLst/>
            <a:rect r="r" b="b" t="t" l="l"/>
            <a:pathLst>
              <a:path h="392130" w="626952">
                <a:moveTo>
                  <a:pt x="0" y="0"/>
                </a:moveTo>
                <a:lnTo>
                  <a:pt x="626953" y="0"/>
                </a:lnTo>
                <a:lnTo>
                  <a:pt x="626953" y="392130"/>
                </a:lnTo>
                <a:lnTo>
                  <a:pt x="0" y="392130"/>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24" id="24"/>
          <p:cNvSpPr/>
          <p:nvPr/>
        </p:nvSpPr>
        <p:spPr>
          <a:xfrm flipH="false" flipV="false" rot="6902289">
            <a:off x="16690589" y="8888367"/>
            <a:ext cx="1034860" cy="383329"/>
          </a:xfrm>
          <a:custGeom>
            <a:avLst/>
            <a:gdLst/>
            <a:ahLst/>
            <a:cxnLst/>
            <a:rect r="r" b="b" t="t" l="l"/>
            <a:pathLst>
              <a:path h="383329" w="1034860">
                <a:moveTo>
                  <a:pt x="0" y="0"/>
                </a:moveTo>
                <a:lnTo>
                  <a:pt x="1034860" y="0"/>
                </a:lnTo>
                <a:lnTo>
                  <a:pt x="1034860" y="383330"/>
                </a:lnTo>
                <a:lnTo>
                  <a:pt x="0" y="383330"/>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25" id="25"/>
          <p:cNvSpPr/>
          <p:nvPr/>
        </p:nvSpPr>
        <p:spPr>
          <a:xfrm flipH="false" flipV="false" rot="-2504445">
            <a:off x="321352" y="4464337"/>
            <a:ext cx="1034860" cy="383329"/>
          </a:xfrm>
          <a:custGeom>
            <a:avLst/>
            <a:gdLst/>
            <a:ahLst/>
            <a:cxnLst/>
            <a:rect r="r" b="b" t="t" l="l"/>
            <a:pathLst>
              <a:path h="383329" w="1034860">
                <a:moveTo>
                  <a:pt x="0" y="0"/>
                </a:moveTo>
                <a:lnTo>
                  <a:pt x="1034860" y="0"/>
                </a:lnTo>
                <a:lnTo>
                  <a:pt x="1034860" y="383329"/>
                </a:lnTo>
                <a:lnTo>
                  <a:pt x="0" y="383329"/>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TextBox 26" id="26"/>
          <p:cNvSpPr txBox="true"/>
          <p:nvPr/>
        </p:nvSpPr>
        <p:spPr>
          <a:xfrm rot="0">
            <a:off x="1847695" y="1109652"/>
            <a:ext cx="3115460" cy="422485"/>
          </a:xfrm>
          <a:prstGeom prst="rect">
            <a:avLst/>
          </a:prstGeom>
        </p:spPr>
        <p:txBody>
          <a:bodyPr anchor="t" rtlCol="false" tIns="0" lIns="0" bIns="0" rIns="0">
            <a:spAutoFit/>
          </a:bodyPr>
          <a:lstStyle/>
          <a:p>
            <a:pPr algn="l">
              <a:lnSpc>
                <a:spcPts val="3107"/>
              </a:lnSpc>
            </a:pPr>
            <a:r>
              <a:rPr lang="en-US" sz="2799" b="true">
                <a:solidFill>
                  <a:srgbClr val="5D4FCA"/>
                </a:solidFill>
                <a:latin typeface="Roboto Condensed Bold"/>
                <a:ea typeface="Roboto Condensed Bold"/>
                <a:cs typeface="Roboto Condensed Bold"/>
                <a:sym typeface="Roboto Condensed Bold"/>
              </a:rPr>
              <a:t>DATA WRANGLING</a:t>
            </a:r>
          </a:p>
        </p:txBody>
      </p:sp>
      <p:sp>
        <p:nvSpPr>
          <p:cNvPr name="TextBox 27" id="27"/>
          <p:cNvSpPr txBox="true"/>
          <p:nvPr/>
        </p:nvSpPr>
        <p:spPr>
          <a:xfrm rot="0">
            <a:off x="11428284" y="1200266"/>
            <a:ext cx="1370528" cy="269875"/>
          </a:xfrm>
          <a:prstGeom prst="rect">
            <a:avLst/>
          </a:prstGeom>
        </p:spPr>
        <p:txBody>
          <a:bodyPr anchor="t" rtlCol="false" tIns="0" lIns="0" bIns="0" rIns="0">
            <a:spAutoFit/>
          </a:bodyPr>
          <a:lstStyle/>
          <a:p>
            <a:pPr algn="ctr">
              <a:lnSpc>
                <a:spcPts val="2000"/>
              </a:lnSpc>
            </a:pPr>
            <a:r>
              <a:rPr lang="en-US" sz="2000">
                <a:solidFill>
                  <a:srgbClr val="27194D">
                    <a:alpha val="55686"/>
                  </a:srgbClr>
                </a:solidFill>
                <a:latin typeface="Open Sans"/>
                <a:ea typeface="Open Sans"/>
                <a:cs typeface="Open Sans"/>
                <a:sym typeface="Open Sans"/>
              </a:rPr>
              <a:t>LAYANAN</a:t>
            </a:r>
          </a:p>
        </p:txBody>
      </p:sp>
      <p:sp>
        <p:nvSpPr>
          <p:cNvPr name="TextBox 28" id="28"/>
          <p:cNvSpPr txBox="true"/>
          <p:nvPr/>
        </p:nvSpPr>
        <p:spPr>
          <a:xfrm rot="0">
            <a:off x="9810993" y="1200266"/>
            <a:ext cx="1293441" cy="269875"/>
          </a:xfrm>
          <a:prstGeom prst="rect">
            <a:avLst/>
          </a:prstGeom>
        </p:spPr>
        <p:txBody>
          <a:bodyPr anchor="t" rtlCol="false" tIns="0" lIns="0" bIns="0" rIns="0">
            <a:spAutoFit/>
          </a:bodyPr>
          <a:lstStyle/>
          <a:p>
            <a:pPr algn="ctr">
              <a:lnSpc>
                <a:spcPts val="2000"/>
              </a:lnSpc>
            </a:pPr>
            <a:r>
              <a:rPr lang="en-US" b="true" sz="2000">
                <a:solidFill>
                  <a:srgbClr val="5D4FCA"/>
                </a:solidFill>
                <a:latin typeface="Open Sans Bold"/>
                <a:ea typeface="Open Sans Bold"/>
                <a:cs typeface="Open Sans Bold"/>
                <a:sym typeface="Open Sans Bold"/>
              </a:rPr>
              <a:t>BERANDA</a:t>
            </a:r>
          </a:p>
        </p:txBody>
      </p:sp>
      <p:sp>
        <p:nvSpPr>
          <p:cNvPr name="TextBox 29" id="29"/>
          <p:cNvSpPr txBox="true"/>
          <p:nvPr/>
        </p:nvSpPr>
        <p:spPr>
          <a:xfrm rot="0">
            <a:off x="2143012" y="3576415"/>
            <a:ext cx="7560106" cy="3997328"/>
          </a:xfrm>
          <a:prstGeom prst="rect">
            <a:avLst/>
          </a:prstGeom>
        </p:spPr>
        <p:txBody>
          <a:bodyPr anchor="t" rtlCol="false" tIns="0" lIns="0" bIns="0" rIns="0">
            <a:spAutoFit/>
          </a:bodyPr>
          <a:lstStyle/>
          <a:p>
            <a:pPr algn="l" marL="0" indent="0" lvl="0">
              <a:lnSpc>
                <a:spcPts val="6399"/>
              </a:lnSpc>
            </a:pPr>
            <a:r>
              <a:rPr lang="en-US" b="true" sz="3999">
                <a:solidFill>
                  <a:srgbClr val="5D4FCA"/>
                </a:solidFill>
                <a:latin typeface="Open Sans Bold"/>
                <a:ea typeface="Open Sans Bold"/>
                <a:cs typeface="Open Sans Bold"/>
                <a:sym typeface="Open Sans Bold"/>
              </a:rPr>
              <a:t>ANALISIS PENGARUH FAKTOR DEMOGRAFIS TERHADAP TINGKAT PENGANGGURAN TERBUKA (TPT) DI INDONESIA TAHUN 2015–2022</a:t>
            </a:r>
          </a:p>
        </p:txBody>
      </p:sp>
      <p:sp>
        <p:nvSpPr>
          <p:cNvPr name="TextBox 30" id="30"/>
          <p:cNvSpPr txBox="true"/>
          <p:nvPr/>
        </p:nvSpPr>
        <p:spPr>
          <a:xfrm rot="0">
            <a:off x="1996517" y="8151175"/>
            <a:ext cx="2829929" cy="299085"/>
          </a:xfrm>
          <a:prstGeom prst="rect">
            <a:avLst/>
          </a:prstGeom>
        </p:spPr>
        <p:txBody>
          <a:bodyPr anchor="t" rtlCol="false" tIns="0" lIns="0" bIns="0" rIns="0">
            <a:spAutoFit/>
          </a:bodyPr>
          <a:lstStyle/>
          <a:p>
            <a:pPr algn="ctr" marL="0" indent="0" lvl="0">
              <a:lnSpc>
                <a:spcPts val="2399"/>
              </a:lnSpc>
              <a:spcBef>
                <a:spcPct val="0"/>
              </a:spcBef>
            </a:pPr>
            <a:r>
              <a:rPr lang="en-US" b="true" sz="2399">
                <a:solidFill>
                  <a:srgbClr val="FFFFFF"/>
                </a:solidFill>
                <a:latin typeface="Open Sans Semi-Bold"/>
                <a:ea typeface="Open Sans Semi-Bold"/>
                <a:cs typeface="Open Sans Semi-Bold"/>
                <a:sym typeface="Open Sans Semi-Bold"/>
              </a:rPr>
              <a:t>MULAI SEKARANG</a:t>
            </a:r>
          </a:p>
        </p:txBody>
      </p:sp>
      <p:sp>
        <p:nvSpPr>
          <p:cNvPr name="TextBox 31" id="31"/>
          <p:cNvSpPr txBox="true"/>
          <p:nvPr/>
        </p:nvSpPr>
        <p:spPr>
          <a:xfrm rot="0">
            <a:off x="6012127" y="8153198"/>
            <a:ext cx="2582071" cy="299085"/>
          </a:xfrm>
          <a:prstGeom prst="rect">
            <a:avLst/>
          </a:prstGeom>
        </p:spPr>
        <p:txBody>
          <a:bodyPr anchor="t" rtlCol="false" tIns="0" lIns="0" bIns="0" rIns="0">
            <a:spAutoFit/>
          </a:bodyPr>
          <a:lstStyle/>
          <a:p>
            <a:pPr algn="ctr" marL="0" indent="0" lvl="0">
              <a:lnSpc>
                <a:spcPts val="2399"/>
              </a:lnSpc>
              <a:spcBef>
                <a:spcPct val="0"/>
              </a:spcBef>
            </a:pPr>
            <a:r>
              <a:rPr lang="en-US" b="true" sz="2399">
                <a:solidFill>
                  <a:srgbClr val="27194D"/>
                </a:solidFill>
                <a:latin typeface="Open Sans Semi-Bold"/>
                <a:ea typeface="Open Sans Semi-Bold"/>
                <a:cs typeface="Open Sans Semi-Bold"/>
                <a:sym typeface="Open Sans Semi-Bold"/>
              </a:rPr>
              <a:t>SELENGKAPNYA</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FF8E9"/>
        </a:solidFill>
      </p:bgPr>
    </p:bg>
    <p:spTree>
      <p:nvGrpSpPr>
        <p:cNvPr id="1" name=""/>
        <p:cNvGrpSpPr/>
        <p:nvPr/>
      </p:nvGrpSpPr>
      <p:grpSpPr>
        <a:xfrm>
          <a:off x="0" y="0"/>
          <a:ext cx="0" cy="0"/>
          <a:chOff x="0" y="0"/>
          <a:chExt cx="0" cy="0"/>
        </a:xfrm>
      </p:grpSpPr>
      <p:grpSp>
        <p:nvGrpSpPr>
          <p:cNvPr name="Group 2" id="2"/>
          <p:cNvGrpSpPr/>
          <p:nvPr/>
        </p:nvGrpSpPr>
        <p:grpSpPr>
          <a:xfrm rot="0">
            <a:off x="13138009" y="1035414"/>
            <a:ext cx="4121291" cy="571004"/>
            <a:chOff x="0" y="0"/>
            <a:chExt cx="1370603" cy="189897"/>
          </a:xfrm>
        </p:grpSpPr>
        <p:sp>
          <p:nvSpPr>
            <p:cNvPr name="Freeform 3" id="3"/>
            <p:cNvSpPr/>
            <p:nvPr/>
          </p:nvSpPr>
          <p:spPr>
            <a:xfrm flipH="false" flipV="false" rot="0">
              <a:off x="0" y="0"/>
              <a:ext cx="1370603" cy="189897"/>
            </a:xfrm>
            <a:custGeom>
              <a:avLst/>
              <a:gdLst/>
              <a:ahLst/>
              <a:cxnLst/>
              <a:rect r="r" b="b" t="t" l="l"/>
              <a:pathLst>
                <a:path h="189897" w="1370603">
                  <a:moveTo>
                    <a:pt x="94948" y="0"/>
                  </a:moveTo>
                  <a:lnTo>
                    <a:pt x="1275655" y="0"/>
                  </a:lnTo>
                  <a:cubicBezTo>
                    <a:pt x="1300837" y="0"/>
                    <a:pt x="1324987" y="10003"/>
                    <a:pt x="1342794" y="27810"/>
                  </a:cubicBezTo>
                  <a:cubicBezTo>
                    <a:pt x="1360600" y="45616"/>
                    <a:pt x="1370603" y="69767"/>
                    <a:pt x="1370603" y="94948"/>
                  </a:cubicBezTo>
                  <a:lnTo>
                    <a:pt x="1370603" y="94948"/>
                  </a:lnTo>
                  <a:cubicBezTo>
                    <a:pt x="1370603" y="147387"/>
                    <a:pt x="1328094" y="189897"/>
                    <a:pt x="1275655" y="189897"/>
                  </a:cubicBezTo>
                  <a:lnTo>
                    <a:pt x="94948" y="189897"/>
                  </a:lnTo>
                  <a:cubicBezTo>
                    <a:pt x="42510" y="189897"/>
                    <a:pt x="0" y="147387"/>
                    <a:pt x="0" y="94948"/>
                  </a:cubicBezTo>
                  <a:lnTo>
                    <a:pt x="0" y="94948"/>
                  </a:lnTo>
                  <a:cubicBezTo>
                    <a:pt x="0" y="42510"/>
                    <a:pt x="42510" y="0"/>
                    <a:pt x="94948" y="0"/>
                  </a:cubicBezTo>
                  <a:close/>
                </a:path>
              </a:pathLst>
            </a:custGeom>
            <a:solidFill>
              <a:srgbClr val="FAA607"/>
            </a:solidFill>
            <a:ln cap="rnd">
              <a:noFill/>
              <a:prstDash val="solid"/>
              <a:round/>
            </a:ln>
          </p:spPr>
        </p:sp>
        <p:sp>
          <p:nvSpPr>
            <p:cNvPr name="TextBox 4" id="4"/>
            <p:cNvSpPr txBox="true"/>
            <p:nvPr/>
          </p:nvSpPr>
          <p:spPr>
            <a:xfrm>
              <a:off x="0" y="-57150"/>
              <a:ext cx="1370603" cy="247047"/>
            </a:xfrm>
            <a:prstGeom prst="rect">
              <a:avLst/>
            </a:prstGeom>
          </p:spPr>
          <p:txBody>
            <a:bodyPr anchor="ctr" rtlCol="false" tIns="50800" lIns="50800" bIns="50800" rIns="50800"/>
            <a:lstStyle/>
            <a:p>
              <a:pPr algn="ctr" marL="0" indent="0" lvl="0">
                <a:lnSpc>
                  <a:spcPts val="2824"/>
                </a:lnSpc>
                <a:spcBef>
                  <a:spcPct val="0"/>
                </a:spcBef>
              </a:pPr>
            </a:p>
          </p:txBody>
        </p:sp>
      </p:grpSp>
      <p:sp>
        <p:nvSpPr>
          <p:cNvPr name="Freeform 5" id="5"/>
          <p:cNvSpPr/>
          <p:nvPr/>
        </p:nvSpPr>
        <p:spPr>
          <a:xfrm flipH="false" flipV="false" rot="0">
            <a:off x="16815378" y="1166754"/>
            <a:ext cx="296763" cy="308325"/>
          </a:xfrm>
          <a:custGeom>
            <a:avLst/>
            <a:gdLst/>
            <a:ahLst/>
            <a:cxnLst/>
            <a:rect r="r" b="b" t="t" l="l"/>
            <a:pathLst>
              <a:path h="308325" w="296763">
                <a:moveTo>
                  <a:pt x="0" y="0"/>
                </a:moveTo>
                <a:lnTo>
                  <a:pt x="296763" y="0"/>
                </a:lnTo>
                <a:lnTo>
                  <a:pt x="296763" y="308325"/>
                </a:lnTo>
                <a:lnTo>
                  <a:pt x="0" y="30832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8388378" y="5347297"/>
            <a:ext cx="721583" cy="72158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A607"/>
            </a:solidFill>
          </p:spPr>
        </p:sp>
        <p:sp>
          <p:nvSpPr>
            <p:cNvPr name="TextBox 8" id="8"/>
            <p:cNvSpPr txBox="true"/>
            <p:nvPr/>
          </p:nvSpPr>
          <p:spPr>
            <a:xfrm>
              <a:off x="76200" y="104775"/>
              <a:ext cx="660400" cy="631825"/>
            </a:xfrm>
            <a:prstGeom prst="rect">
              <a:avLst/>
            </a:prstGeom>
          </p:spPr>
          <p:txBody>
            <a:bodyPr anchor="ctr" rtlCol="false" tIns="50800" lIns="50800" bIns="50800" rIns="50800"/>
            <a:lstStyle/>
            <a:p>
              <a:pPr algn="ctr">
                <a:lnSpc>
                  <a:spcPts val="2000"/>
                </a:lnSpc>
              </a:pPr>
            </a:p>
          </p:txBody>
        </p:sp>
      </p:grpSp>
      <p:sp>
        <p:nvSpPr>
          <p:cNvPr name="Freeform 9" id="9"/>
          <p:cNvSpPr/>
          <p:nvPr/>
        </p:nvSpPr>
        <p:spPr>
          <a:xfrm flipH="false" flipV="false" rot="-2145208">
            <a:off x="11196638" y="6275332"/>
            <a:ext cx="8984724" cy="4018622"/>
          </a:xfrm>
          <a:custGeom>
            <a:avLst/>
            <a:gdLst/>
            <a:ahLst/>
            <a:cxnLst/>
            <a:rect r="r" b="b" t="t" l="l"/>
            <a:pathLst>
              <a:path h="4018622" w="8984724">
                <a:moveTo>
                  <a:pt x="0" y="0"/>
                </a:moveTo>
                <a:lnTo>
                  <a:pt x="8984724" y="0"/>
                </a:lnTo>
                <a:lnTo>
                  <a:pt x="8984724" y="4018622"/>
                </a:lnTo>
                <a:lnTo>
                  <a:pt x="0" y="401862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447614">
            <a:off x="15939853" y="7200900"/>
            <a:ext cx="3845468" cy="4114800"/>
          </a:xfrm>
          <a:custGeom>
            <a:avLst/>
            <a:gdLst/>
            <a:ahLst/>
            <a:cxnLst/>
            <a:rect r="r" b="b" t="t" l="l"/>
            <a:pathLst>
              <a:path h="4114800" w="3845468">
                <a:moveTo>
                  <a:pt x="0" y="0"/>
                </a:moveTo>
                <a:lnTo>
                  <a:pt x="3845468" y="0"/>
                </a:lnTo>
                <a:lnTo>
                  <a:pt x="3845468"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1" id="11"/>
          <p:cNvGrpSpPr/>
          <p:nvPr/>
        </p:nvGrpSpPr>
        <p:grpSpPr>
          <a:xfrm rot="0">
            <a:off x="8388378" y="5347297"/>
            <a:ext cx="8093585" cy="2244403"/>
            <a:chOff x="0" y="0"/>
            <a:chExt cx="2131644" cy="591118"/>
          </a:xfrm>
        </p:grpSpPr>
        <p:sp>
          <p:nvSpPr>
            <p:cNvPr name="Freeform 12" id="12"/>
            <p:cNvSpPr/>
            <p:nvPr/>
          </p:nvSpPr>
          <p:spPr>
            <a:xfrm flipH="false" flipV="false" rot="0">
              <a:off x="0" y="0"/>
              <a:ext cx="2131644" cy="591118"/>
            </a:xfrm>
            <a:custGeom>
              <a:avLst/>
              <a:gdLst/>
              <a:ahLst/>
              <a:cxnLst/>
              <a:rect r="r" b="b" t="t" l="l"/>
              <a:pathLst>
                <a:path h="591118" w="2131644">
                  <a:moveTo>
                    <a:pt x="24870" y="0"/>
                  </a:moveTo>
                  <a:lnTo>
                    <a:pt x="2106773" y="0"/>
                  </a:lnTo>
                  <a:cubicBezTo>
                    <a:pt x="2120509" y="0"/>
                    <a:pt x="2131644" y="11135"/>
                    <a:pt x="2131644" y="24870"/>
                  </a:cubicBezTo>
                  <a:lnTo>
                    <a:pt x="2131644" y="566248"/>
                  </a:lnTo>
                  <a:cubicBezTo>
                    <a:pt x="2131644" y="572844"/>
                    <a:pt x="2129024" y="579170"/>
                    <a:pt x="2124359" y="583834"/>
                  </a:cubicBezTo>
                  <a:cubicBezTo>
                    <a:pt x="2119695" y="588498"/>
                    <a:pt x="2113369" y="591118"/>
                    <a:pt x="2106773" y="591118"/>
                  </a:cubicBezTo>
                  <a:lnTo>
                    <a:pt x="24870" y="591118"/>
                  </a:lnTo>
                  <a:cubicBezTo>
                    <a:pt x="18274" y="591118"/>
                    <a:pt x="11948" y="588498"/>
                    <a:pt x="7284" y="583834"/>
                  </a:cubicBezTo>
                  <a:cubicBezTo>
                    <a:pt x="2620" y="579170"/>
                    <a:pt x="0" y="572844"/>
                    <a:pt x="0" y="566248"/>
                  </a:cubicBezTo>
                  <a:lnTo>
                    <a:pt x="0" y="24870"/>
                  </a:lnTo>
                  <a:cubicBezTo>
                    <a:pt x="0" y="18274"/>
                    <a:pt x="2620" y="11948"/>
                    <a:pt x="7284" y="7284"/>
                  </a:cubicBezTo>
                  <a:cubicBezTo>
                    <a:pt x="11948" y="2620"/>
                    <a:pt x="18274" y="0"/>
                    <a:pt x="24870" y="0"/>
                  </a:cubicBezTo>
                  <a:close/>
                </a:path>
              </a:pathLst>
            </a:custGeom>
            <a:solidFill>
              <a:srgbClr val="FAA607"/>
            </a:solidFill>
          </p:spPr>
        </p:sp>
        <p:sp>
          <p:nvSpPr>
            <p:cNvPr name="TextBox 13" id="13"/>
            <p:cNvSpPr txBox="true"/>
            <p:nvPr/>
          </p:nvSpPr>
          <p:spPr>
            <a:xfrm>
              <a:off x="0" y="28575"/>
              <a:ext cx="2131644" cy="562543"/>
            </a:xfrm>
            <a:prstGeom prst="rect">
              <a:avLst/>
            </a:prstGeom>
          </p:spPr>
          <p:txBody>
            <a:bodyPr anchor="ctr" rtlCol="false" tIns="50800" lIns="50800" bIns="50800" rIns="50800"/>
            <a:lstStyle/>
            <a:p>
              <a:pPr algn="ctr">
                <a:lnSpc>
                  <a:spcPts val="2000"/>
                </a:lnSpc>
              </a:pPr>
            </a:p>
          </p:txBody>
        </p:sp>
      </p:grpSp>
      <p:sp>
        <p:nvSpPr>
          <p:cNvPr name="Freeform 14" id="14"/>
          <p:cNvSpPr/>
          <p:nvPr/>
        </p:nvSpPr>
        <p:spPr>
          <a:xfrm flipH="false" flipV="false" rot="-2145208">
            <a:off x="-2416446" y="-263480"/>
            <a:ext cx="8984724" cy="4018622"/>
          </a:xfrm>
          <a:custGeom>
            <a:avLst/>
            <a:gdLst/>
            <a:ahLst/>
            <a:cxnLst/>
            <a:rect r="r" b="b" t="t" l="l"/>
            <a:pathLst>
              <a:path h="4018622" w="8984724">
                <a:moveTo>
                  <a:pt x="0" y="0"/>
                </a:moveTo>
                <a:lnTo>
                  <a:pt x="8984725" y="0"/>
                </a:lnTo>
                <a:lnTo>
                  <a:pt x="8984725" y="4018622"/>
                </a:lnTo>
                <a:lnTo>
                  <a:pt x="0" y="401862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5" id="15"/>
          <p:cNvSpPr/>
          <p:nvPr/>
        </p:nvSpPr>
        <p:spPr>
          <a:xfrm flipH="false" flipV="false" rot="-10149226">
            <a:off x="-1149034" y="-1803823"/>
            <a:ext cx="3845468" cy="4114800"/>
          </a:xfrm>
          <a:custGeom>
            <a:avLst/>
            <a:gdLst/>
            <a:ahLst/>
            <a:cxnLst/>
            <a:rect r="r" b="b" t="t" l="l"/>
            <a:pathLst>
              <a:path h="4114800" w="3845468">
                <a:moveTo>
                  <a:pt x="0" y="0"/>
                </a:moveTo>
                <a:lnTo>
                  <a:pt x="3845467" y="0"/>
                </a:lnTo>
                <a:lnTo>
                  <a:pt x="3845467"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6" id="16"/>
          <p:cNvSpPr/>
          <p:nvPr/>
        </p:nvSpPr>
        <p:spPr>
          <a:xfrm flipH="false" flipV="false" rot="0">
            <a:off x="2075916" y="2859410"/>
            <a:ext cx="5697356" cy="5697356"/>
          </a:xfrm>
          <a:custGeom>
            <a:avLst/>
            <a:gdLst/>
            <a:ahLst/>
            <a:cxnLst/>
            <a:rect r="r" b="b" t="t" l="l"/>
            <a:pathLst>
              <a:path h="5697356" w="5697356">
                <a:moveTo>
                  <a:pt x="0" y="0"/>
                </a:moveTo>
                <a:lnTo>
                  <a:pt x="5697356" y="0"/>
                </a:lnTo>
                <a:lnTo>
                  <a:pt x="5697356" y="5697356"/>
                </a:lnTo>
                <a:lnTo>
                  <a:pt x="0" y="569735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7" id="17"/>
          <p:cNvSpPr txBox="true"/>
          <p:nvPr/>
        </p:nvSpPr>
        <p:spPr>
          <a:xfrm rot="0">
            <a:off x="11428284" y="1200266"/>
            <a:ext cx="1370528" cy="269875"/>
          </a:xfrm>
          <a:prstGeom prst="rect">
            <a:avLst/>
          </a:prstGeom>
        </p:spPr>
        <p:txBody>
          <a:bodyPr anchor="t" rtlCol="false" tIns="0" lIns="0" bIns="0" rIns="0">
            <a:spAutoFit/>
          </a:bodyPr>
          <a:lstStyle/>
          <a:p>
            <a:pPr algn="ctr">
              <a:lnSpc>
                <a:spcPts val="2000"/>
              </a:lnSpc>
            </a:pPr>
            <a:r>
              <a:rPr lang="en-US" sz="2000">
                <a:solidFill>
                  <a:srgbClr val="27194D">
                    <a:alpha val="55686"/>
                  </a:srgbClr>
                </a:solidFill>
                <a:latin typeface="Open Sans"/>
                <a:ea typeface="Open Sans"/>
                <a:cs typeface="Open Sans"/>
                <a:sym typeface="Open Sans"/>
              </a:rPr>
              <a:t>LAYANAN</a:t>
            </a:r>
          </a:p>
        </p:txBody>
      </p:sp>
      <p:sp>
        <p:nvSpPr>
          <p:cNvPr name="TextBox 18" id="18"/>
          <p:cNvSpPr txBox="true"/>
          <p:nvPr/>
        </p:nvSpPr>
        <p:spPr>
          <a:xfrm rot="0">
            <a:off x="9810993" y="1200266"/>
            <a:ext cx="1293441" cy="269875"/>
          </a:xfrm>
          <a:prstGeom prst="rect">
            <a:avLst/>
          </a:prstGeom>
        </p:spPr>
        <p:txBody>
          <a:bodyPr anchor="t" rtlCol="false" tIns="0" lIns="0" bIns="0" rIns="0">
            <a:spAutoFit/>
          </a:bodyPr>
          <a:lstStyle/>
          <a:p>
            <a:pPr algn="ctr">
              <a:lnSpc>
                <a:spcPts val="2000"/>
              </a:lnSpc>
            </a:pPr>
            <a:r>
              <a:rPr lang="en-US" b="true" sz="2000">
                <a:solidFill>
                  <a:srgbClr val="5D4FCA"/>
                </a:solidFill>
                <a:latin typeface="Open Sans Bold"/>
                <a:ea typeface="Open Sans Bold"/>
                <a:cs typeface="Open Sans Bold"/>
                <a:sym typeface="Open Sans Bold"/>
              </a:rPr>
              <a:t>BERANDA</a:t>
            </a:r>
          </a:p>
        </p:txBody>
      </p:sp>
      <p:sp>
        <p:nvSpPr>
          <p:cNvPr name="TextBox 19" id="19"/>
          <p:cNvSpPr txBox="true"/>
          <p:nvPr/>
        </p:nvSpPr>
        <p:spPr>
          <a:xfrm rot="0">
            <a:off x="8436931" y="4089235"/>
            <a:ext cx="8723763" cy="753237"/>
          </a:xfrm>
          <a:prstGeom prst="rect">
            <a:avLst/>
          </a:prstGeom>
        </p:spPr>
        <p:txBody>
          <a:bodyPr anchor="t" rtlCol="false" tIns="0" lIns="0" bIns="0" rIns="0">
            <a:spAutoFit/>
          </a:bodyPr>
          <a:lstStyle/>
          <a:p>
            <a:pPr algn="l">
              <a:lnSpc>
                <a:spcPts val="5904"/>
              </a:lnSpc>
            </a:pPr>
            <a:r>
              <a:rPr lang="en-US" sz="4800" b="true">
                <a:solidFill>
                  <a:srgbClr val="5D4FCA"/>
                </a:solidFill>
                <a:latin typeface="Roboto Condensed Bold"/>
                <a:ea typeface="Roboto Condensed Bold"/>
                <a:cs typeface="Roboto Condensed Bold"/>
                <a:sym typeface="Roboto Condensed Bold"/>
              </a:rPr>
              <a:t>DISUSUN OLEH : </a:t>
            </a:r>
          </a:p>
        </p:txBody>
      </p:sp>
      <p:sp>
        <p:nvSpPr>
          <p:cNvPr name="Freeform 20" id="20"/>
          <p:cNvSpPr/>
          <p:nvPr/>
        </p:nvSpPr>
        <p:spPr>
          <a:xfrm flipH="false" flipV="false" rot="0">
            <a:off x="11428284" y="3825331"/>
            <a:ext cx="405555" cy="407593"/>
          </a:xfrm>
          <a:custGeom>
            <a:avLst/>
            <a:gdLst/>
            <a:ahLst/>
            <a:cxnLst/>
            <a:rect r="r" b="b" t="t" l="l"/>
            <a:pathLst>
              <a:path h="407593" w="405555">
                <a:moveTo>
                  <a:pt x="0" y="0"/>
                </a:moveTo>
                <a:lnTo>
                  <a:pt x="405555" y="0"/>
                </a:lnTo>
                <a:lnTo>
                  <a:pt x="405555" y="407593"/>
                </a:lnTo>
                <a:lnTo>
                  <a:pt x="0" y="40759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21" id="21"/>
          <p:cNvSpPr txBox="true"/>
          <p:nvPr/>
        </p:nvSpPr>
        <p:spPr>
          <a:xfrm rot="0">
            <a:off x="1847695" y="1109652"/>
            <a:ext cx="3115460" cy="422485"/>
          </a:xfrm>
          <a:prstGeom prst="rect">
            <a:avLst/>
          </a:prstGeom>
        </p:spPr>
        <p:txBody>
          <a:bodyPr anchor="t" rtlCol="false" tIns="0" lIns="0" bIns="0" rIns="0">
            <a:spAutoFit/>
          </a:bodyPr>
          <a:lstStyle/>
          <a:p>
            <a:pPr algn="l">
              <a:lnSpc>
                <a:spcPts val="3107"/>
              </a:lnSpc>
            </a:pPr>
            <a:r>
              <a:rPr lang="en-US" sz="2799" b="true">
                <a:solidFill>
                  <a:srgbClr val="5D4FCA"/>
                </a:solidFill>
                <a:latin typeface="Roboto Condensed Bold"/>
                <a:ea typeface="Roboto Condensed Bold"/>
                <a:cs typeface="Roboto Condensed Bold"/>
                <a:sym typeface="Roboto Condensed Bold"/>
              </a:rPr>
              <a:t>DATA WRANGLING</a:t>
            </a:r>
          </a:p>
        </p:txBody>
      </p:sp>
      <p:sp>
        <p:nvSpPr>
          <p:cNvPr name="Freeform 22" id="22"/>
          <p:cNvSpPr/>
          <p:nvPr/>
        </p:nvSpPr>
        <p:spPr>
          <a:xfrm flipH="false" flipV="false" rot="0">
            <a:off x="1028700" y="1049653"/>
            <a:ext cx="647545" cy="495666"/>
          </a:xfrm>
          <a:custGeom>
            <a:avLst/>
            <a:gdLst/>
            <a:ahLst/>
            <a:cxnLst/>
            <a:rect r="r" b="b" t="t" l="l"/>
            <a:pathLst>
              <a:path h="495666" w="647545">
                <a:moveTo>
                  <a:pt x="0" y="0"/>
                </a:moveTo>
                <a:lnTo>
                  <a:pt x="647545" y="0"/>
                </a:lnTo>
                <a:lnTo>
                  <a:pt x="647545" y="495666"/>
                </a:lnTo>
                <a:lnTo>
                  <a:pt x="0" y="495666"/>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23" id="23"/>
          <p:cNvSpPr/>
          <p:nvPr/>
        </p:nvSpPr>
        <p:spPr>
          <a:xfrm flipH="false" flipV="false" rot="-1342151">
            <a:off x="7710398" y="1850378"/>
            <a:ext cx="626952" cy="392130"/>
          </a:xfrm>
          <a:custGeom>
            <a:avLst/>
            <a:gdLst/>
            <a:ahLst/>
            <a:cxnLst/>
            <a:rect r="r" b="b" t="t" l="l"/>
            <a:pathLst>
              <a:path h="392130" w="626952">
                <a:moveTo>
                  <a:pt x="0" y="0"/>
                </a:moveTo>
                <a:lnTo>
                  <a:pt x="626952" y="0"/>
                </a:lnTo>
                <a:lnTo>
                  <a:pt x="626952" y="392130"/>
                </a:lnTo>
                <a:lnTo>
                  <a:pt x="0" y="392130"/>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24" id="24"/>
          <p:cNvSpPr/>
          <p:nvPr/>
        </p:nvSpPr>
        <p:spPr>
          <a:xfrm flipH="false" flipV="false" rot="-6992999">
            <a:off x="1169714" y="9062235"/>
            <a:ext cx="626952" cy="392130"/>
          </a:xfrm>
          <a:custGeom>
            <a:avLst/>
            <a:gdLst/>
            <a:ahLst/>
            <a:cxnLst/>
            <a:rect r="r" b="b" t="t" l="l"/>
            <a:pathLst>
              <a:path h="392130" w="626952">
                <a:moveTo>
                  <a:pt x="0" y="0"/>
                </a:moveTo>
                <a:lnTo>
                  <a:pt x="626953" y="0"/>
                </a:lnTo>
                <a:lnTo>
                  <a:pt x="626953" y="392130"/>
                </a:lnTo>
                <a:lnTo>
                  <a:pt x="0" y="392130"/>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25" id="25"/>
          <p:cNvSpPr/>
          <p:nvPr/>
        </p:nvSpPr>
        <p:spPr>
          <a:xfrm flipH="false" flipV="false" rot="6902289">
            <a:off x="16446330" y="8642900"/>
            <a:ext cx="1034860" cy="383329"/>
          </a:xfrm>
          <a:custGeom>
            <a:avLst/>
            <a:gdLst/>
            <a:ahLst/>
            <a:cxnLst/>
            <a:rect r="r" b="b" t="t" l="l"/>
            <a:pathLst>
              <a:path h="383329" w="1034860">
                <a:moveTo>
                  <a:pt x="0" y="0"/>
                </a:moveTo>
                <a:lnTo>
                  <a:pt x="1034860" y="0"/>
                </a:lnTo>
                <a:lnTo>
                  <a:pt x="1034860" y="383329"/>
                </a:lnTo>
                <a:lnTo>
                  <a:pt x="0" y="383329"/>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grpSp>
        <p:nvGrpSpPr>
          <p:cNvPr name="Group 26" id="26"/>
          <p:cNvGrpSpPr/>
          <p:nvPr/>
        </p:nvGrpSpPr>
        <p:grpSpPr>
          <a:xfrm rot="0">
            <a:off x="8749170" y="5708088"/>
            <a:ext cx="504472" cy="504472"/>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D4FCA"/>
            </a:solidFill>
          </p:spPr>
        </p:sp>
        <p:sp>
          <p:nvSpPr>
            <p:cNvPr name="TextBox 28" id="28"/>
            <p:cNvSpPr txBox="true"/>
            <p:nvPr/>
          </p:nvSpPr>
          <p:spPr>
            <a:xfrm>
              <a:off x="76200" y="104775"/>
              <a:ext cx="660400" cy="631825"/>
            </a:xfrm>
            <a:prstGeom prst="rect">
              <a:avLst/>
            </a:prstGeom>
          </p:spPr>
          <p:txBody>
            <a:bodyPr anchor="ctr" rtlCol="false" tIns="50800" lIns="50800" bIns="50800" rIns="50800"/>
            <a:lstStyle/>
            <a:p>
              <a:pPr algn="ctr">
                <a:lnSpc>
                  <a:spcPts val="2000"/>
                </a:lnSpc>
              </a:pPr>
            </a:p>
          </p:txBody>
        </p:sp>
      </p:grpSp>
      <p:grpSp>
        <p:nvGrpSpPr>
          <p:cNvPr name="Group 29" id="29"/>
          <p:cNvGrpSpPr/>
          <p:nvPr/>
        </p:nvGrpSpPr>
        <p:grpSpPr>
          <a:xfrm rot="0">
            <a:off x="8749170" y="6716435"/>
            <a:ext cx="504472" cy="504472"/>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D4FCA"/>
            </a:solidFill>
          </p:spPr>
        </p:sp>
        <p:sp>
          <p:nvSpPr>
            <p:cNvPr name="TextBox 31" id="31"/>
            <p:cNvSpPr txBox="true"/>
            <p:nvPr/>
          </p:nvSpPr>
          <p:spPr>
            <a:xfrm>
              <a:off x="76200" y="104775"/>
              <a:ext cx="660400" cy="631825"/>
            </a:xfrm>
            <a:prstGeom prst="rect">
              <a:avLst/>
            </a:prstGeom>
          </p:spPr>
          <p:txBody>
            <a:bodyPr anchor="ctr" rtlCol="false" tIns="50800" lIns="50800" bIns="50800" rIns="50800"/>
            <a:lstStyle/>
            <a:p>
              <a:pPr algn="ctr">
                <a:lnSpc>
                  <a:spcPts val="2000"/>
                </a:lnSpc>
              </a:pPr>
            </a:p>
          </p:txBody>
        </p:sp>
      </p:grpSp>
      <p:sp>
        <p:nvSpPr>
          <p:cNvPr name="TextBox 32" id="32"/>
          <p:cNvSpPr txBox="true"/>
          <p:nvPr/>
        </p:nvSpPr>
        <p:spPr>
          <a:xfrm rot="0">
            <a:off x="10540398" y="6348848"/>
            <a:ext cx="1293441" cy="269875"/>
          </a:xfrm>
          <a:prstGeom prst="rect">
            <a:avLst/>
          </a:prstGeom>
        </p:spPr>
        <p:txBody>
          <a:bodyPr anchor="t" rtlCol="false" tIns="0" lIns="0" bIns="0" rIns="0">
            <a:spAutoFit/>
          </a:bodyPr>
          <a:lstStyle/>
          <a:p>
            <a:pPr algn="ctr">
              <a:lnSpc>
                <a:spcPts val="2000"/>
              </a:lnSpc>
            </a:pPr>
          </a:p>
        </p:txBody>
      </p:sp>
      <p:sp>
        <p:nvSpPr>
          <p:cNvPr name="TextBox 33" id="33"/>
          <p:cNvSpPr txBox="true"/>
          <p:nvPr/>
        </p:nvSpPr>
        <p:spPr>
          <a:xfrm rot="0">
            <a:off x="9297680" y="6608133"/>
            <a:ext cx="6274980" cy="1273175"/>
          </a:xfrm>
          <a:prstGeom prst="rect">
            <a:avLst/>
          </a:prstGeom>
        </p:spPr>
        <p:txBody>
          <a:bodyPr anchor="t" rtlCol="false" tIns="0" lIns="0" bIns="0" rIns="0">
            <a:spAutoFit/>
          </a:bodyPr>
          <a:lstStyle/>
          <a:p>
            <a:pPr algn="ctr">
              <a:lnSpc>
                <a:spcPts val="2499"/>
              </a:lnSpc>
              <a:spcBef>
                <a:spcPct val="0"/>
              </a:spcBef>
            </a:pPr>
            <a:r>
              <a:rPr lang="en-US" b="true" sz="2499">
                <a:solidFill>
                  <a:srgbClr val="FFF8E9"/>
                </a:solidFill>
                <a:latin typeface="Open Sans Bold"/>
                <a:ea typeface="Open Sans Bold"/>
                <a:cs typeface="Open Sans Bold"/>
                <a:sym typeface="Open Sans Bold"/>
              </a:rPr>
              <a:t>DARISTA WARDHANI   </a:t>
            </a:r>
          </a:p>
          <a:p>
            <a:pPr algn="ctr">
              <a:lnSpc>
                <a:spcPts val="2499"/>
              </a:lnSpc>
              <a:spcBef>
                <a:spcPct val="0"/>
              </a:spcBef>
            </a:pPr>
            <a:r>
              <a:rPr lang="en-US" b="true" sz="2499">
                <a:solidFill>
                  <a:srgbClr val="FFF8E9"/>
                </a:solidFill>
                <a:latin typeface="Open Sans Bold"/>
                <a:ea typeface="Open Sans Bold"/>
                <a:cs typeface="Open Sans Bold"/>
                <a:sym typeface="Open Sans Bold"/>
              </a:rPr>
              <a:t>24031554146</a:t>
            </a:r>
          </a:p>
          <a:p>
            <a:pPr algn="ctr">
              <a:lnSpc>
                <a:spcPts val="2499"/>
              </a:lnSpc>
              <a:spcBef>
                <a:spcPct val="0"/>
              </a:spcBef>
            </a:pPr>
          </a:p>
          <a:p>
            <a:pPr algn="ctr">
              <a:lnSpc>
                <a:spcPts val="2499"/>
              </a:lnSpc>
              <a:spcBef>
                <a:spcPct val="0"/>
              </a:spcBef>
            </a:pPr>
          </a:p>
        </p:txBody>
      </p:sp>
      <p:sp>
        <p:nvSpPr>
          <p:cNvPr name="TextBox 34" id="34"/>
          <p:cNvSpPr txBox="true"/>
          <p:nvPr/>
        </p:nvSpPr>
        <p:spPr>
          <a:xfrm rot="0">
            <a:off x="9297680" y="5394922"/>
            <a:ext cx="6274980" cy="1273087"/>
          </a:xfrm>
          <a:prstGeom prst="rect">
            <a:avLst/>
          </a:prstGeom>
        </p:spPr>
        <p:txBody>
          <a:bodyPr anchor="t" rtlCol="false" tIns="0" lIns="0" bIns="0" rIns="0">
            <a:spAutoFit/>
          </a:bodyPr>
          <a:lstStyle/>
          <a:p>
            <a:pPr algn="ctr">
              <a:lnSpc>
                <a:spcPts val="2499"/>
              </a:lnSpc>
              <a:spcBef>
                <a:spcPct val="0"/>
              </a:spcBef>
            </a:pPr>
          </a:p>
          <a:p>
            <a:pPr algn="ctr">
              <a:lnSpc>
                <a:spcPts val="2499"/>
              </a:lnSpc>
              <a:spcBef>
                <a:spcPct val="0"/>
              </a:spcBef>
            </a:pPr>
            <a:r>
              <a:rPr lang="en-US" b="true" sz="2499">
                <a:solidFill>
                  <a:srgbClr val="FFF8E9"/>
                </a:solidFill>
                <a:latin typeface="Open Sans Bold"/>
                <a:ea typeface="Open Sans Bold"/>
                <a:cs typeface="Open Sans Bold"/>
                <a:sym typeface="Open Sans Bold"/>
              </a:rPr>
              <a:t>SEPTIANI AMALIA WULANDARI 1314623069</a:t>
            </a:r>
          </a:p>
          <a:p>
            <a:pPr algn="ctr">
              <a:lnSpc>
                <a:spcPts val="2499"/>
              </a:lnSpc>
              <a:spcBef>
                <a:spcPct val="0"/>
              </a:spcBef>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F8E9"/>
        </a:solidFill>
      </p:bgPr>
    </p:bg>
    <p:spTree>
      <p:nvGrpSpPr>
        <p:cNvPr id="1" name=""/>
        <p:cNvGrpSpPr/>
        <p:nvPr/>
      </p:nvGrpSpPr>
      <p:grpSpPr>
        <a:xfrm>
          <a:off x="0" y="0"/>
          <a:ext cx="0" cy="0"/>
          <a:chOff x="0" y="0"/>
          <a:chExt cx="0" cy="0"/>
        </a:xfrm>
      </p:grpSpPr>
      <p:grpSp>
        <p:nvGrpSpPr>
          <p:cNvPr name="Group 2" id="2"/>
          <p:cNvGrpSpPr/>
          <p:nvPr/>
        </p:nvGrpSpPr>
        <p:grpSpPr>
          <a:xfrm rot="0">
            <a:off x="13138009" y="1035414"/>
            <a:ext cx="4121291" cy="571004"/>
            <a:chOff x="0" y="0"/>
            <a:chExt cx="1370603" cy="189897"/>
          </a:xfrm>
        </p:grpSpPr>
        <p:sp>
          <p:nvSpPr>
            <p:cNvPr name="Freeform 3" id="3"/>
            <p:cNvSpPr/>
            <p:nvPr/>
          </p:nvSpPr>
          <p:spPr>
            <a:xfrm flipH="false" flipV="false" rot="0">
              <a:off x="0" y="0"/>
              <a:ext cx="1370603" cy="189897"/>
            </a:xfrm>
            <a:custGeom>
              <a:avLst/>
              <a:gdLst/>
              <a:ahLst/>
              <a:cxnLst/>
              <a:rect r="r" b="b" t="t" l="l"/>
              <a:pathLst>
                <a:path h="189897" w="1370603">
                  <a:moveTo>
                    <a:pt x="94948" y="0"/>
                  </a:moveTo>
                  <a:lnTo>
                    <a:pt x="1275655" y="0"/>
                  </a:lnTo>
                  <a:cubicBezTo>
                    <a:pt x="1300837" y="0"/>
                    <a:pt x="1324987" y="10003"/>
                    <a:pt x="1342794" y="27810"/>
                  </a:cubicBezTo>
                  <a:cubicBezTo>
                    <a:pt x="1360600" y="45616"/>
                    <a:pt x="1370603" y="69767"/>
                    <a:pt x="1370603" y="94948"/>
                  </a:cubicBezTo>
                  <a:lnTo>
                    <a:pt x="1370603" y="94948"/>
                  </a:lnTo>
                  <a:cubicBezTo>
                    <a:pt x="1370603" y="147387"/>
                    <a:pt x="1328094" y="189897"/>
                    <a:pt x="1275655" y="189897"/>
                  </a:cubicBezTo>
                  <a:lnTo>
                    <a:pt x="94948" y="189897"/>
                  </a:lnTo>
                  <a:cubicBezTo>
                    <a:pt x="42510" y="189897"/>
                    <a:pt x="0" y="147387"/>
                    <a:pt x="0" y="94948"/>
                  </a:cubicBezTo>
                  <a:lnTo>
                    <a:pt x="0" y="94948"/>
                  </a:lnTo>
                  <a:cubicBezTo>
                    <a:pt x="0" y="42510"/>
                    <a:pt x="42510" y="0"/>
                    <a:pt x="94948" y="0"/>
                  </a:cubicBezTo>
                  <a:close/>
                </a:path>
              </a:pathLst>
            </a:custGeom>
            <a:solidFill>
              <a:srgbClr val="FAA607"/>
            </a:solidFill>
            <a:ln cap="rnd">
              <a:noFill/>
              <a:prstDash val="solid"/>
              <a:round/>
            </a:ln>
          </p:spPr>
        </p:sp>
        <p:sp>
          <p:nvSpPr>
            <p:cNvPr name="TextBox 4" id="4"/>
            <p:cNvSpPr txBox="true"/>
            <p:nvPr/>
          </p:nvSpPr>
          <p:spPr>
            <a:xfrm>
              <a:off x="0" y="-57150"/>
              <a:ext cx="1370603" cy="247047"/>
            </a:xfrm>
            <a:prstGeom prst="rect">
              <a:avLst/>
            </a:prstGeom>
          </p:spPr>
          <p:txBody>
            <a:bodyPr anchor="ctr" rtlCol="false" tIns="50800" lIns="50800" bIns="50800" rIns="50800"/>
            <a:lstStyle/>
            <a:p>
              <a:pPr algn="ctr" marL="0" indent="0" lvl="0">
                <a:lnSpc>
                  <a:spcPts val="2824"/>
                </a:lnSpc>
                <a:spcBef>
                  <a:spcPct val="0"/>
                </a:spcBef>
              </a:pPr>
            </a:p>
          </p:txBody>
        </p:sp>
      </p:grpSp>
      <p:sp>
        <p:nvSpPr>
          <p:cNvPr name="Freeform 5" id="5"/>
          <p:cNvSpPr/>
          <p:nvPr/>
        </p:nvSpPr>
        <p:spPr>
          <a:xfrm flipH="false" flipV="false" rot="0">
            <a:off x="16815378" y="1166754"/>
            <a:ext cx="296763" cy="308325"/>
          </a:xfrm>
          <a:custGeom>
            <a:avLst/>
            <a:gdLst/>
            <a:ahLst/>
            <a:cxnLst/>
            <a:rect r="r" b="b" t="t" l="l"/>
            <a:pathLst>
              <a:path h="308325" w="296763">
                <a:moveTo>
                  <a:pt x="0" y="0"/>
                </a:moveTo>
                <a:lnTo>
                  <a:pt x="296763" y="0"/>
                </a:lnTo>
                <a:lnTo>
                  <a:pt x="296763" y="308325"/>
                </a:lnTo>
                <a:lnTo>
                  <a:pt x="0" y="30832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2145208">
            <a:off x="-4074482" y="2541597"/>
            <a:ext cx="14525775" cy="6496983"/>
          </a:xfrm>
          <a:custGeom>
            <a:avLst/>
            <a:gdLst/>
            <a:ahLst/>
            <a:cxnLst/>
            <a:rect r="r" b="b" t="t" l="l"/>
            <a:pathLst>
              <a:path h="6496983" w="14525775">
                <a:moveTo>
                  <a:pt x="0" y="0"/>
                </a:moveTo>
                <a:lnTo>
                  <a:pt x="14525775" y="0"/>
                </a:lnTo>
                <a:lnTo>
                  <a:pt x="14525775" y="6496983"/>
                </a:lnTo>
                <a:lnTo>
                  <a:pt x="0" y="64969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2694296" y="2701447"/>
            <a:ext cx="5913620" cy="5913620"/>
          </a:xfrm>
          <a:custGeom>
            <a:avLst/>
            <a:gdLst/>
            <a:ahLst/>
            <a:cxnLst/>
            <a:rect r="r" b="b" t="t" l="l"/>
            <a:pathLst>
              <a:path h="5913620" w="5913620">
                <a:moveTo>
                  <a:pt x="0" y="0"/>
                </a:moveTo>
                <a:lnTo>
                  <a:pt x="5913620" y="0"/>
                </a:lnTo>
                <a:lnTo>
                  <a:pt x="5913620" y="5913619"/>
                </a:lnTo>
                <a:lnTo>
                  <a:pt x="0" y="591361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8" id="8"/>
          <p:cNvGrpSpPr/>
          <p:nvPr/>
        </p:nvGrpSpPr>
        <p:grpSpPr>
          <a:xfrm rot="0">
            <a:off x="9085033" y="2397018"/>
            <a:ext cx="217061" cy="21706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A607"/>
            </a:solidFill>
          </p:spPr>
        </p:sp>
        <p:sp>
          <p:nvSpPr>
            <p:cNvPr name="TextBox 10" id="10"/>
            <p:cNvSpPr txBox="true"/>
            <p:nvPr/>
          </p:nvSpPr>
          <p:spPr>
            <a:xfrm>
              <a:off x="76200" y="104775"/>
              <a:ext cx="660400" cy="631825"/>
            </a:xfrm>
            <a:prstGeom prst="rect">
              <a:avLst/>
            </a:prstGeom>
          </p:spPr>
          <p:txBody>
            <a:bodyPr anchor="ctr" rtlCol="false" tIns="50800" lIns="50800" bIns="50800" rIns="50800"/>
            <a:lstStyle/>
            <a:p>
              <a:pPr algn="ctr">
                <a:lnSpc>
                  <a:spcPts val="2000"/>
                </a:lnSpc>
              </a:pPr>
            </a:p>
          </p:txBody>
        </p:sp>
      </p:grpSp>
      <p:sp>
        <p:nvSpPr>
          <p:cNvPr name="TextBox 11" id="11"/>
          <p:cNvSpPr txBox="true"/>
          <p:nvPr/>
        </p:nvSpPr>
        <p:spPr>
          <a:xfrm rot="0">
            <a:off x="11428284" y="1200266"/>
            <a:ext cx="1370528" cy="269875"/>
          </a:xfrm>
          <a:prstGeom prst="rect">
            <a:avLst/>
          </a:prstGeom>
        </p:spPr>
        <p:txBody>
          <a:bodyPr anchor="t" rtlCol="false" tIns="0" lIns="0" bIns="0" rIns="0">
            <a:spAutoFit/>
          </a:bodyPr>
          <a:lstStyle/>
          <a:p>
            <a:pPr algn="ctr">
              <a:lnSpc>
                <a:spcPts val="2000"/>
              </a:lnSpc>
            </a:pPr>
            <a:r>
              <a:rPr lang="en-US" sz="2000">
                <a:solidFill>
                  <a:srgbClr val="27194D">
                    <a:alpha val="55686"/>
                  </a:srgbClr>
                </a:solidFill>
                <a:latin typeface="Open Sans"/>
                <a:ea typeface="Open Sans"/>
                <a:cs typeface="Open Sans"/>
                <a:sym typeface="Open Sans"/>
              </a:rPr>
              <a:t>LAYANAN</a:t>
            </a:r>
          </a:p>
        </p:txBody>
      </p:sp>
      <p:sp>
        <p:nvSpPr>
          <p:cNvPr name="TextBox 12" id="12"/>
          <p:cNvSpPr txBox="true"/>
          <p:nvPr/>
        </p:nvSpPr>
        <p:spPr>
          <a:xfrm rot="0">
            <a:off x="9810993" y="1200266"/>
            <a:ext cx="1293441" cy="269875"/>
          </a:xfrm>
          <a:prstGeom prst="rect">
            <a:avLst/>
          </a:prstGeom>
        </p:spPr>
        <p:txBody>
          <a:bodyPr anchor="t" rtlCol="false" tIns="0" lIns="0" bIns="0" rIns="0">
            <a:spAutoFit/>
          </a:bodyPr>
          <a:lstStyle/>
          <a:p>
            <a:pPr algn="ctr">
              <a:lnSpc>
                <a:spcPts val="2000"/>
              </a:lnSpc>
            </a:pPr>
            <a:r>
              <a:rPr lang="en-US" b="true" sz="2000">
                <a:solidFill>
                  <a:srgbClr val="5D4FCA"/>
                </a:solidFill>
                <a:latin typeface="Open Sans Bold"/>
                <a:ea typeface="Open Sans Bold"/>
                <a:cs typeface="Open Sans Bold"/>
                <a:sym typeface="Open Sans Bold"/>
              </a:rPr>
              <a:t>BERANDA</a:t>
            </a:r>
          </a:p>
        </p:txBody>
      </p:sp>
      <p:sp>
        <p:nvSpPr>
          <p:cNvPr name="TextBox 13" id="13"/>
          <p:cNvSpPr txBox="true"/>
          <p:nvPr/>
        </p:nvSpPr>
        <p:spPr>
          <a:xfrm rot="0">
            <a:off x="9530351" y="2204876"/>
            <a:ext cx="3148166" cy="496571"/>
          </a:xfrm>
          <a:prstGeom prst="rect">
            <a:avLst/>
          </a:prstGeom>
        </p:spPr>
        <p:txBody>
          <a:bodyPr anchor="t" rtlCol="false" tIns="0" lIns="0" bIns="0" rIns="0">
            <a:spAutoFit/>
          </a:bodyPr>
          <a:lstStyle/>
          <a:p>
            <a:pPr algn="l" marL="0" indent="0" lvl="0">
              <a:lnSpc>
                <a:spcPts val="4159"/>
              </a:lnSpc>
            </a:pPr>
            <a:r>
              <a:rPr lang="en-US" b="true" sz="2599">
                <a:solidFill>
                  <a:srgbClr val="5D4FCA"/>
                </a:solidFill>
                <a:latin typeface="Open Sans Bold"/>
                <a:ea typeface="Open Sans Bold"/>
                <a:cs typeface="Open Sans Bold"/>
                <a:sym typeface="Open Sans Bold"/>
              </a:rPr>
              <a:t>LATAR BELAKANG</a:t>
            </a:r>
          </a:p>
        </p:txBody>
      </p:sp>
      <p:sp>
        <p:nvSpPr>
          <p:cNvPr name="Freeform 14" id="14"/>
          <p:cNvSpPr/>
          <p:nvPr/>
        </p:nvSpPr>
        <p:spPr>
          <a:xfrm flipH="false" flipV="false" rot="-2145208">
            <a:off x="12600536" y="5752755"/>
            <a:ext cx="8429684" cy="3770368"/>
          </a:xfrm>
          <a:custGeom>
            <a:avLst/>
            <a:gdLst/>
            <a:ahLst/>
            <a:cxnLst/>
            <a:rect r="r" b="b" t="t" l="l"/>
            <a:pathLst>
              <a:path h="3770368" w="8429684">
                <a:moveTo>
                  <a:pt x="0" y="0"/>
                </a:moveTo>
                <a:lnTo>
                  <a:pt x="8429684" y="0"/>
                </a:lnTo>
                <a:lnTo>
                  <a:pt x="8429684" y="3770368"/>
                </a:lnTo>
                <a:lnTo>
                  <a:pt x="0" y="377036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5" id="15"/>
          <p:cNvSpPr txBox="true"/>
          <p:nvPr/>
        </p:nvSpPr>
        <p:spPr>
          <a:xfrm rot="0">
            <a:off x="9450487" y="2990247"/>
            <a:ext cx="8025768" cy="6340475"/>
          </a:xfrm>
          <a:prstGeom prst="rect">
            <a:avLst/>
          </a:prstGeom>
        </p:spPr>
        <p:txBody>
          <a:bodyPr anchor="t" rtlCol="false" tIns="0" lIns="0" bIns="0" rIns="0">
            <a:spAutoFit/>
          </a:bodyPr>
          <a:lstStyle/>
          <a:p>
            <a:pPr algn="just">
              <a:lnSpc>
                <a:spcPts val="2800"/>
              </a:lnSpc>
            </a:pPr>
            <a:r>
              <a:rPr lang="en-US" sz="2000">
                <a:solidFill>
                  <a:srgbClr val="000000"/>
                </a:solidFill>
                <a:latin typeface="Open Sans"/>
                <a:ea typeface="Open Sans"/>
                <a:cs typeface="Open Sans"/>
                <a:sym typeface="Open Sans"/>
              </a:rPr>
              <a:t>Pengangguran merupakan salah satu permasalahan ekonomi dan sosial yang masih dihadapi oleh banyak negara, termasuk Indonesia. Tingginya tingkat pengangguran tidak hanya mencerminkan ketidakseimbangan antara permintaan dan penawaran tenaga kerja, tetapi juga menjadi indikator ketidakoptimalan pembangunan ekonomi dan kualitas sumber daya manusia. Berdasarkan proyeksi penduduk oleh BPS, jumlah penduduk Indonesia akan melonjak hingga 300 jiwa. Kondisi ini dapat menjadi peluang untuk mendorong pertumbuhan ekonomi jika dimanfaatkan secara optimal, namun juga dapat meningkatkan angka pengangguran bila tidak dikelola dengan baik. Berbagai penelitian terdahulu menunjukkan bahwa perempuan memiliki peluang lebih tinggi untuk menganggur dibanding laki-laki, dan tingkat pengangguran juga bervariasi berdasarkan pendidikan dan usia. Oleh karena itu, penting untuk menganalisis pengaruh faktor demografis terhadap TPT agar kebijakan ketenagakerjaan dapat lebih tepat sasaran.</a:t>
            </a:r>
          </a:p>
          <a:p>
            <a:pPr algn="just" marL="0" indent="0" lvl="0">
              <a:lnSpc>
                <a:spcPts val="2800"/>
              </a:lnSpc>
            </a:pPr>
          </a:p>
        </p:txBody>
      </p:sp>
      <p:sp>
        <p:nvSpPr>
          <p:cNvPr name="TextBox 16" id="16"/>
          <p:cNvSpPr txBox="true"/>
          <p:nvPr/>
        </p:nvSpPr>
        <p:spPr>
          <a:xfrm rot="0">
            <a:off x="1847695" y="1109652"/>
            <a:ext cx="3115460" cy="422485"/>
          </a:xfrm>
          <a:prstGeom prst="rect">
            <a:avLst/>
          </a:prstGeom>
        </p:spPr>
        <p:txBody>
          <a:bodyPr anchor="t" rtlCol="false" tIns="0" lIns="0" bIns="0" rIns="0">
            <a:spAutoFit/>
          </a:bodyPr>
          <a:lstStyle/>
          <a:p>
            <a:pPr algn="l">
              <a:lnSpc>
                <a:spcPts val="3107"/>
              </a:lnSpc>
            </a:pPr>
            <a:r>
              <a:rPr lang="en-US" sz="2799" b="true">
                <a:solidFill>
                  <a:srgbClr val="5D4FCA"/>
                </a:solidFill>
                <a:latin typeface="Roboto Condensed Bold"/>
                <a:ea typeface="Roboto Condensed Bold"/>
                <a:cs typeface="Roboto Condensed Bold"/>
                <a:sym typeface="Roboto Condensed Bold"/>
              </a:rPr>
              <a:t>PENDAHULUAN</a:t>
            </a:r>
          </a:p>
        </p:txBody>
      </p:sp>
      <p:sp>
        <p:nvSpPr>
          <p:cNvPr name="Freeform 17" id="17"/>
          <p:cNvSpPr/>
          <p:nvPr/>
        </p:nvSpPr>
        <p:spPr>
          <a:xfrm flipH="false" flipV="false" rot="0">
            <a:off x="1028700" y="1049653"/>
            <a:ext cx="647545" cy="495666"/>
          </a:xfrm>
          <a:custGeom>
            <a:avLst/>
            <a:gdLst/>
            <a:ahLst/>
            <a:cxnLst/>
            <a:rect r="r" b="b" t="t" l="l"/>
            <a:pathLst>
              <a:path h="495666" w="647545">
                <a:moveTo>
                  <a:pt x="0" y="0"/>
                </a:moveTo>
                <a:lnTo>
                  <a:pt x="647545" y="0"/>
                </a:lnTo>
                <a:lnTo>
                  <a:pt x="647545" y="495666"/>
                </a:lnTo>
                <a:lnTo>
                  <a:pt x="0" y="49566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8" id="18"/>
          <p:cNvSpPr/>
          <p:nvPr/>
        </p:nvSpPr>
        <p:spPr>
          <a:xfrm flipH="false" flipV="false" rot="-10577904">
            <a:off x="15336566" y="8524547"/>
            <a:ext cx="3845468" cy="4114800"/>
          </a:xfrm>
          <a:custGeom>
            <a:avLst/>
            <a:gdLst/>
            <a:ahLst/>
            <a:cxnLst/>
            <a:rect r="r" b="b" t="t" l="l"/>
            <a:pathLst>
              <a:path h="4114800" w="3845468">
                <a:moveTo>
                  <a:pt x="0" y="0"/>
                </a:moveTo>
                <a:lnTo>
                  <a:pt x="3845468" y="0"/>
                </a:lnTo>
                <a:lnTo>
                  <a:pt x="384546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9" id="19"/>
          <p:cNvSpPr/>
          <p:nvPr/>
        </p:nvSpPr>
        <p:spPr>
          <a:xfrm flipH="false" flipV="false" rot="6034560">
            <a:off x="-1502391" y="7200900"/>
            <a:ext cx="3845468" cy="4114800"/>
          </a:xfrm>
          <a:custGeom>
            <a:avLst/>
            <a:gdLst/>
            <a:ahLst/>
            <a:cxnLst/>
            <a:rect r="r" b="b" t="t" l="l"/>
            <a:pathLst>
              <a:path h="4114800" w="3845468">
                <a:moveTo>
                  <a:pt x="0" y="0"/>
                </a:moveTo>
                <a:lnTo>
                  <a:pt x="3845468" y="0"/>
                </a:lnTo>
                <a:lnTo>
                  <a:pt x="3845468"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0" id="20"/>
          <p:cNvSpPr/>
          <p:nvPr/>
        </p:nvSpPr>
        <p:spPr>
          <a:xfrm flipH="false" flipV="false" rot="-9344170">
            <a:off x="1659141" y="8782232"/>
            <a:ext cx="626952" cy="392130"/>
          </a:xfrm>
          <a:custGeom>
            <a:avLst/>
            <a:gdLst/>
            <a:ahLst/>
            <a:cxnLst/>
            <a:rect r="r" b="b" t="t" l="l"/>
            <a:pathLst>
              <a:path h="392130" w="626952">
                <a:moveTo>
                  <a:pt x="0" y="0"/>
                </a:moveTo>
                <a:lnTo>
                  <a:pt x="626952" y="0"/>
                </a:lnTo>
                <a:lnTo>
                  <a:pt x="626952" y="392130"/>
                </a:lnTo>
                <a:lnTo>
                  <a:pt x="0" y="39213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21" id="21"/>
          <p:cNvSpPr/>
          <p:nvPr/>
        </p:nvSpPr>
        <p:spPr>
          <a:xfrm flipH="false" flipV="false" rot="-7638806">
            <a:off x="692725" y="3680746"/>
            <a:ext cx="1034860" cy="383329"/>
          </a:xfrm>
          <a:custGeom>
            <a:avLst/>
            <a:gdLst/>
            <a:ahLst/>
            <a:cxnLst/>
            <a:rect r="r" b="b" t="t" l="l"/>
            <a:pathLst>
              <a:path h="383329" w="1034860">
                <a:moveTo>
                  <a:pt x="0" y="0"/>
                </a:moveTo>
                <a:lnTo>
                  <a:pt x="1034860" y="0"/>
                </a:lnTo>
                <a:lnTo>
                  <a:pt x="1034860" y="383329"/>
                </a:lnTo>
                <a:lnTo>
                  <a:pt x="0" y="383329"/>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22" id="22"/>
          <p:cNvSpPr/>
          <p:nvPr/>
        </p:nvSpPr>
        <p:spPr>
          <a:xfrm flipH="false" flipV="false" rot="8999904">
            <a:off x="9220070" y="9006778"/>
            <a:ext cx="1034860" cy="383329"/>
          </a:xfrm>
          <a:custGeom>
            <a:avLst/>
            <a:gdLst/>
            <a:ahLst/>
            <a:cxnLst/>
            <a:rect r="r" b="b" t="t" l="l"/>
            <a:pathLst>
              <a:path h="383329" w="1034860">
                <a:moveTo>
                  <a:pt x="0" y="0"/>
                </a:moveTo>
                <a:lnTo>
                  <a:pt x="1034860" y="0"/>
                </a:lnTo>
                <a:lnTo>
                  <a:pt x="1034860" y="383329"/>
                </a:lnTo>
                <a:lnTo>
                  <a:pt x="0" y="383329"/>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FF8E9"/>
        </a:solidFill>
      </p:bgPr>
    </p:bg>
    <p:spTree>
      <p:nvGrpSpPr>
        <p:cNvPr id="1" name=""/>
        <p:cNvGrpSpPr/>
        <p:nvPr/>
      </p:nvGrpSpPr>
      <p:grpSpPr>
        <a:xfrm>
          <a:off x="0" y="0"/>
          <a:ext cx="0" cy="0"/>
          <a:chOff x="0" y="0"/>
          <a:chExt cx="0" cy="0"/>
        </a:xfrm>
      </p:grpSpPr>
      <p:grpSp>
        <p:nvGrpSpPr>
          <p:cNvPr name="Group 2" id="2"/>
          <p:cNvGrpSpPr/>
          <p:nvPr/>
        </p:nvGrpSpPr>
        <p:grpSpPr>
          <a:xfrm rot="0">
            <a:off x="13138009" y="1035414"/>
            <a:ext cx="4121291" cy="571004"/>
            <a:chOff x="0" y="0"/>
            <a:chExt cx="1370603" cy="189897"/>
          </a:xfrm>
        </p:grpSpPr>
        <p:sp>
          <p:nvSpPr>
            <p:cNvPr name="Freeform 3" id="3"/>
            <p:cNvSpPr/>
            <p:nvPr/>
          </p:nvSpPr>
          <p:spPr>
            <a:xfrm flipH="false" flipV="false" rot="0">
              <a:off x="0" y="0"/>
              <a:ext cx="1370603" cy="189897"/>
            </a:xfrm>
            <a:custGeom>
              <a:avLst/>
              <a:gdLst/>
              <a:ahLst/>
              <a:cxnLst/>
              <a:rect r="r" b="b" t="t" l="l"/>
              <a:pathLst>
                <a:path h="189897" w="1370603">
                  <a:moveTo>
                    <a:pt x="94948" y="0"/>
                  </a:moveTo>
                  <a:lnTo>
                    <a:pt x="1275655" y="0"/>
                  </a:lnTo>
                  <a:cubicBezTo>
                    <a:pt x="1300837" y="0"/>
                    <a:pt x="1324987" y="10003"/>
                    <a:pt x="1342794" y="27810"/>
                  </a:cubicBezTo>
                  <a:cubicBezTo>
                    <a:pt x="1360600" y="45616"/>
                    <a:pt x="1370603" y="69767"/>
                    <a:pt x="1370603" y="94948"/>
                  </a:cubicBezTo>
                  <a:lnTo>
                    <a:pt x="1370603" y="94948"/>
                  </a:lnTo>
                  <a:cubicBezTo>
                    <a:pt x="1370603" y="147387"/>
                    <a:pt x="1328094" y="189897"/>
                    <a:pt x="1275655" y="189897"/>
                  </a:cubicBezTo>
                  <a:lnTo>
                    <a:pt x="94948" y="189897"/>
                  </a:lnTo>
                  <a:cubicBezTo>
                    <a:pt x="42510" y="189897"/>
                    <a:pt x="0" y="147387"/>
                    <a:pt x="0" y="94948"/>
                  </a:cubicBezTo>
                  <a:lnTo>
                    <a:pt x="0" y="94948"/>
                  </a:lnTo>
                  <a:cubicBezTo>
                    <a:pt x="0" y="42510"/>
                    <a:pt x="42510" y="0"/>
                    <a:pt x="94948" y="0"/>
                  </a:cubicBezTo>
                  <a:close/>
                </a:path>
              </a:pathLst>
            </a:custGeom>
            <a:solidFill>
              <a:srgbClr val="FAA607"/>
            </a:solidFill>
            <a:ln cap="rnd">
              <a:noFill/>
              <a:prstDash val="solid"/>
              <a:round/>
            </a:ln>
          </p:spPr>
        </p:sp>
        <p:sp>
          <p:nvSpPr>
            <p:cNvPr name="TextBox 4" id="4"/>
            <p:cNvSpPr txBox="true"/>
            <p:nvPr/>
          </p:nvSpPr>
          <p:spPr>
            <a:xfrm>
              <a:off x="0" y="-57150"/>
              <a:ext cx="1370603" cy="247047"/>
            </a:xfrm>
            <a:prstGeom prst="rect">
              <a:avLst/>
            </a:prstGeom>
          </p:spPr>
          <p:txBody>
            <a:bodyPr anchor="ctr" rtlCol="false" tIns="50800" lIns="50800" bIns="50800" rIns="50800"/>
            <a:lstStyle/>
            <a:p>
              <a:pPr algn="ctr" marL="0" indent="0" lvl="0">
                <a:lnSpc>
                  <a:spcPts val="2824"/>
                </a:lnSpc>
                <a:spcBef>
                  <a:spcPct val="0"/>
                </a:spcBef>
              </a:pPr>
            </a:p>
          </p:txBody>
        </p:sp>
      </p:grpSp>
      <p:sp>
        <p:nvSpPr>
          <p:cNvPr name="Freeform 5" id="5"/>
          <p:cNvSpPr/>
          <p:nvPr/>
        </p:nvSpPr>
        <p:spPr>
          <a:xfrm flipH="false" flipV="false" rot="0">
            <a:off x="16815378" y="1166754"/>
            <a:ext cx="296763" cy="308325"/>
          </a:xfrm>
          <a:custGeom>
            <a:avLst/>
            <a:gdLst/>
            <a:ahLst/>
            <a:cxnLst/>
            <a:rect r="r" b="b" t="t" l="l"/>
            <a:pathLst>
              <a:path h="308325" w="296763">
                <a:moveTo>
                  <a:pt x="0" y="0"/>
                </a:moveTo>
                <a:lnTo>
                  <a:pt x="296763" y="0"/>
                </a:lnTo>
                <a:lnTo>
                  <a:pt x="296763" y="308325"/>
                </a:lnTo>
                <a:lnTo>
                  <a:pt x="0" y="30832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2145208">
            <a:off x="9670265" y="5927039"/>
            <a:ext cx="11637564" cy="5205165"/>
          </a:xfrm>
          <a:custGeom>
            <a:avLst/>
            <a:gdLst/>
            <a:ahLst/>
            <a:cxnLst/>
            <a:rect r="r" b="b" t="t" l="l"/>
            <a:pathLst>
              <a:path h="5205165" w="11637564">
                <a:moveTo>
                  <a:pt x="0" y="0"/>
                </a:moveTo>
                <a:lnTo>
                  <a:pt x="11637564" y="0"/>
                </a:lnTo>
                <a:lnTo>
                  <a:pt x="11637564" y="5205165"/>
                </a:lnTo>
                <a:lnTo>
                  <a:pt x="0" y="520516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9178133">
            <a:off x="-2258703" y="-1335293"/>
            <a:ext cx="3845468" cy="4114800"/>
          </a:xfrm>
          <a:custGeom>
            <a:avLst/>
            <a:gdLst/>
            <a:ahLst/>
            <a:cxnLst/>
            <a:rect r="r" b="b" t="t" l="l"/>
            <a:pathLst>
              <a:path h="4114800" w="3845468">
                <a:moveTo>
                  <a:pt x="0" y="0"/>
                </a:moveTo>
                <a:lnTo>
                  <a:pt x="3845468" y="0"/>
                </a:lnTo>
                <a:lnTo>
                  <a:pt x="3845468"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2145208">
            <a:off x="424070" y="-996164"/>
            <a:ext cx="11637564" cy="5205165"/>
          </a:xfrm>
          <a:custGeom>
            <a:avLst/>
            <a:gdLst/>
            <a:ahLst/>
            <a:cxnLst/>
            <a:rect r="r" b="b" t="t" l="l"/>
            <a:pathLst>
              <a:path h="5205165" w="11637564">
                <a:moveTo>
                  <a:pt x="0" y="0"/>
                </a:moveTo>
                <a:lnTo>
                  <a:pt x="11637564" y="0"/>
                </a:lnTo>
                <a:lnTo>
                  <a:pt x="11637564" y="5205165"/>
                </a:lnTo>
                <a:lnTo>
                  <a:pt x="0" y="520516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0669284" y="2660105"/>
            <a:ext cx="5971604" cy="6172200"/>
          </a:xfrm>
          <a:custGeom>
            <a:avLst/>
            <a:gdLst/>
            <a:ahLst/>
            <a:cxnLst/>
            <a:rect r="r" b="b" t="t" l="l"/>
            <a:pathLst>
              <a:path h="6172200" w="5971604">
                <a:moveTo>
                  <a:pt x="0" y="0"/>
                </a:moveTo>
                <a:lnTo>
                  <a:pt x="5971603" y="0"/>
                </a:lnTo>
                <a:lnTo>
                  <a:pt x="5971603" y="6172200"/>
                </a:lnTo>
                <a:lnTo>
                  <a:pt x="0" y="61722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0" id="10"/>
          <p:cNvSpPr txBox="true"/>
          <p:nvPr/>
        </p:nvSpPr>
        <p:spPr>
          <a:xfrm rot="0">
            <a:off x="11428284" y="1200266"/>
            <a:ext cx="1370528" cy="269875"/>
          </a:xfrm>
          <a:prstGeom prst="rect">
            <a:avLst/>
          </a:prstGeom>
        </p:spPr>
        <p:txBody>
          <a:bodyPr anchor="t" rtlCol="false" tIns="0" lIns="0" bIns="0" rIns="0">
            <a:spAutoFit/>
          </a:bodyPr>
          <a:lstStyle/>
          <a:p>
            <a:pPr algn="ctr">
              <a:lnSpc>
                <a:spcPts val="2000"/>
              </a:lnSpc>
            </a:pPr>
            <a:r>
              <a:rPr lang="en-US" sz="2000">
                <a:solidFill>
                  <a:srgbClr val="27194D">
                    <a:alpha val="55686"/>
                  </a:srgbClr>
                </a:solidFill>
                <a:latin typeface="Open Sans"/>
                <a:ea typeface="Open Sans"/>
                <a:cs typeface="Open Sans"/>
                <a:sym typeface="Open Sans"/>
              </a:rPr>
              <a:t>LAYANAN</a:t>
            </a:r>
          </a:p>
        </p:txBody>
      </p:sp>
      <p:sp>
        <p:nvSpPr>
          <p:cNvPr name="TextBox 11" id="11"/>
          <p:cNvSpPr txBox="true"/>
          <p:nvPr/>
        </p:nvSpPr>
        <p:spPr>
          <a:xfrm rot="0">
            <a:off x="9810993" y="1200266"/>
            <a:ext cx="1293441" cy="269875"/>
          </a:xfrm>
          <a:prstGeom prst="rect">
            <a:avLst/>
          </a:prstGeom>
        </p:spPr>
        <p:txBody>
          <a:bodyPr anchor="t" rtlCol="false" tIns="0" lIns="0" bIns="0" rIns="0">
            <a:spAutoFit/>
          </a:bodyPr>
          <a:lstStyle/>
          <a:p>
            <a:pPr algn="ctr">
              <a:lnSpc>
                <a:spcPts val="2000"/>
              </a:lnSpc>
            </a:pPr>
            <a:r>
              <a:rPr lang="en-US" b="true" sz="2000">
                <a:solidFill>
                  <a:srgbClr val="5D4FCA"/>
                </a:solidFill>
                <a:latin typeface="Open Sans Bold"/>
                <a:ea typeface="Open Sans Bold"/>
                <a:cs typeface="Open Sans Bold"/>
                <a:sym typeface="Open Sans Bold"/>
              </a:rPr>
              <a:t>BERANDA</a:t>
            </a:r>
          </a:p>
        </p:txBody>
      </p:sp>
      <p:grpSp>
        <p:nvGrpSpPr>
          <p:cNvPr name="Group 12" id="12"/>
          <p:cNvGrpSpPr/>
          <p:nvPr/>
        </p:nvGrpSpPr>
        <p:grpSpPr>
          <a:xfrm rot="0">
            <a:off x="1459184" y="1986077"/>
            <a:ext cx="217061" cy="217061"/>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A607"/>
            </a:solidFill>
          </p:spPr>
        </p:sp>
        <p:sp>
          <p:nvSpPr>
            <p:cNvPr name="TextBox 14" id="14"/>
            <p:cNvSpPr txBox="true"/>
            <p:nvPr/>
          </p:nvSpPr>
          <p:spPr>
            <a:xfrm>
              <a:off x="76200" y="104775"/>
              <a:ext cx="660400" cy="631825"/>
            </a:xfrm>
            <a:prstGeom prst="rect">
              <a:avLst/>
            </a:prstGeom>
          </p:spPr>
          <p:txBody>
            <a:bodyPr anchor="ctr" rtlCol="false" tIns="50800" lIns="50800" bIns="50800" rIns="50800"/>
            <a:lstStyle/>
            <a:p>
              <a:pPr algn="ctr">
                <a:lnSpc>
                  <a:spcPts val="2000"/>
                </a:lnSpc>
              </a:pPr>
            </a:p>
          </p:txBody>
        </p:sp>
      </p:grpSp>
      <p:grpSp>
        <p:nvGrpSpPr>
          <p:cNvPr name="Group 15" id="15"/>
          <p:cNvGrpSpPr/>
          <p:nvPr/>
        </p:nvGrpSpPr>
        <p:grpSpPr>
          <a:xfrm rot="0">
            <a:off x="1459184" y="5351309"/>
            <a:ext cx="217061" cy="217061"/>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A607"/>
            </a:solidFill>
          </p:spPr>
        </p:sp>
        <p:sp>
          <p:nvSpPr>
            <p:cNvPr name="TextBox 17" id="17"/>
            <p:cNvSpPr txBox="true"/>
            <p:nvPr/>
          </p:nvSpPr>
          <p:spPr>
            <a:xfrm>
              <a:off x="76200" y="104775"/>
              <a:ext cx="660400" cy="631825"/>
            </a:xfrm>
            <a:prstGeom prst="rect">
              <a:avLst/>
            </a:prstGeom>
          </p:spPr>
          <p:txBody>
            <a:bodyPr anchor="ctr" rtlCol="false" tIns="50800" lIns="50800" bIns="50800" rIns="50800"/>
            <a:lstStyle/>
            <a:p>
              <a:pPr algn="ctr">
                <a:lnSpc>
                  <a:spcPts val="2000"/>
                </a:lnSpc>
              </a:pPr>
            </a:p>
          </p:txBody>
        </p:sp>
      </p:grpSp>
      <p:sp>
        <p:nvSpPr>
          <p:cNvPr name="TextBox 18" id="18"/>
          <p:cNvSpPr txBox="true"/>
          <p:nvPr/>
        </p:nvSpPr>
        <p:spPr>
          <a:xfrm rot="0">
            <a:off x="1914897" y="1793935"/>
            <a:ext cx="3663487" cy="496571"/>
          </a:xfrm>
          <a:prstGeom prst="rect">
            <a:avLst/>
          </a:prstGeom>
        </p:spPr>
        <p:txBody>
          <a:bodyPr anchor="t" rtlCol="false" tIns="0" lIns="0" bIns="0" rIns="0">
            <a:spAutoFit/>
          </a:bodyPr>
          <a:lstStyle/>
          <a:p>
            <a:pPr algn="l" marL="0" indent="0" lvl="0">
              <a:lnSpc>
                <a:spcPts val="4159"/>
              </a:lnSpc>
            </a:pPr>
            <a:r>
              <a:rPr lang="en-US" b="true" sz="2599">
                <a:solidFill>
                  <a:srgbClr val="5D4FCA"/>
                </a:solidFill>
                <a:latin typeface="Open Sans Bold"/>
                <a:ea typeface="Open Sans Bold"/>
                <a:cs typeface="Open Sans Bold"/>
                <a:sym typeface="Open Sans Bold"/>
              </a:rPr>
              <a:t>TUJUAN</a:t>
            </a:r>
          </a:p>
        </p:txBody>
      </p:sp>
      <p:sp>
        <p:nvSpPr>
          <p:cNvPr name="TextBox 19" id="19"/>
          <p:cNvSpPr txBox="true"/>
          <p:nvPr/>
        </p:nvSpPr>
        <p:spPr>
          <a:xfrm rot="0">
            <a:off x="1914897" y="5159167"/>
            <a:ext cx="3354735" cy="496571"/>
          </a:xfrm>
          <a:prstGeom prst="rect">
            <a:avLst/>
          </a:prstGeom>
        </p:spPr>
        <p:txBody>
          <a:bodyPr anchor="t" rtlCol="false" tIns="0" lIns="0" bIns="0" rIns="0">
            <a:spAutoFit/>
          </a:bodyPr>
          <a:lstStyle/>
          <a:p>
            <a:pPr algn="l" marL="0" indent="0" lvl="0">
              <a:lnSpc>
                <a:spcPts val="4159"/>
              </a:lnSpc>
            </a:pPr>
            <a:r>
              <a:rPr lang="en-US" b="true" sz="2599">
                <a:solidFill>
                  <a:srgbClr val="5D4FCA"/>
                </a:solidFill>
                <a:latin typeface="Open Sans Bold"/>
                <a:ea typeface="Open Sans Bold"/>
                <a:cs typeface="Open Sans Bold"/>
                <a:sym typeface="Open Sans Bold"/>
              </a:rPr>
              <a:t>MANFAAT</a:t>
            </a:r>
          </a:p>
        </p:txBody>
      </p:sp>
      <p:sp>
        <p:nvSpPr>
          <p:cNvPr name="TextBox 20" id="20"/>
          <p:cNvSpPr txBox="true"/>
          <p:nvPr/>
        </p:nvSpPr>
        <p:spPr>
          <a:xfrm rot="0">
            <a:off x="1914897" y="2374490"/>
            <a:ext cx="6874792" cy="2463800"/>
          </a:xfrm>
          <a:prstGeom prst="rect">
            <a:avLst/>
          </a:prstGeom>
        </p:spPr>
        <p:txBody>
          <a:bodyPr anchor="t" rtlCol="false" tIns="0" lIns="0" bIns="0" rIns="0">
            <a:spAutoFit/>
          </a:bodyPr>
          <a:lstStyle/>
          <a:p>
            <a:pPr algn="just" marL="0" indent="0" lvl="0">
              <a:lnSpc>
                <a:spcPts val="2800"/>
              </a:lnSpc>
            </a:pPr>
            <a:r>
              <a:rPr lang="en-US" sz="2000">
                <a:solidFill>
                  <a:srgbClr val="000000"/>
                </a:solidFill>
                <a:latin typeface="Open Sans"/>
                <a:ea typeface="Open Sans"/>
                <a:cs typeface="Open Sans"/>
                <a:sym typeface="Open Sans"/>
              </a:rPr>
              <a:t>Tujuan penelitian ini adalah untuk memahami hubungan antara faktor-faktor demografis seperti pendidikan, umur, dan gender dengan tingkat pengangguran terbuka di Indonesia. Selain itu, juga bertujuan untuk memberikan gambaran mengenai kondisi tenaga kerja di masa bonus demografi serta pentingnya peningkatan kualitas sumber daya manusia agar dapat bersaing di pasar kerja.</a:t>
            </a:r>
          </a:p>
        </p:txBody>
      </p:sp>
      <p:sp>
        <p:nvSpPr>
          <p:cNvPr name="TextBox 21" id="21"/>
          <p:cNvSpPr txBox="true"/>
          <p:nvPr/>
        </p:nvSpPr>
        <p:spPr>
          <a:xfrm rot="0">
            <a:off x="1847695" y="1109652"/>
            <a:ext cx="3115460" cy="422485"/>
          </a:xfrm>
          <a:prstGeom prst="rect">
            <a:avLst/>
          </a:prstGeom>
        </p:spPr>
        <p:txBody>
          <a:bodyPr anchor="t" rtlCol="false" tIns="0" lIns="0" bIns="0" rIns="0">
            <a:spAutoFit/>
          </a:bodyPr>
          <a:lstStyle/>
          <a:p>
            <a:pPr algn="l">
              <a:lnSpc>
                <a:spcPts val="3107"/>
              </a:lnSpc>
            </a:pPr>
            <a:r>
              <a:rPr lang="en-US" sz="2799" b="true">
                <a:solidFill>
                  <a:srgbClr val="5D4FCA"/>
                </a:solidFill>
                <a:latin typeface="Roboto Condensed Bold"/>
                <a:ea typeface="Roboto Condensed Bold"/>
                <a:cs typeface="Roboto Condensed Bold"/>
                <a:sym typeface="Roboto Condensed Bold"/>
              </a:rPr>
              <a:t>PENDAHULUAN</a:t>
            </a:r>
          </a:p>
        </p:txBody>
      </p:sp>
      <p:sp>
        <p:nvSpPr>
          <p:cNvPr name="Freeform 22" id="22"/>
          <p:cNvSpPr/>
          <p:nvPr/>
        </p:nvSpPr>
        <p:spPr>
          <a:xfrm flipH="false" flipV="false" rot="0">
            <a:off x="1028700" y="1049653"/>
            <a:ext cx="647545" cy="495666"/>
          </a:xfrm>
          <a:custGeom>
            <a:avLst/>
            <a:gdLst/>
            <a:ahLst/>
            <a:cxnLst/>
            <a:rect r="r" b="b" t="t" l="l"/>
            <a:pathLst>
              <a:path h="495666" w="647545">
                <a:moveTo>
                  <a:pt x="0" y="0"/>
                </a:moveTo>
                <a:lnTo>
                  <a:pt x="647545" y="0"/>
                </a:lnTo>
                <a:lnTo>
                  <a:pt x="647545" y="495666"/>
                </a:lnTo>
                <a:lnTo>
                  <a:pt x="0" y="49566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3" id="23"/>
          <p:cNvSpPr/>
          <p:nvPr/>
        </p:nvSpPr>
        <p:spPr>
          <a:xfrm flipH="false" flipV="false" rot="257807">
            <a:off x="15637789" y="7641393"/>
            <a:ext cx="3845468" cy="4114800"/>
          </a:xfrm>
          <a:custGeom>
            <a:avLst/>
            <a:gdLst/>
            <a:ahLst/>
            <a:cxnLst/>
            <a:rect r="r" b="b" t="t" l="l"/>
            <a:pathLst>
              <a:path h="4114800" w="3845468">
                <a:moveTo>
                  <a:pt x="0" y="0"/>
                </a:moveTo>
                <a:lnTo>
                  <a:pt x="3845468" y="0"/>
                </a:lnTo>
                <a:lnTo>
                  <a:pt x="3845468"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4" id="24"/>
          <p:cNvSpPr/>
          <p:nvPr/>
        </p:nvSpPr>
        <p:spPr>
          <a:xfrm flipH="false" flipV="false" rot="-1342151">
            <a:off x="7200354" y="1402033"/>
            <a:ext cx="626952" cy="392130"/>
          </a:xfrm>
          <a:custGeom>
            <a:avLst/>
            <a:gdLst/>
            <a:ahLst/>
            <a:cxnLst/>
            <a:rect r="r" b="b" t="t" l="l"/>
            <a:pathLst>
              <a:path h="392130" w="626952">
                <a:moveTo>
                  <a:pt x="0" y="0"/>
                </a:moveTo>
                <a:lnTo>
                  <a:pt x="626953" y="0"/>
                </a:lnTo>
                <a:lnTo>
                  <a:pt x="626953" y="392130"/>
                </a:lnTo>
                <a:lnTo>
                  <a:pt x="0" y="39213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25" id="25"/>
          <p:cNvSpPr/>
          <p:nvPr/>
        </p:nvSpPr>
        <p:spPr>
          <a:xfrm flipH="false" flipV="false" rot="6902289">
            <a:off x="16690589" y="8888367"/>
            <a:ext cx="1034860" cy="383329"/>
          </a:xfrm>
          <a:custGeom>
            <a:avLst/>
            <a:gdLst/>
            <a:ahLst/>
            <a:cxnLst/>
            <a:rect r="r" b="b" t="t" l="l"/>
            <a:pathLst>
              <a:path h="383329" w="1034860">
                <a:moveTo>
                  <a:pt x="0" y="0"/>
                </a:moveTo>
                <a:lnTo>
                  <a:pt x="1034860" y="0"/>
                </a:lnTo>
                <a:lnTo>
                  <a:pt x="1034860" y="383330"/>
                </a:lnTo>
                <a:lnTo>
                  <a:pt x="0" y="383330"/>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26" id="26"/>
          <p:cNvSpPr/>
          <p:nvPr/>
        </p:nvSpPr>
        <p:spPr>
          <a:xfrm flipH="false" flipV="false" rot="-8737145">
            <a:off x="1227683" y="8887878"/>
            <a:ext cx="1034860" cy="383329"/>
          </a:xfrm>
          <a:custGeom>
            <a:avLst/>
            <a:gdLst/>
            <a:ahLst/>
            <a:cxnLst/>
            <a:rect r="r" b="b" t="t" l="l"/>
            <a:pathLst>
              <a:path h="383329" w="1034860">
                <a:moveTo>
                  <a:pt x="0" y="0"/>
                </a:moveTo>
                <a:lnTo>
                  <a:pt x="1034860" y="0"/>
                </a:lnTo>
                <a:lnTo>
                  <a:pt x="1034860" y="383330"/>
                </a:lnTo>
                <a:lnTo>
                  <a:pt x="0" y="383330"/>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TextBox 27" id="27"/>
          <p:cNvSpPr txBox="true"/>
          <p:nvPr/>
        </p:nvSpPr>
        <p:spPr>
          <a:xfrm rot="0">
            <a:off x="1914897" y="5812948"/>
            <a:ext cx="6874792" cy="2816225"/>
          </a:xfrm>
          <a:prstGeom prst="rect">
            <a:avLst/>
          </a:prstGeom>
        </p:spPr>
        <p:txBody>
          <a:bodyPr anchor="t" rtlCol="false" tIns="0" lIns="0" bIns="0" rIns="0">
            <a:spAutoFit/>
          </a:bodyPr>
          <a:lstStyle/>
          <a:p>
            <a:pPr algn="just">
              <a:lnSpc>
                <a:spcPts val="2800"/>
              </a:lnSpc>
            </a:pPr>
            <a:r>
              <a:rPr lang="en-US" sz="2000">
                <a:solidFill>
                  <a:srgbClr val="000000"/>
                </a:solidFill>
                <a:latin typeface="Open Sans"/>
                <a:ea typeface="Open Sans"/>
                <a:cs typeface="Open Sans"/>
                <a:sym typeface="Open Sans"/>
              </a:rPr>
              <a:t>Manfaat dari pembahasan ini adalah memberikan wawasan bagi masyarakat mengenai pentingnya pendidikan, keterampilan, dan kesiapan kerja dalam menghadapi tantangan ketenagakerjaan. Selain itu, hasil kajian ini dapat menjadi bahan pemahaman bagi pemerintah dan lembaga terkait dalam menyusun program peningkatan kualitas tenaga kerja.</a:t>
            </a:r>
          </a:p>
          <a:p>
            <a:pPr algn="just" marL="0" indent="0" lvl="0">
              <a:lnSpc>
                <a:spcPts val="2800"/>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F8E9"/>
        </a:solidFill>
      </p:bgPr>
    </p:bg>
    <p:spTree>
      <p:nvGrpSpPr>
        <p:cNvPr id="1" name=""/>
        <p:cNvGrpSpPr/>
        <p:nvPr/>
      </p:nvGrpSpPr>
      <p:grpSpPr>
        <a:xfrm>
          <a:off x="0" y="0"/>
          <a:ext cx="0" cy="0"/>
          <a:chOff x="0" y="0"/>
          <a:chExt cx="0" cy="0"/>
        </a:xfrm>
      </p:grpSpPr>
      <p:sp>
        <p:nvSpPr>
          <p:cNvPr name="Freeform 2" id="2"/>
          <p:cNvSpPr/>
          <p:nvPr/>
        </p:nvSpPr>
        <p:spPr>
          <a:xfrm flipH="false" flipV="false" rot="-5687936">
            <a:off x="15336566" y="-1307732"/>
            <a:ext cx="3845468" cy="4114800"/>
          </a:xfrm>
          <a:custGeom>
            <a:avLst/>
            <a:gdLst/>
            <a:ahLst/>
            <a:cxnLst/>
            <a:rect r="r" b="b" t="t" l="l"/>
            <a:pathLst>
              <a:path h="4114800" w="3845468">
                <a:moveTo>
                  <a:pt x="0" y="0"/>
                </a:moveTo>
                <a:lnTo>
                  <a:pt x="3845468" y="0"/>
                </a:lnTo>
                <a:lnTo>
                  <a:pt x="3845468"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6034560">
            <a:off x="-1502391" y="7200900"/>
            <a:ext cx="3845468" cy="4114800"/>
          </a:xfrm>
          <a:custGeom>
            <a:avLst/>
            <a:gdLst/>
            <a:ahLst/>
            <a:cxnLst/>
            <a:rect r="r" b="b" t="t" l="l"/>
            <a:pathLst>
              <a:path h="4114800" w="3845468">
                <a:moveTo>
                  <a:pt x="0" y="0"/>
                </a:moveTo>
                <a:lnTo>
                  <a:pt x="3845468" y="0"/>
                </a:lnTo>
                <a:lnTo>
                  <a:pt x="3845468"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2145208">
            <a:off x="7697412" y="4335480"/>
            <a:ext cx="13333067" cy="5963517"/>
          </a:xfrm>
          <a:custGeom>
            <a:avLst/>
            <a:gdLst/>
            <a:ahLst/>
            <a:cxnLst/>
            <a:rect r="r" b="b" t="t" l="l"/>
            <a:pathLst>
              <a:path h="5963517" w="13333067">
                <a:moveTo>
                  <a:pt x="0" y="0"/>
                </a:moveTo>
                <a:lnTo>
                  <a:pt x="13333067" y="0"/>
                </a:lnTo>
                <a:lnTo>
                  <a:pt x="13333067" y="5963518"/>
                </a:lnTo>
                <a:lnTo>
                  <a:pt x="0" y="596351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2145208">
            <a:off x="-4801739" y="2802959"/>
            <a:ext cx="11211722" cy="5014698"/>
          </a:xfrm>
          <a:custGeom>
            <a:avLst/>
            <a:gdLst/>
            <a:ahLst/>
            <a:cxnLst/>
            <a:rect r="r" b="b" t="t" l="l"/>
            <a:pathLst>
              <a:path h="5014698" w="11211722">
                <a:moveTo>
                  <a:pt x="0" y="0"/>
                </a:moveTo>
                <a:lnTo>
                  <a:pt x="11211722" y="0"/>
                </a:lnTo>
                <a:lnTo>
                  <a:pt x="11211722" y="5014698"/>
                </a:lnTo>
                <a:lnTo>
                  <a:pt x="0" y="501469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13138009" y="1035414"/>
            <a:ext cx="4121291" cy="571004"/>
            <a:chOff x="0" y="0"/>
            <a:chExt cx="1370603" cy="189897"/>
          </a:xfrm>
        </p:grpSpPr>
        <p:sp>
          <p:nvSpPr>
            <p:cNvPr name="Freeform 7" id="7"/>
            <p:cNvSpPr/>
            <p:nvPr/>
          </p:nvSpPr>
          <p:spPr>
            <a:xfrm flipH="false" flipV="false" rot="0">
              <a:off x="0" y="0"/>
              <a:ext cx="1370603" cy="189897"/>
            </a:xfrm>
            <a:custGeom>
              <a:avLst/>
              <a:gdLst/>
              <a:ahLst/>
              <a:cxnLst/>
              <a:rect r="r" b="b" t="t" l="l"/>
              <a:pathLst>
                <a:path h="189897" w="1370603">
                  <a:moveTo>
                    <a:pt x="94948" y="0"/>
                  </a:moveTo>
                  <a:lnTo>
                    <a:pt x="1275655" y="0"/>
                  </a:lnTo>
                  <a:cubicBezTo>
                    <a:pt x="1300837" y="0"/>
                    <a:pt x="1324987" y="10003"/>
                    <a:pt x="1342794" y="27810"/>
                  </a:cubicBezTo>
                  <a:cubicBezTo>
                    <a:pt x="1360600" y="45616"/>
                    <a:pt x="1370603" y="69767"/>
                    <a:pt x="1370603" y="94948"/>
                  </a:cubicBezTo>
                  <a:lnTo>
                    <a:pt x="1370603" y="94948"/>
                  </a:lnTo>
                  <a:cubicBezTo>
                    <a:pt x="1370603" y="147387"/>
                    <a:pt x="1328094" y="189897"/>
                    <a:pt x="1275655" y="189897"/>
                  </a:cubicBezTo>
                  <a:lnTo>
                    <a:pt x="94948" y="189897"/>
                  </a:lnTo>
                  <a:cubicBezTo>
                    <a:pt x="42510" y="189897"/>
                    <a:pt x="0" y="147387"/>
                    <a:pt x="0" y="94948"/>
                  </a:cubicBezTo>
                  <a:lnTo>
                    <a:pt x="0" y="94948"/>
                  </a:lnTo>
                  <a:cubicBezTo>
                    <a:pt x="0" y="42510"/>
                    <a:pt x="42510" y="0"/>
                    <a:pt x="94948" y="0"/>
                  </a:cubicBezTo>
                  <a:close/>
                </a:path>
              </a:pathLst>
            </a:custGeom>
            <a:solidFill>
              <a:srgbClr val="FAA607"/>
            </a:solidFill>
            <a:ln cap="rnd">
              <a:noFill/>
              <a:prstDash val="solid"/>
              <a:round/>
            </a:ln>
          </p:spPr>
        </p:sp>
        <p:sp>
          <p:nvSpPr>
            <p:cNvPr name="TextBox 8" id="8"/>
            <p:cNvSpPr txBox="true"/>
            <p:nvPr/>
          </p:nvSpPr>
          <p:spPr>
            <a:xfrm>
              <a:off x="0" y="-57150"/>
              <a:ext cx="1370603" cy="247047"/>
            </a:xfrm>
            <a:prstGeom prst="rect">
              <a:avLst/>
            </a:prstGeom>
          </p:spPr>
          <p:txBody>
            <a:bodyPr anchor="ctr" rtlCol="false" tIns="50800" lIns="50800" bIns="50800" rIns="50800"/>
            <a:lstStyle/>
            <a:p>
              <a:pPr algn="ctr" marL="0" indent="0" lvl="0">
                <a:lnSpc>
                  <a:spcPts val="2824"/>
                </a:lnSpc>
                <a:spcBef>
                  <a:spcPct val="0"/>
                </a:spcBef>
              </a:pPr>
            </a:p>
          </p:txBody>
        </p:sp>
      </p:grpSp>
      <p:sp>
        <p:nvSpPr>
          <p:cNvPr name="Freeform 9" id="9"/>
          <p:cNvSpPr/>
          <p:nvPr/>
        </p:nvSpPr>
        <p:spPr>
          <a:xfrm flipH="false" flipV="false" rot="0">
            <a:off x="16815378" y="1166754"/>
            <a:ext cx="296763" cy="308325"/>
          </a:xfrm>
          <a:custGeom>
            <a:avLst/>
            <a:gdLst/>
            <a:ahLst/>
            <a:cxnLst/>
            <a:rect r="r" b="b" t="t" l="l"/>
            <a:pathLst>
              <a:path h="308325" w="296763">
                <a:moveTo>
                  <a:pt x="0" y="0"/>
                </a:moveTo>
                <a:lnTo>
                  <a:pt x="296763" y="0"/>
                </a:lnTo>
                <a:lnTo>
                  <a:pt x="296763" y="308325"/>
                </a:lnTo>
                <a:lnTo>
                  <a:pt x="0" y="30832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10548510" y="2730690"/>
            <a:ext cx="6563631" cy="6366722"/>
          </a:xfrm>
          <a:custGeom>
            <a:avLst/>
            <a:gdLst/>
            <a:ahLst/>
            <a:cxnLst/>
            <a:rect r="r" b="b" t="t" l="l"/>
            <a:pathLst>
              <a:path h="6366722" w="6563631">
                <a:moveTo>
                  <a:pt x="0" y="0"/>
                </a:moveTo>
                <a:lnTo>
                  <a:pt x="6563631" y="0"/>
                </a:lnTo>
                <a:lnTo>
                  <a:pt x="6563631" y="6366722"/>
                </a:lnTo>
                <a:lnTo>
                  <a:pt x="0" y="636672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11" id="11"/>
          <p:cNvGrpSpPr/>
          <p:nvPr/>
        </p:nvGrpSpPr>
        <p:grpSpPr>
          <a:xfrm rot="0">
            <a:off x="2174055" y="3267737"/>
            <a:ext cx="7454047" cy="5292627"/>
            <a:chOff x="0" y="0"/>
            <a:chExt cx="1963206" cy="1393943"/>
          </a:xfrm>
        </p:grpSpPr>
        <p:sp>
          <p:nvSpPr>
            <p:cNvPr name="Freeform 12" id="12"/>
            <p:cNvSpPr/>
            <p:nvPr/>
          </p:nvSpPr>
          <p:spPr>
            <a:xfrm flipH="false" flipV="false" rot="0">
              <a:off x="0" y="0"/>
              <a:ext cx="1963206" cy="1393943"/>
            </a:xfrm>
            <a:custGeom>
              <a:avLst/>
              <a:gdLst/>
              <a:ahLst/>
              <a:cxnLst/>
              <a:rect r="r" b="b" t="t" l="l"/>
              <a:pathLst>
                <a:path h="1393943" w="1963206">
                  <a:moveTo>
                    <a:pt x="27004" y="0"/>
                  </a:moveTo>
                  <a:lnTo>
                    <a:pt x="1936202" y="0"/>
                  </a:lnTo>
                  <a:cubicBezTo>
                    <a:pt x="1951116" y="0"/>
                    <a:pt x="1963206" y="12090"/>
                    <a:pt x="1963206" y="27004"/>
                  </a:cubicBezTo>
                  <a:lnTo>
                    <a:pt x="1963206" y="1366939"/>
                  </a:lnTo>
                  <a:cubicBezTo>
                    <a:pt x="1963206" y="1374101"/>
                    <a:pt x="1960361" y="1380969"/>
                    <a:pt x="1955296" y="1386034"/>
                  </a:cubicBezTo>
                  <a:cubicBezTo>
                    <a:pt x="1950232" y="1391098"/>
                    <a:pt x="1943364" y="1393943"/>
                    <a:pt x="1936202" y="1393943"/>
                  </a:cubicBezTo>
                  <a:lnTo>
                    <a:pt x="27004" y="1393943"/>
                  </a:lnTo>
                  <a:cubicBezTo>
                    <a:pt x="19842" y="1393943"/>
                    <a:pt x="12974" y="1391098"/>
                    <a:pt x="7909" y="1386034"/>
                  </a:cubicBezTo>
                  <a:cubicBezTo>
                    <a:pt x="2845" y="1380969"/>
                    <a:pt x="0" y="1374101"/>
                    <a:pt x="0" y="1366939"/>
                  </a:cubicBezTo>
                  <a:lnTo>
                    <a:pt x="0" y="27004"/>
                  </a:lnTo>
                  <a:cubicBezTo>
                    <a:pt x="0" y="19842"/>
                    <a:pt x="2845" y="12974"/>
                    <a:pt x="7909" y="7909"/>
                  </a:cubicBezTo>
                  <a:cubicBezTo>
                    <a:pt x="12974" y="2845"/>
                    <a:pt x="19842" y="0"/>
                    <a:pt x="27004" y="0"/>
                  </a:cubicBezTo>
                  <a:close/>
                </a:path>
              </a:pathLst>
            </a:custGeom>
            <a:solidFill>
              <a:srgbClr val="FAA607"/>
            </a:solidFill>
          </p:spPr>
        </p:sp>
        <p:sp>
          <p:nvSpPr>
            <p:cNvPr name="TextBox 13" id="13"/>
            <p:cNvSpPr txBox="true"/>
            <p:nvPr/>
          </p:nvSpPr>
          <p:spPr>
            <a:xfrm>
              <a:off x="0" y="28575"/>
              <a:ext cx="1963206" cy="1365368"/>
            </a:xfrm>
            <a:prstGeom prst="rect">
              <a:avLst/>
            </a:prstGeom>
          </p:spPr>
          <p:txBody>
            <a:bodyPr anchor="ctr" rtlCol="false" tIns="50800" lIns="50800" bIns="50800" rIns="50800"/>
            <a:lstStyle/>
            <a:p>
              <a:pPr algn="ctr">
                <a:lnSpc>
                  <a:spcPts val="2000"/>
                </a:lnSpc>
              </a:pPr>
            </a:p>
          </p:txBody>
        </p:sp>
      </p:grpSp>
      <p:sp>
        <p:nvSpPr>
          <p:cNvPr name="TextBox 14" id="14"/>
          <p:cNvSpPr txBox="true"/>
          <p:nvPr/>
        </p:nvSpPr>
        <p:spPr>
          <a:xfrm rot="0">
            <a:off x="11428284" y="1200266"/>
            <a:ext cx="1370528" cy="269875"/>
          </a:xfrm>
          <a:prstGeom prst="rect">
            <a:avLst/>
          </a:prstGeom>
        </p:spPr>
        <p:txBody>
          <a:bodyPr anchor="t" rtlCol="false" tIns="0" lIns="0" bIns="0" rIns="0">
            <a:spAutoFit/>
          </a:bodyPr>
          <a:lstStyle/>
          <a:p>
            <a:pPr algn="ctr">
              <a:lnSpc>
                <a:spcPts val="2000"/>
              </a:lnSpc>
            </a:pPr>
            <a:r>
              <a:rPr lang="en-US" sz="2000">
                <a:solidFill>
                  <a:srgbClr val="27194D">
                    <a:alpha val="55686"/>
                  </a:srgbClr>
                </a:solidFill>
                <a:latin typeface="Open Sans"/>
                <a:ea typeface="Open Sans"/>
                <a:cs typeface="Open Sans"/>
                <a:sym typeface="Open Sans"/>
              </a:rPr>
              <a:t>LAYANAN</a:t>
            </a:r>
          </a:p>
        </p:txBody>
      </p:sp>
      <p:sp>
        <p:nvSpPr>
          <p:cNvPr name="TextBox 15" id="15"/>
          <p:cNvSpPr txBox="true"/>
          <p:nvPr/>
        </p:nvSpPr>
        <p:spPr>
          <a:xfrm rot="0">
            <a:off x="9810993" y="1200266"/>
            <a:ext cx="1293441" cy="269875"/>
          </a:xfrm>
          <a:prstGeom prst="rect">
            <a:avLst/>
          </a:prstGeom>
        </p:spPr>
        <p:txBody>
          <a:bodyPr anchor="t" rtlCol="false" tIns="0" lIns="0" bIns="0" rIns="0">
            <a:spAutoFit/>
          </a:bodyPr>
          <a:lstStyle/>
          <a:p>
            <a:pPr algn="ctr">
              <a:lnSpc>
                <a:spcPts val="2000"/>
              </a:lnSpc>
            </a:pPr>
            <a:r>
              <a:rPr lang="en-US" b="true" sz="2000">
                <a:solidFill>
                  <a:srgbClr val="5D4FCA"/>
                </a:solidFill>
                <a:latin typeface="Open Sans Bold"/>
                <a:ea typeface="Open Sans Bold"/>
                <a:cs typeface="Open Sans Bold"/>
                <a:sym typeface="Open Sans Bold"/>
              </a:rPr>
              <a:t>BERANDA</a:t>
            </a:r>
          </a:p>
        </p:txBody>
      </p:sp>
      <p:sp>
        <p:nvSpPr>
          <p:cNvPr name="TextBox 16" id="16"/>
          <p:cNvSpPr txBox="true"/>
          <p:nvPr/>
        </p:nvSpPr>
        <p:spPr>
          <a:xfrm rot="0">
            <a:off x="2507551" y="4427198"/>
            <a:ext cx="6787054" cy="2945131"/>
          </a:xfrm>
          <a:prstGeom prst="rect">
            <a:avLst/>
          </a:prstGeom>
        </p:spPr>
        <p:txBody>
          <a:bodyPr anchor="t" rtlCol="false" tIns="0" lIns="0" bIns="0" rIns="0">
            <a:spAutoFit/>
          </a:bodyPr>
          <a:lstStyle/>
          <a:p>
            <a:pPr algn="ctr">
              <a:lnSpc>
                <a:spcPts val="11684"/>
              </a:lnSpc>
            </a:pPr>
            <a:r>
              <a:rPr lang="en-US" b="true" sz="9499">
                <a:solidFill>
                  <a:srgbClr val="F8F1E3"/>
                </a:solidFill>
                <a:latin typeface="Roboto Condensed Bold"/>
                <a:ea typeface="Roboto Condensed Bold"/>
                <a:cs typeface="Roboto Condensed Bold"/>
                <a:sym typeface="Roboto Condensed Bold"/>
              </a:rPr>
              <a:t>PROSES WRANGLING</a:t>
            </a:r>
          </a:p>
        </p:txBody>
      </p:sp>
      <p:sp>
        <p:nvSpPr>
          <p:cNvPr name="TextBox 17" id="17"/>
          <p:cNvSpPr txBox="true"/>
          <p:nvPr/>
        </p:nvSpPr>
        <p:spPr>
          <a:xfrm rot="0">
            <a:off x="1847695" y="1109652"/>
            <a:ext cx="3115460" cy="422485"/>
          </a:xfrm>
          <a:prstGeom prst="rect">
            <a:avLst/>
          </a:prstGeom>
        </p:spPr>
        <p:txBody>
          <a:bodyPr anchor="t" rtlCol="false" tIns="0" lIns="0" bIns="0" rIns="0">
            <a:spAutoFit/>
          </a:bodyPr>
          <a:lstStyle/>
          <a:p>
            <a:pPr algn="l">
              <a:lnSpc>
                <a:spcPts val="3107"/>
              </a:lnSpc>
            </a:pPr>
            <a:r>
              <a:rPr lang="en-US" sz="2799" b="true">
                <a:solidFill>
                  <a:srgbClr val="5D4FCA"/>
                </a:solidFill>
                <a:latin typeface="Roboto Condensed Bold"/>
                <a:ea typeface="Roboto Condensed Bold"/>
                <a:cs typeface="Roboto Condensed Bold"/>
                <a:sym typeface="Roboto Condensed Bold"/>
              </a:rPr>
              <a:t>EKSPLORASI DATA</a:t>
            </a:r>
          </a:p>
        </p:txBody>
      </p:sp>
      <p:sp>
        <p:nvSpPr>
          <p:cNvPr name="Freeform 18" id="18"/>
          <p:cNvSpPr/>
          <p:nvPr/>
        </p:nvSpPr>
        <p:spPr>
          <a:xfrm flipH="false" flipV="false" rot="0">
            <a:off x="1028700" y="1049653"/>
            <a:ext cx="647545" cy="495666"/>
          </a:xfrm>
          <a:custGeom>
            <a:avLst/>
            <a:gdLst/>
            <a:ahLst/>
            <a:cxnLst/>
            <a:rect r="r" b="b" t="t" l="l"/>
            <a:pathLst>
              <a:path h="495666" w="647545">
                <a:moveTo>
                  <a:pt x="0" y="0"/>
                </a:moveTo>
                <a:lnTo>
                  <a:pt x="647545" y="0"/>
                </a:lnTo>
                <a:lnTo>
                  <a:pt x="647545" y="495666"/>
                </a:lnTo>
                <a:lnTo>
                  <a:pt x="0" y="49566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9" id="19"/>
          <p:cNvSpPr/>
          <p:nvPr/>
        </p:nvSpPr>
        <p:spPr>
          <a:xfrm flipH="false" flipV="false" rot="720432">
            <a:off x="16866407" y="2641717"/>
            <a:ext cx="626952" cy="392130"/>
          </a:xfrm>
          <a:custGeom>
            <a:avLst/>
            <a:gdLst/>
            <a:ahLst/>
            <a:cxnLst/>
            <a:rect r="r" b="b" t="t" l="l"/>
            <a:pathLst>
              <a:path h="392130" w="626952">
                <a:moveTo>
                  <a:pt x="0" y="0"/>
                </a:moveTo>
                <a:lnTo>
                  <a:pt x="626952" y="0"/>
                </a:lnTo>
                <a:lnTo>
                  <a:pt x="626952" y="392130"/>
                </a:lnTo>
                <a:lnTo>
                  <a:pt x="0" y="39213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20" id="20"/>
          <p:cNvSpPr/>
          <p:nvPr/>
        </p:nvSpPr>
        <p:spPr>
          <a:xfrm flipH="false" flipV="false" rot="-3346249">
            <a:off x="286692" y="4006637"/>
            <a:ext cx="1034860" cy="383329"/>
          </a:xfrm>
          <a:custGeom>
            <a:avLst/>
            <a:gdLst/>
            <a:ahLst/>
            <a:cxnLst/>
            <a:rect r="r" b="b" t="t" l="l"/>
            <a:pathLst>
              <a:path h="383329" w="1034860">
                <a:moveTo>
                  <a:pt x="0" y="0"/>
                </a:moveTo>
                <a:lnTo>
                  <a:pt x="1034860" y="0"/>
                </a:lnTo>
                <a:lnTo>
                  <a:pt x="1034860" y="383329"/>
                </a:lnTo>
                <a:lnTo>
                  <a:pt x="0" y="383329"/>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FF8E9"/>
        </a:solidFill>
      </p:bgPr>
    </p:bg>
    <p:spTree>
      <p:nvGrpSpPr>
        <p:cNvPr id="1" name=""/>
        <p:cNvGrpSpPr/>
        <p:nvPr/>
      </p:nvGrpSpPr>
      <p:grpSpPr>
        <a:xfrm>
          <a:off x="0" y="0"/>
          <a:ext cx="0" cy="0"/>
          <a:chOff x="0" y="0"/>
          <a:chExt cx="0" cy="0"/>
        </a:xfrm>
      </p:grpSpPr>
      <p:sp>
        <p:nvSpPr>
          <p:cNvPr name="Freeform 2" id="2"/>
          <p:cNvSpPr/>
          <p:nvPr/>
        </p:nvSpPr>
        <p:spPr>
          <a:xfrm flipH="false" flipV="false" rot="-5687936">
            <a:off x="15336566" y="-1307732"/>
            <a:ext cx="3845468" cy="4114800"/>
          </a:xfrm>
          <a:custGeom>
            <a:avLst/>
            <a:gdLst/>
            <a:ahLst/>
            <a:cxnLst/>
            <a:rect r="r" b="b" t="t" l="l"/>
            <a:pathLst>
              <a:path h="4114800" w="3845468">
                <a:moveTo>
                  <a:pt x="0" y="0"/>
                </a:moveTo>
                <a:lnTo>
                  <a:pt x="3845468" y="0"/>
                </a:lnTo>
                <a:lnTo>
                  <a:pt x="3845468"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3138009" y="1035414"/>
            <a:ext cx="4121291" cy="571004"/>
            <a:chOff x="0" y="0"/>
            <a:chExt cx="1370603" cy="189897"/>
          </a:xfrm>
        </p:grpSpPr>
        <p:sp>
          <p:nvSpPr>
            <p:cNvPr name="Freeform 4" id="4"/>
            <p:cNvSpPr/>
            <p:nvPr/>
          </p:nvSpPr>
          <p:spPr>
            <a:xfrm flipH="false" flipV="false" rot="0">
              <a:off x="0" y="0"/>
              <a:ext cx="1370603" cy="189897"/>
            </a:xfrm>
            <a:custGeom>
              <a:avLst/>
              <a:gdLst/>
              <a:ahLst/>
              <a:cxnLst/>
              <a:rect r="r" b="b" t="t" l="l"/>
              <a:pathLst>
                <a:path h="189897" w="1370603">
                  <a:moveTo>
                    <a:pt x="94948" y="0"/>
                  </a:moveTo>
                  <a:lnTo>
                    <a:pt x="1275655" y="0"/>
                  </a:lnTo>
                  <a:cubicBezTo>
                    <a:pt x="1300837" y="0"/>
                    <a:pt x="1324987" y="10003"/>
                    <a:pt x="1342794" y="27810"/>
                  </a:cubicBezTo>
                  <a:cubicBezTo>
                    <a:pt x="1360600" y="45616"/>
                    <a:pt x="1370603" y="69767"/>
                    <a:pt x="1370603" y="94948"/>
                  </a:cubicBezTo>
                  <a:lnTo>
                    <a:pt x="1370603" y="94948"/>
                  </a:lnTo>
                  <a:cubicBezTo>
                    <a:pt x="1370603" y="147387"/>
                    <a:pt x="1328094" y="189897"/>
                    <a:pt x="1275655" y="189897"/>
                  </a:cubicBezTo>
                  <a:lnTo>
                    <a:pt x="94948" y="189897"/>
                  </a:lnTo>
                  <a:cubicBezTo>
                    <a:pt x="42510" y="189897"/>
                    <a:pt x="0" y="147387"/>
                    <a:pt x="0" y="94948"/>
                  </a:cubicBezTo>
                  <a:lnTo>
                    <a:pt x="0" y="94948"/>
                  </a:lnTo>
                  <a:cubicBezTo>
                    <a:pt x="0" y="42510"/>
                    <a:pt x="42510" y="0"/>
                    <a:pt x="94948" y="0"/>
                  </a:cubicBezTo>
                  <a:close/>
                </a:path>
              </a:pathLst>
            </a:custGeom>
            <a:solidFill>
              <a:srgbClr val="FAA607"/>
            </a:solidFill>
            <a:ln cap="rnd">
              <a:noFill/>
              <a:prstDash val="solid"/>
              <a:round/>
            </a:ln>
          </p:spPr>
        </p:sp>
        <p:sp>
          <p:nvSpPr>
            <p:cNvPr name="TextBox 5" id="5"/>
            <p:cNvSpPr txBox="true"/>
            <p:nvPr/>
          </p:nvSpPr>
          <p:spPr>
            <a:xfrm>
              <a:off x="0" y="-57150"/>
              <a:ext cx="1370603" cy="247047"/>
            </a:xfrm>
            <a:prstGeom prst="rect">
              <a:avLst/>
            </a:prstGeom>
          </p:spPr>
          <p:txBody>
            <a:bodyPr anchor="ctr" rtlCol="false" tIns="50800" lIns="50800" bIns="50800" rIns="50800"/>
            <a:lstStyle/>
            <a:p>
              <a:pPr algn="ctr" marL="0" indent="0" lvl="0">
                <a:lnSpc>
                  <a:spcPts val="2824"/>
                </a:lnSpc>
                <a:spcBef>
                  <a:spcPct val="0"/>
                </a:spcBef>
              </a:pPr>
            </a:p>
          </p:txBody>
        </p:sp>
      </p:grpSp>
      <p:sp>
        <p:nvSpPr>
          <p:cNvPr name="Freeform 6" id="6"/>
          <p:cNvSpPr/>
          <p:nvPr/>
        </p:nvSpPr>
        <p:spPr>
          <a:xfrm flipH="false" flipV="false" rot="0">
            <a:off x="16815378" y="1166754"/>
            <a:ext cx="296763" cy="308325"/>
          </a:xfrm>
          <a:custGeom>
            <a:avLst/>
            <a:gdLst/>
            <a:ahLst/>
            <a:cxnLst/>
            <a:rect r="r" b="b" t="t" l="l"/>
            <a:pathLst>
              <a:path h="308325" w="296763">
                <a:moveTo>
                  <a:pt x="0" y="0"/>
                </a:moveTo>
                <a:lnTo>
                  <a:pt x="296763" y="0"/>
                </a:lnTo>
                <a:lnTo>
                  <a:pt x="296763" y="308325"/>
                </a:lnTo>
                <a:lnTo>
                  <a:pt x="0" y="30832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1428284" y="1200266"/>
            <a:ext cx="1370528" cy="269875"/>
          </a:xfrm>
          <a:prstGeom prst="rect">
            <a:avLst/>
          </a:prstGeom>
        </p:spPr>
        <p:txBody>
          <a:bodyPr anchor="t" rtlCol="false" tIns="0" lIns="0" bIns="0" rIns="0">
            <a:spAutoFit/>
          </a:bodyPr>
          <a:lstStyle/>
          <a:p>
            <a:pPr algn="ctr">
              <a:lnSpc>
                <a:spcPts val="2000"/>
              </a:lnSpc>
            </a:pPr>
            <a:r>
              <a:rPr lang="en-US" sz="2000">
                <a:solidFill>
                  <a:srgbClr val="27194D">
                    <a:alpha val="55686"/>
                  </a:srgbClr>
                </a:solidFill>
                <a:latin typeface="Open Sans"/>
                <a:ea typeface="Open Sans"/>
                <a:cs typeface="Open Sans"/>
                <a:sym typeface="Open Sans"/>
              </a:rPr>
              <a:t>LAYANAN</a:t>
            </a:r>
          </a:p>
        </p:txBody>
      </p:sp>
      <p:sp>
        <p:nvSpPr>
          <p:cNvPr name="Freeform 8" id="8"/>
          <p:cNvSpPr/>
          <p:nvPr/>
        </p:nvSpPr>
        <p:spPr>
          <a:xfrm flipH="false" flipV="false" rot="-2145208">
            <a:off x="12619779" y="3716346"/>
            <a:ext cx="8984724" cy="4018622"/>
          </a:xfrm>
          <a:custGeom>
            <a:avLst/>
            <a:gdLst/>
            <a:ahLst/>
            <a:cxnLst/>
            <a:rect r="r" b="b" t="t" l="l"/>
            <a:pathLst>
              <a:path h="4018622" w="8984724">
                <a:moveTo>
                  <a:pt x="0" y="0"/>
                </a:moveTo>
                <a:lnTo>
                  <a:pt x="8984725" y="0"/>
                </a:lnTo>
                <a:lnTo>
                  <a:pt x="8984725" y="4018622"/>
                </a:lnTo>
                <a:lnTo>
                  <a:pt x="0" y="401862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13110176" y="2152709"/>
            <a:ext cx="4819763" cy="4837906"/>
          </a:xfrm>
          <a:custGeom>
            <a:avLst/>
            <a:gdLst/>
            <a:ahLst/>
            <a:cxnLst/>
            <a:rect r="r" b="b" t="t" l="l"/>
            <a:pathLst>
              <a:path h="4837906" w="4819763">
                <a:moveTo>
                  <a:pt x="0" y="0"/>
                </a:moveTo>
                <a:lnTo>
                  <a:pt x="4819764" y="0"/>
                </a:lnTo>
                <a:lnTo>
                  <a:pt x="4819764" y="4837905"/>
                </a:lnTo>
                <a:lnTo>
                  <a:pt x="0" y="483790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2145208">
            <a:off x="-3139890" y="3134189"/>
            <a:ext cx="8984724" cy="4018622"/>
          </a:xfrm>
          <a:custGeom>
            <a:avLst/>
            <a:gdLst/>
            <a:ahLst/>
            <a:cxnLst/>
            <a:rect r="r" b="b" t="t" l="l"/>
            <a:pathLst>
              <a:path h="4018622" w="8984724">
                <a:moveTo>
                  <a:pt x="0" y="0"/>
                </a:moveTo>
                <a:lnTo>
                  <a:pt x="8984725" y="0"/>
                </a:lnTo>
                <a:lnTo>
                  <a:pt x="8984725" y="4018622"/>
                </a:lnTo>
                <a:lnTo>
                  <a:pt x="0" y="401862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1" id="11"/>
          <p:cNvSpPr txBox="true"/>
          <p:nvPr/>
        </p:nvSpPr>
        <p:spPr>
          <a:xfrm rot="0">
            <a:off x="2148970" y="5537171"/>
            <a:ext cx="4003734" cy="200025"/>
          </a:xfrm>
          <a:prstGeom prst="rect">
            <a:avLst/>
          </a:prstGeom>
        </p:spPr>
        <p:txBody>
          <a:bodyPr anchor="t" rtlCol="false" tIns="0" lIns="0" bIns="0" rIns="0">
            <a:spAutoFit/>
          </a:bodyPr>
          <a:lstStyle/>
          <a:p>
            <a:pPr algn="l">
              <a:lnSpc>
                <a:spcPts val="1500"/>
              </a:lnSpc>
            </a:pPr>
            <a:r>
              <a:rPr lang="en-US" b="true" sz="1500">
                <a:solidFill>
                  <a:srgbClr val="5D4FCA"/>
                </a:solidFill>
                <a:latin typeface="Open Sans Bold"/>
                <a:ea typeface="Open Sans Bold"/>
                <a:cs typeface="Open Sans Bold"/>
                <a:sym typeface="Open Sans Bold"/>
              </a:rPr>
              <a:t>DIRECTORY SCANNING DAN FILTERING</a:t>
            </a:r>
          </a:p>
        </p:txBody>
      </p:sp>
      <p:sp>
        <p:nvSpPr>
          <p:cNvPr name="TextBox 12" id="12"/>
          <p:cNvSpPr txBox="true"/>
          <p:nvPr/>
        </p:nvSpPr>
        <p:spPr>
          <a:xfrm rot="0">
            <a:off x="1700536" y="3169557"/>
            <a:ext cx="9847540" cy="753237"/>
          </a:xfrm>
          <a:prstGeom prst="rect">
            <a:avLst/>
          </a:prstGeom>
        </p:spPr>
        <p:txBody>
          <a:bodyPr anchor="t" rtlCol="false" tIns="0" lIns="0" bIns="0" rIns="0">
            <a:spAutoFit/>
          </a:bodyPr>
          <a:lstStyle/>
          <a:p>
            <a:pPr algn="l">
              <a:lnSpc>
                <a:spcPts val="5904"/>
              </a:lnSpc>
            </a:pPr>
            <a:r>
              <a:rPr lang="en-US" sz="4800" b="true">
                <a:solidFill>
                  <a:srgbClr val="27194D"/>
                </a:solidFill>
                <a:latin typeface="Roboto Condensed Bold"/>
                <a:ea typeface="Roboto Condensed Bold"/>
                <a:cs typeface="Roboto Condensed Bold"/>
                <a:sym typeface="Roboto Condensed Bold"/>
              </a:rPr>
              <a:t>TEKNIK PENGAMBILAN</a:t>
            </a:r>
          </a:p>
        </p:txBody>
      </p:sp>
      <p:sp>
        <p:nvSpPr>
          <p:cNvPr name="TextBox 13" id="13"/>
          <p:cNvSpPr txBox="true"/>
          <p:nvPr/>
        </p:nvSpPr>
        <p:spPr>
          <a:xfrm rot="0">
            <a:off x="1847695" y="3985757"/>
            <a:ext cx="8610018" cy="1240155"/>
          </a:xfrm>
          <a:prstGeom prst="rect">
            <a:avLst/>
          </a:prstGeom>
        </p:spPr>
        <p:txBody>
          <a:bodyPr anchor="t" rtlCol="false" tIns="0" lIns="0" bIns="0" rIns="0">
            <a:spAutoFit/>
          </a:bodyPr>
          <a:lstStyle/>
          <a:p>
            <a:pPr algn="just" marL="0" indent="0" lvl="0">
              <a:lnSpc>
                <a:spcPts val="2520"/>
              </a:lnSpc>
            </a:pPr>
            <a:r>
              <a:rPr lang="en-US" sz="1800">
                <a:solidFill>
                  <a:srgbClr val="000000"/>
                </a:solidFill>
                <a:latin typeface="Open Sans"/>
                <a:ea typeface="Open Sans"/>
                <a:cs typeface="Open Sans"/>
                <a:sym typeface="Open Sans"/>
              </a:rPr>
              <a:t>Teknik pengambilan (sering disebut sebagai </a:t>
            </a:r>
            <a:r>
              <a:rPr lang="en-US" sz="1800" i="true">
                <a:solidFill>
                  <a:srgbClr val="000000"/>
                </a:solidFill>
                <a:latin typeface="Open Sans Italics"/>
                <a:ea typeface="Open Sans Italics"/>
                <a:cs typeface="Open Sans Italics"/>
                <a:sym typeface="Open Sans Italics"/>
              </a:rPr>
              <a:t>data extraction technique</a:t>
            </a:r>
            <a:r>
              <a:rPr lang="en-US" sz="1800">
                <a:solidFill>
                  <a:srgbClr val="000000"/>
                </a:solidFill>
                <a:latin typeface="Open Sans"/>
                <a:ea typeface="Open Sans"/>
                <a:cs typeface="Open Sans"/>
                <a:sym typeface="Open Sans"/>
              </a:rPr>
              <a:t>) adalah cara atau metode yang digunakan untuk mengambil, memilih, menggabungkan, atau mendapatkan data tertentu dari suatu sumber data baik itu berasal dari tabel, kolom, database, file CSV, maupun kumpulan dataset yang lebih besar. </a:t>
            </a:r>
          </a:p>
        </p:txBody>
      </p:sp>
      <p:sp>
        <p:nvSpPr>
          <p:cNvPr name="TextBox 14" id="14"/>
          <p:cNvSpPr txBox="true"/>
          <p:nvPr/>
        </p:nvSpPr>
        <p:spPr>
          <a:xfrm rot="0">
            <a:off x="1847695" y="1109652"/>
            <a:ext cx="3115460" cy="422529"/>
          </a:xfrm>
          <a:prstGeom prst="rect">
            <a:avLst/>
          </a:prstGeom>
        </p:spPr>
        <p:txBody>
          <a:bodyPr anchor="t" rtlCol="false" tIns="0" lIns="0" bIns="0" rIns="0">
            <a:spAutoFit/>
          </a:bodyPr>
          <a:lstStyle/>
          <a:p>
            <a:pPr algn="l">
              <a:lnSpc>
                <a:spcPts val="3107"/>
              </a:lnSpc>
            </a:pPr>
            <a:r>
              <a:rPr lang="en-US" sz="2799" b="true">
                <a:solidFill>
                  <a:srgbClr val="5D4FCA"/>
                </a:solidFill>
                <a:latin typeface="Roboto Condensed Bold"/>
                <a:ea typeface="Roboto Condensed Bold"/>
                <a:cs typeface="Roboto Condensed Bold"/>
                <a:sym typeface="Roboto Condensed Bold"/>
              </a:rPr>
              <a:t>PROSES WRANLING</a:t>
            </a:r>
          </a:p>
        </p:txBody>
      </p:sp>
      <p:sp>
        <p:nvSpPr>
          <p:cNvPr name="Freeform 15" id="15"/>
          <p:cNvSpPr/>
          <p:nvPr/>
        </p:nvSpPr>
        <p:spPr>
          <a:xfrm flipH="false" flipV="false" rot="0">
            <a:off x="1028700" y="1049653"/>
            <a:ext cx="647545" cy="495666"/>
          </a:xfrm>
          <a:custGeom>
            <a:avLst/>
            <a:gdLst/>
            <a:ahLst/>
            <a:cxnLst/>
            <a:rect r="r" b="b" t="t" l="l"/>
            <a:pathLst>
              <a:path h="495666" w="647545">
                <a:moveTo>
                  <a:pt x="0" y="0"/>
                </a:moveTo>
                <a:lnTo>
                  <a:pt x="647545" y="0"/>
                </a:lnTo>
                <a:lnTo>
                  <a:pt x="647545" y="495666"/>
                </a:lnTo>
                <a:lnTo>
                  <a:pt x="0" y="49566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6" id="16"/>
          <p:cNvSpPr/>
          <p:nvPr/>
        </p:nvSpPr>
        <p:spPr>
          <a:xfrm flipH="false" flipV="false" rot="6034560">
            <a:off x="-1502391" y="7200900"/>
            <a:ext cx="3845468" cy="4114800"/>
          </a:xfrm>
          <a:custGeom>
            <a:avLst/>
            <a:gdLst/>
            <a:ahLst/>
            <a:cxnLst/>
            <a:rect r="r" b="b" t="t" l="l"/>
            <a:pathLst>
              <a:path h="4114800" w="3845468">
                <a:moveTo>
                  <a:pt x="0" y="0"/>
                </a:moveTo>
                <a:lnTo>
                  <a:pt x="3845468" y="0"/>
                </a:lnTo>
                <a:lnTo>
                  <a:pt x="3845468"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7" id="17"/>
          <p:cNvSpPr/>
          <p:nvPr/>
        </p:nvSpPr>
        <p:spPr>
          <a:xfrm flipH="false" flipV="false" rot="8394526">
            <a:off x="9779733" y="8761623"/>
            <a:ext cx="626952" cy="392130"/>
          </a:xfrm>
          <a:custGeom>
            <a:avLst/>
            <a:gdLst/>
            <a:ahLst/>
            <a:cxnLst/>
            <a:rect r="r" b="b" t="t" l="l"/>
            <a:pathLst>
              <a:path h="392130" w="626952">
                <a:moveTo>
                  <a:pt x="0" y="0"/>
                </a:moveTo>
                <a:lnTo>
                  <a:pt x="626952" y="0"/>
                </a:lnTo>
                <a:lnTo>
                  <a:pt x="626952" y="392130"/>
                </a:lnTo>
                <a:lnTo>
                  <a:pt x="0" y="39213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8" id="18"/>
          <p:cNvSpPr/>
          <p:nvPr/>
        </p:nvSpPr>
        <p:spPr>
          <a:xfrm flipH="false" flipV="false" rot="-1048382">
            <a:off x="7772191" y="1942195"/>
            <a:ext cx="1034860" cy="383329"/>
          </a:xfrm>
          <a:custGeom>
            <a:avLst/>
            <a:gdLst/>
            <a:ahLst/>
            <a:cxnLst/>
            <a:rect r="r" b="b" t="t" l="l"/>
            <a:pathLst>
              <a:path h="383329" w="1034860">
                <a:moveTo>
                  <a:pt x="0" y="0"/>
                </a:moveTo>
                <a:lnTo>
                  <a:pt x="1034860" y="0"/>
                </a:lnTo>
                <a:lnTo>
                  <a:pt x="1034860" y="383330"/>
                </a:lnTo>
                <a:lnTo>
                  <a:pt x="0" y="383330"/>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19" id="19"/>
          <p:cNvSpPr txBox="true"/>
          <p:nvPr/>
        </p:nvSpPr>
        <p:spPr>
          <a:xfrm rot="0">
            <a:off x="9963393" y="1176836"/>
            <a:ext cx="1293441" cy="269875"/>
          </a:xfrm>
          <a:prstGeom prst="rect">
            <a:avLst/>
          </a:prstGeom>
        </p:spPr>
        <p:txBody>
          <a:bodyPr anchor="t" rtlCol="false" tIns="0" lIns="0" bIns="0" rIns="0">
            <a:spAutoFit/>
          </a:bodyPr>
          <a:lstStyle/>
          <a:p>
            <a:pPr algn="ctr">
              <a:lnSpc>
                <a:spcPts val="2000"/>
              </a:lnSpc>
            </a:pPr>
            <a:r>
              <a:rPr lang="en-US" b="true" sz="2000">
                <a:solidFill>
                  <a:srgbClr val="5D4FCA"/>
                </a:solidFill>
                <a:latin typeface="Open Sans Bold"/>
                <a:ea typeface="Open Sans Bold"/>
                <a:cs typeface="Open Sans Bold"/>
                <a:sym typeface="Open Sans Bold"/>
              </a:rPr>
              <a:t>BERANDA</a:t>
            </a:r>
          </a:p>
        </p:txBody>
      </p:sp>
      <p:grpSp>
        <p:nvGrpSpPr>
          <p:cNvPr name="Group 20" id="20"/>
          <p:cNvGrpSpPr/>
          <p:nvPr/>
        </p:nvGrpSpPr>
        <p:grpSpPr>
          <a:xfrm rot="0">
            <a:off x="1847695" y="5508596"/>
            <a:ext cx="217061" cy="217061"/>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A607"/>
            </a:solidFill>
          </p:spPr>
        </p:sp>
        <p:sp>
          <p:nvSpPr>
            <p:cNvPr name="TextBox 22" id="22"/>
            <p:cNvSpPr txBox="true"/>
            <p:nvPr/>
          </p:nvSpPr>
          <p:spPr>
            <a:xfrm>
              <a:off x="76200" y="104775"/>
              <a:ext cx="660400" cy="631825"/>
            </a:xfrm>
            <a:prstGeom prst="rect">
              <a:avLst/>
            </a:prstGeom>
          </p:spPr>
          <p:txBody>
            <a:bodyPr anchor="ctr" rtlCol="false" tIns="50800" lIns="50800" bIns="50800" rIns="50800"/>
            <a:lstStyle/>
            <a:p>
              <a:pPr algn="ctr">
                <a:lnSpc>
                  <a:spcPts val="2000"/>
                </a:lnSpc>
              </a:pPr>
            </a:p>
          </p:txBody>
        </p:sp>
      </p:grpSp>
      <p:grpSp>
        <p:nvGrpSpPr>
          <p:cNvPr name="Group 23" id="23"/>
          <p:cNvGrpSpPr/>
          <p:nvPr/>
        </p:nvGrpSpPr>
        <p:grpSpPr>
          <a:xfrm rot="0">
            <a:off x="6511245" y="5499534"/>
            <a:ext cx="226122" cy="226122"/>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A607"/>
            </a:solidFill>
          </p:spPr>
        </p:sp>
        <p:sp>
          <p:nvSpPr>
            <p:cNvPr name="TextBox 25" id="25"/>
            <p:cNvSpPr txBox="true"/>
            <p:nvPr/>
          </p:nvSpPr>
          <p:spPr>
            <a:xfrm>
              <a:off x="76200" y="104775"/>
              <a:ext cx="660400" cy="631825"/>
            </a:xfrm>
            <a:prstGeom prst="rect">
              <a:avLst/>
            </a:prstGeom>
          </p:spPr>
          <p:txBody>
            <a:bodyPr anchor="ctr" rtlCol="false" tIns="50800" lIns="50800" bIns="50800" rIns="50800"/>
            <a:lstStyle/>
            <a:p>
              <a:pPr algn="ctr">
                <a:lnSpc>
                  <a:spcPts val="2000"/>
                </a:lnSpc>
              </a:pPr>
            </a:p>
          </p:txBody>
        </p:sp>
      </p:grpSp>
      <p:sp>
        <p:nvSpPr>
          <p:cNvPr name="TextBox 26" id="26"/>
          <p:cNvSpPr txBox="true"/>
          <p:nvPr/>
        </p:nvSpPr>
        <p:spPr>
          <a:xfrm rot="0">
            <a:off x="6838857" y="5525631"/>
            <a:ext cx="4003734" cy="200025"/>
          </a:xfrm>
          <a:prstGeom prst="rect">
            <a:avLst/>
          </a:prstGeom>
        </p:spPr>
        <p:txBody>
          <a:bodyPr anchor="t" rtlCol="false" tIns="0" lIns="0" bIns="0" rIns="0">
            <a:spAutoFit/>
          </a:bodyPr>
          <a:lstStyle/>
          <a:p>
            <a:pPr algn="l">
              <a:lnSpc>
                <a:spcPts val="1500"/>
              </a:lnSpc>
            </a:pPr>
            <a:r>
              <a:rPr lang="en-US" b="true" sz="1500">
                <a:solidFill>
                  <a:srgbClr val="5D4FCA"/>
                </a:solidFill>
                <a:latin typeface="Open Sans Bold"/>
                <a:ea typeface="Open Sans Bold"/>
                <a:cs typeface="Open Sans Bold"/>
                <a:sym typeface="Open Sans Bold"/>
              </a:rPr>
              <a:t>DATAFRAME DAN SAMPLING</a:t>
            </a:r>
          </a:p>
        </p:txBody>
      </p:sp>
      <p:sp>
        <p:nvSpPr>
          <p:cNvPr name="TextBox 27" id="27"/>
          <p:cNvSpPr txBox="true"/>
          <p:nvPr/>
        </p:nvSpPr>
        <p:spPr>
          <a:xfrm rot="0">
            <a:off x="1956225" y="5803871"/>
            <a:ext cx="4305009" cy="3026410"/>
          </a:xfrm>
          <a:prstGeom prst="rect">
            <a:avLst/>
          </a:prstGeom>
        </p:spPr>
        <p:txBody>
          <a:bodyPr anchor="t" rtlCol="false" tIns="0" lIns="0" bIns="0" rIns="0">
            <a:spAutoFit/>
          </a:bodyPr>
          <a:lstStyle/>
          <a:p>
            <a:pPr algn="just">
              <a:lnSpc>
                <a:spcPts val="2240"/>
              </a:lnSpc>
            </a:pPr>
            <a:r>
              <a:rPr lang="en-US" sz="1600">
                <a:solidFill>
                  <a:srgbClr val="000000"/>
                </a:solidFill>
                <a:latin typeface="Open Sans"/>
                <a:ea typeface="Open Sans"/>
                <a:cs typeface="Open Sans"/>
                <a:sym typeface="Open Sans"/>
              </a:rPr>
              <a:t>Bagian code 1 menggunakan teknik pengambilan data berbasis pencarian file dalam folder. program </a:t>
            </a:r>
            <a:r>
              <a:rPr lang="en-US" sz="1600">
                <a:solidFill>
                  <a:srgbClr val="000000"/>
                </a:solidFill>
                <a:latin typeface="Open Sans"/>
                <a:ea typeface="Open Sans"/>
                <a:cs typeface="Open Sans"/>
                <a:sym typeface="Open Sans"/>
              </a:rPr>
              <a:t>memeriksa folder /content (folder Google Colab), kemudian:</a:t>
            </a:r>
          </a:p>
          <a:p>
            <a:pPr algn="just" marL="345443" indent="-172721" lvl="1">
              <a:lnSpc>
                <a:spcPts val="2240"/>
              </a:lnSpc>
              <a:buFont typeface="Arial"/>
              <a:buChar char="•"/>
            </a:pPr>
            <a:r>
              <a:rPr lang="en-US" sz="1600">
                <a:solidFill>
                  <a:srgbClr val="000000"/>
                </a:solidFill>
                <a:latin typeface="Open Sans"/>
                <a:ea typeface="Open Sans"/>
                <a:cs typeface="Open Sans"/>
                <a:sym typeface="Open Sans"/>
              </a:rPr>
              <a:t>Menemukan semua file CSV dengan pengecekan endswith('.csv')</a:t>
            </a:r>
          </a:p>
          <a:p>
            <a:pPr algn="just" marL="345443" indent="-172721" lvl="1">
              <a:lnSpc>
                <a:spcPts val="2240"/>
              </a:lnSpc>
              <a:buFont typeface="Arial"/>
              <a:buChar char="•"/>
            </a:pPr>
            <a:r>
              <a:rPr lang="en-US" sz="1600">
                <a:solidFill>
                  <a:srgbClr val="000000"/>
                </a:solidFill>
                <a:latin typeface="Open Sans"/>
                <a:ea typeface="Open Sans"/>
                <a:cs typeface="Open Sans"/>
                <a:sym typeface="Open Sans"/>
              </a:rPr>
              <a:t>Menemukan semua file Excel dengan pengecekan endswith('.xlsx')</a:t>
            </a:r>
          </a:p>
          <a:p>
            <a:pPr algn="just" marL="345443" indent="-172721" lvl="1">
              <a:lnSpc>
                <a:spcPts val="2240"/>
              </a:lnSpc>
              <a:buFont typeface="Arial"/>
              <a:buChar char="•"/>
            </a:pPr>
            <a:r>
              <a:rPr lang="en-US" sz="1600">
                <a:solidFill>
                  <a:srgbClr val="000000"/>
                </a:solidFill>
                <a:latin typeface="Open Sans"/>
                <a:ea typeface="Open Sans"/>
                <a:cs typeface="Open Sans"/>
                <a:sym typeface="Open Sans"/>
              </a:rPr>
              <a:t>Menampilkan file apa saja yang ditemukan</a:t>
            </a:r>
          </a:p>
          <a:p>
            <a:pPr algn="just" marL="0" indent="0" lvl="0">
              <a:lnSpc>
                <a:spcPts val="2240"/>
              </a:lnSpc>
            </a:pPr>
          </a:p>
        </p:txBody>
      </p:sp>
      <p:sp>
        <p:nvSpPr>
          <p:cNvPr name="TextBox 28" id="28"/>
          <p:cNvSpPr txBox="true"/>
          <p:nvPr/>
        </p:nvSpPr>
        <p:spPr>
          <a:xfrm rot="0">
            <a:off x="6838857" y="5868532"/>
            <a:ext cx="5453521" cy="3578860"/>
          </a:xfrm>
          <a:prstGeom prst="rect">
            <a:avLst/>
          </a:prstGeom>
        </p:spPr>
        <p:txBody>
          <a:bodyPr anchor="t" rtlCol="false" tIns="0" lIns="0" bIns="0" rIns="0">
            <a:spAutoFit/>
          </a:bodyPr>
          <a:lstStyle/>
          <a:p>
            <a:pPr algn="just">
              <a:lnSpc>
                <a:spcPts val="2240"/>
              </a:lnSpc>
            </a:pPr>
            <a:r>
              <a:rPr lang="en-US" sz="1600">
                <a:solidFill>
                  <a:srgbClr val="000000"/>
                </a:solidFill>
                <a:latin typeface="Open Sans"/>
                <a:ea typeface="Open Sans"/>
                <a:cs typeface="Open Sans"/>
                <a:sym typeface="Open Sans"/>
              </a:rPr>
              <a:t>Bagian ini menggunakan teknik pengambilan data berupa pembacaan file. </a:t>
            </a:r>
            <a:r>
              <a:rPr lang="en-US" sz="1600">
                <a:solidFill>
                  <a:srgbClr val="000000"/>
                </a:solidFill>
                <a:latin typeface="Open Sans"/>
                <a:ea typeface="Open Sans"/>
                <a:cs typeface="Open Sans"/>
                <a:sym typeface="Open Sans"/>
              </a:rPr>
              <a:t>pd.read_csv() adalah teknik yang digunakan untuk mengambil data tabel dari file CSV dan memuatnya ke dalam DataFrame. </a:t>
            </a:r>
          </a:p>
          <a:p>
            <a:pPr algn="just">
              <a:lnSpc>
                <a:spcPts val="2240"/>
              </a:lnSpc>
            </a:pPr>
            <a:r>
              <a:rPr lang="en-US" sz="1600">
                <a:solidFill>
                  <a:srgbClr val="000000"/>
                </a:solidFill>
                <a:latin typeface="Open Sans"/>
                <a:ea typeface="Open Sans"/>
                <a:cs typeface="Open Sans"/>
                <a:sym typeface="Open Sans"/>
              </a:rPr>
              <a:t>Bagian print("=== Tabel Data 1 ===") dan print(df1.head())</a:t>
            </a:r>
          </a:p>
          <a:p>
            <a:pPr algn="just">
              <a:lnSpc>
                <a:spcPts val="2240"/>
              </a:lnSpc>
            </a:pPr>
            <a:r>
              <a:rPr lang="en-US" sz="1600">
                <a:solidFill>
                  <a:srgbClr val="000000"/>
                </a:solidFill>
                <a:latin typeface="Open Sans"/>
                <a:ea typeface="Open Sans"/>
                <a:cs typeface="Open Sans"/>
                <a:sym typeface="Open Sans"/>
              </a:rPr>
              <a:t>melakukan teknik pengambilan data berupa sampling, yaitu mengambil 5 baris pertama sebagai contoh.</a:t>
            </a:r>
          </a:p>
          <a:p>
            <a:pPr algn="just">
              <a:lnSpc>
                <a:spcPts val="2240"/>
              </a:lnSpc>
            </a:pPr>
            <a:r>
              <a:rPr lang="en-US" sz="1600">
                <a:solidFill>
                  <a:srgbClr val="000000"/>
                </a:solidFill>
                <a:latin typeface="Open Sans"/>
                <a:ea typeface="Open Sans"/>
                <a:cs typeface="Open Sans"/>
                <a:sym typeface="Open Sans"/>
              </a:rPr>
              <a:t>Tujuannya untuk:</a:t>
            </a:r>
          </a:p>
          <a:p>
            <a:pPr algn="just" marL="345443" indent="-172721" lvl="1">
              <a:lnSpc>
                <a:spcPts val="2240"/>
              </a:lnSpc>
              <a:buFont typeface="Arial"/>
              <a:buChar char="•"/>
            </a:pPr>
            <a:r>
              <a:rPr lang="en-US" sz="1600">
                <a:solidFill>
                  <a:srgbClr val="000000"/>
                </a:solidFill>
                <a:latin typeface="Open Sans"/>
                <a:ea typeface="Open Sans"/>
                <a:cs typeface="Open Sans"/>
                <a:sym typeface="Open Sans"/>
              </a:rPr>
              <a:t>Mengecek apakah data berhasil dibaca</a:t>
            </a:r>
          </a:p>
          <a:p>
            <a:pPr algn="just" marL="345443" indent="-172721" lvl="1">
              <a:lnSpc>
                <a:spcPts val="2240"/>
              </a:lnSpc>
              <a:buFont typeface="Arial"/>
              <a:buChar char="•"/>
            </a:pPr>
            <a:r>
              <a:rPr lang="en-US" sz="1600">
                <a:solidFill>
                  <a:srgbClr val="000000"/>
                </a:solidFill>
                <a:latin typeface="Open Sans"/>
                <a:ea typeface="Open Sans"/>
                <a:cs typeface="Open Sans"/>
                <a:sym typeface="Open Sans"/>
              </a:rPr>
              <a:t>Melihat struktur kolom</a:t>
            </a:r>
          </a:p>
          <a:p>
            <a:pPr algn="just" marL="345443" indent="-172721" lvl="1">
              <a:lnSpc>
                <a:spcPts val="2240"/>
              </a:lnSpc>
              <a:buFont typeface="Arial"/>
              <a:buChar char="•"/>
            </a:pPr>
            <a:r>
              <a:rPr lang="en-US" sz="1600">
                <a:solidFill>
                  <a:srgbClr val="000000"/>
                </a:solidFill>
                <a:latin typeface="Open Sans"/>
                <a:ea typeface="Open Sans"/>
                <a:cs typeface="Open Sans"/>
                <a:sym typeface="Open Sans"/>
              </a:rPr>
              <a:t>Memastikan data tidak rusak</a:t>
            </a:r>
          </a:p>
          <a:p>
            <a:pPr algn="just">
              <a:lnSpc>
                <a:spcPts val="2240"/>
              </a:lnSpc>
            </a:pPr>
          </a:p>
          <a:p>
            <a:pPr algn="just" marL="0" indent="0" lvl="0">
              <a:lnSpc>
                <a:spcPts val="2240"/>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FF8E9"/>
        </a:solidFill>
      </p:bgPr>
    </p:bg>
    <p:spTree>
      <p:nvGrpSpPr>
        <p:cNvPr id="1" name=""/>
        <p:cNvGrpSpPr/>
        <p:nvPr/>
      </p:nvGrpSpPr>
      <p:grpSpPr>
        <a:xfrm>
          <a:off x="0" y="0"/>
          <a:ext cx="0" cy="0"/>
          <a:chOff x="0" y="0"/>
          <a:chExt cx="0" cy="0"/>
        </a:xfrm>
      </p:grpSpPr>
      <p:sp>
        <p:nvSpPr>
          <p:cNvPr name="Freeform 2" id="2"/>
          <p:cNvSpPr/>
          <p:nvPr/>
        </p:nvSpPr>
        <p:spPr>
          <a:xfrm flipH="false" flipV="false" rot="-5687936">
            <a:off x="15336566" y="-1307732"/>
            <a:ext cx="3845468" cy="4114800"/>
          </a:xfrm>
          <a:custGeom>
            <a:avLst/>
            <a:gdLst/>
            <a:ahLst/>
            <a:cxnLst/>
            <a:rect r="r" b="b" t="t" l="l"/>
            <a:pathLst>
              <a:path h="4114800" w="3845468">
                <a:moveTo>
                  <a:pt x="0" y="0"/>
                </a:moveTo>
                <a:lnTo>
                  <a:pt x="3845468" y="0"/>
                </a:lnTo>
                <a:lnTo>
                  <a:pt x="3845468"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3138009" y="1035414"/>
            <a:ext cx="4121291" cy="571004"/>
            <a:chOff x="0" y="0"/>
            <a:chExt cx="1370603" cy="189897"/>
          </a:xfrm>
        </p:grpSpPr>
        <p:sp>
          <p:nvSpPr>
            <p:cNvPr name="Freeform 4" id="4"/>
            <p:cNvSpPr/>
            <p:nvPr/>
          </p:nvSpPr>
          <p:spPr>
            <a:xfrm flipH="false" flipV="false" rot="0">
              <a:off x="0" y="0"/>
              <a:ext cx="1370603" cy="189897"/>
            </a:xfrm>
            <a:custGeom>
              <a:avLst/>
              <a:gdLst/>
              <a:ahLst/>
              <a:cxnLst/>
              <a:rect r="r" b="b" t="t" l="l"/>
              <a:pathLst>
                <a:path h="189897" w="1370603">
                  <a:moveTo>
                    <a:pt x="94948" y="0"/>
                  </a:moveTo>
                  <a:lnTo>
                    <a:pt x="1275655" y="0"/>
                  </a:lnTo>
                  <a:cubicBezTo>
                    <a:pt x="1300837" y="0"/>
                    <a:pt x="1324987" y="10003"/>
                    <a:pt x="1342794" y="27810"/>
                  </a:cubicBezTo>
                  <a:cubicBezTo>
                    <a:pt x="1360600" y="45616"/>
                    <a:pt x="1370603" y="69767"/>
                    <a:pt x="1370603" y="94948"/>
                  </a:cubicBezTo>
                  <a:lnTo>
                    <a:pt x="1370603" y="94948"/>
                  </a:lnTo>
                  <a:cubicBezTo>
                    <a:pt x="1370603" y="147387"/>
                    <a:pt x="1328094" y="189897"/>
                    <a:pt x="1275655" y="189897"/>
                  </a:cubicBezTo>
                  <a:lnTo>
                    <a:pt x="94948" y="189897"/>
                  </a:lnTo>
                  <a:cubicBezTo>
                    <a:pt x="42510" y="189897"/>
                    <a:pt x="0" y="147387"/>
                    <a:pt x="0" y="94948"/>
                  </a:cubicBezTo>
                  <a:lnTo>
                    <a:pt x="0" y="94948"/>
                  </a:lnTo>
                  <a:cubicBezTo>
                    <a:pt x="0" y="42510"/>
                    <a:pt x="42510" y="0"/>
                    <a:pt x="94948" y="0"/>
                  </a:cubicBezTo>
                  <a:close/>
                </a:path>
              </a:pathLst>
            </a:custGeom>
            <a:solidFill>
              <a:srgbClr val="FAA607"/>
            </a:solidFill>
            <a:ln cap="rnd">
              <a:noFill/>
              <a:prstDash val="solid"/>
              <a:round/>
            </a:ln>
          </p:spPr>
        </p:sp>
        <p:sp>
          <p:nvSpPr>
            <p:cNvPr name="TextBox 5" id="5"/>
            <p:cNvSpPr txBox="true"/>
            <p:nvPr/>
          </p:nvSpPr>
          <p:spPr>
            <a:xfrm>
              <a:off x="0" y="-57150"/>
              <a:ext cx="1370603" cy="247047"/>
            </a:xfrm>
            <a:prstGeom prst="rect">
              <a:avLst/>
            </a:prstGeom>
          </p:spPr>
          <p:txBody>
            <a:bodyPr anchor="ctr" rtlCol="false" tIns="50800" lIns="50800" bIns="50800" rIns="50800"/>
            <a:lstStyle/>
            <a:p>
              <a:pPr algn="ctr" marL="0" indent="0" lvl="0">
                <a:lnSpc>
                  <a:spcPts val="2824"/>
                </a:lnSpc>
                <a:spcBef>
                  <a:spcPct val="0"/>
                </a:spcBef>
              </a:pPr>
            </a:p>
          </p:txBody>
        </p:sp>
      </p:grpSp>
      <p:sp>
        <p:nvSpPr>
          <p:cNvPr name="Freeform 6" id="6"/>
          <p:cNvSpPr/>
          <p:nvPr/>
        </p:nvSpPr>
        <p:spPr>
          <a:xfrm flipH="false" flipV="false" rot="0">
            <a:off x="16815378" y="1166754"/>
            <a:ext cx="296763" cy="308325"/>
          </a:xfrm>
          <a:custGeom>
            <a:avLst/>
            <a:gdLst/>
            <a:ahLst/>
            <a:cxnLst/>
            <a:rect r="r" b="b" t="t" l="l"/>
            <a:pathLst>
              <a:path h="308325" w="296763">
                <a:moveTo>
                  <a:pt x="0" y="0"/>
                </a:moveTo>
                <a:lnTo>
                  <a:pt x="296763" y="0"/>
                </a:lnTo>
                <a:lnTo>
                  <a:pt x="296763" y="308325"/>
                </a:lnTo>
                <a:lnTo>
                  <a:pt x="0" y="30832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2145208">
            <a:off x="-2225101" y="-628162"/>
            <a:ext cx="8984724" cy="4018622"/>
          </a:xfrm>
          <a:custGeom>
            <a:avLst/>
            <a:gdLst/>
            <a:ahLst/>
            <a:cxnLst/>
            <a:rect r="r" b="b" t="t" l="l"/>
            <a:pathLst>
              <a:path h="4018622" w="8984724">
                <a:moveTo>
                  <a:pt x="0" y="0"/>
                </a:moveTo>
                <a:lnTo>
                  <a:pt x="8984724" y="0"/>
                </a:lnTo>
                <a:lnTo>
                  <a:pt x="8984724" y="4018622"/>
                </a:lnTo>
                <a:lnTo>
                  <a:pt x="0" y="401862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2145208">
            <a:off x="13199823" y="4022174"/>
            <a:ext cx="8984724" cy="4018622"/>
          </a:xfrm>
          <a:custGeom>
            <a:avLst/>
            <a:gdLst/>
            <a:ahLst/>
            <a:cxnLst/>
            <a:rect r="r" b="b" t="t" l="l"/>
            <a:pathLst>
              <a:path h="4018622" w="8984724">
                <a:moveTo>
                  <a:pt x="0" y="0"/>
                </a:moveTo>
                <a:lnTo>
                  <a:pt x="8984724" y="0"/>
                </a:lnTo>
                <a:lnTo>
                  <a:pt x="8984724" y="4018622"/>
                </a:lnTo>
                <a:lnTo>
                  <a:pt x="0" y="401862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9" id="9"/>
          <p:cNvGrpSpPr/>
          <p:nvPr/>
        </p:nvGrpSpPr>
        <p:grpSpPr>
          <a:xfrm rot="0">
            <a:off x="1352472" y="1753101"/>
            <a:ext cx="259747" cy="259747"/>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A607"/>
            </a:solidFill>
          </p:spPr>
        </p:sp>
        <p:sp>
          <p:nvSpPr>
            <p:cNvPr name="TextBox 11" id="11"/>
            <p:cNvSpPr txBox="true"/>
            <p:nvPr/>
          </p:nvSpPr>
          <p:spPr>
            <a:xfrm>
              <a:off x="76200" y="104775"/>
              <a:ext cx="660400" cy="631825"/>
            </a:xfrm>
            <a:prstGeom prst="rect">
              <a:avLst/>
            </a:prstGeom>
          </p:spPr>
          <p:txBody>
            <a:bodyPr anchor="ctr" rtlCol="false" tIns="50800" lIns="50800" bIns="50800" rIns="50800"/>
            <a:lstStyle/>
            <a:p>
              <a:pPr algn="ctr">
                <a:lnSpc>
                  <a:spcPts val="2000"/>
                </a:lnSpc>
              </a:pPr>
            </a:p>
          </p:txBody>
        </p:sp>
      </p:grpSp>
      <p:sp>
        <p:nvSpPr>
          <p:cNvPr name="TextBox 12" id="12"/>
          <p:cNvSpPr txBox="true"/>
          <p:nvPr/>
        </p:nvSpPr>
        <p:spPr>
          <a:xfrm rot="0">
            <a:off x="1847695" y="1648408"/>
            <a:ext cx="7845217" cy="445008"/>
          </a:xfrm>
          <a:prstGeom prst="rect">
            <a:avLst/>
          </a:prstGeom>
        </p:spPr>
        <p:txBody>
          <a:bodyPr anchor="t" rtlCol="false" tIns="0" lIns="0" bIns="0" rIns="0">
            <a:spAutoFit/>
          </a:bodyPr>
          <a:lstStyle/>
          <a:p>
            <a:pPr algn="l" marL="0" indent="0" lvl="0">
              <a:lnSpc>
                <a:spcPts val="3665"/>
              </a:lnSpc>
            </a:pPr>
            <a:r>
              <a:rPr lang="en-US" b="true" sz="2599">
                <a:solidFill>
                  <a:srgbClr val="5D4FCA"/>
                </a:solidFill>
                <a:latin typeface="Open Sans Bold"/>
                <a:ea typeface="Open Sans Bold"/>
                <a:cs typeface="Open Sans Bold"/>
                <a:sym typeface="Open Sans Bold"/>
              </a:rPr>
              <a:t>TEKNIK PENGAMBILAN</a:t>
            </a:r>
          </a:p>
        </p:txBody>
      </p:sp>
      <p:sp>
        <p:nvSpPr>
          <p:cNvPr name="Freeform 13" id="13"/>
          <p:cNvSpPr/>
          <p:nvPr/>
        </p:nvSpPr>
        <p:spPr>
          <a:xfrm flipH="false" flipV="false" rot="0">
            <a:off x="1028700" y="1049653"/>
            <a:ext cx="647545" cy="495666"/>
          </a:xfrm>
          <a:custGeom>
            <a:avLst/>
            <a:gdLst/>
            <a:ahLst/>
            <a:cxnLst/>
            <a:rect r="r" b="b" t="t" l="l"/>
            <a:pathLst>
              <a:path h="495666" w="647545">
                <a:moveTo>
                  <a:pt x="0" y="0"/>
                </a:moveTo>
                <a:lnTo>
                  <a:pt x="647545" y="0"/>
                </a:lnTo>
                <a:lnTo>
                  <a:pt x="647545" y="495666"/>
                </a:lnTo>
                <a:lnTo>
                  <a:pt x="0" y="49566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4" id="14"/>
          <p:cNvSpPr/>
          <p:nvPr/>
        </p:nvSpPr>
        <p:spPr>
          <a:xfrm flipH="false" flipV="false" rot="6034560">
            <a:off x="-1502391" y="7200900"/>
            <a:ext cx="3845468" cy="4114800"/>
          </a:xfrm>
          <a:custGeom>
            <a:avLst/>
            <a:gdLst/>
            <a:ahLst/>
            <a:cxnLst/>
            <a:rect r="r" b="b" t="t" l="l"/>
            <a:pathLst>
              <a:path h="4114800" w="3845468">
                <a:moveTo>
                  <a:pt x="0" y="0"/>
                </a:moveTo>
                <a:lnTo>
                  <a:pt x="3845468" y="0"/>
                </a:lnTo>
                <a:lnTo>
                  <a:pt x="384546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5" id="15"/>
          <p:cNvSpPr/>
          <p:nvPr/>
        </p:nvSpPr>
        <p:spPr>
          <a:xfrm flipH="false" flipV="false" rot="8465491">
            <a:off x="16694299" y="8640481"/>
            <a:ext cx="624757" cy="390757"/>
          </a:xfrm>
          <a:custGeom>
            <a:avLst/>
            <a:gdLst/>
            <a:ahLst/>
            <a:cxnLst/>
            <a:rect r="r" b="b" t="t" l="l"/>
            <a:pathLst>
              <a:path h="390757" w="624757">
                <a:moveTo>
                  <a:pt x="0" y="0"/>
                </a:moveTo>
                <a:lnTo>
                  <a:pt x="624756" y="0"/>
                </a:lnTo>
                <a:lnTo>
                  <a:pt x="624756" y="390757"/>
                </a:lnTo>
                <a:lnTo>
                  <a:pt x="0" y="39075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6" id="16"/>
          <p:cNvSpPr/>
          <p:nvPr/>
        </p:nvSpPr>
        <p:spPr>
          <a:xfrm flipH="false" flipV="false" rot="-10127191">
            <a:off x="1190908" y="5389253"/>
            <a:ext cx="624757" cy="390757"/>
          </a:xfrm>
          <a:custGeom>
            <a:avLst/>
            <a:gdLst/>
            <a:ahLst/>
            <a:cxnLst/>
            <a:rect r="r" b="b" t="t" l="l"/>
            <a:pathLst>
              <a:path h="390757" w="624757">
                <a:moveTo>
                  <a:pt x="0" y="0"/>
                </a:moveTo>
                <a:lnTo>
                  <a:pt x="624756" y="0"/>
                </a:lnTo>
                <a:lnTo>
                  <a:pt x="624756" y="390756"/>
                </a:lnTo>
                <a:lnTo>
                  <a:pt x="0" y="390756"/>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7" id="17"/>
          <p:cNvSpPr/>
          <p:nvPr/>
        </p:nvSpPr>
        <p:spPr>
          <a:xfrm flipH="false" flipV="false" rot="1640404">
            <a:off x="7844821" y="1691310"/>
            <a:ext cx="1034860" cy="383329"/>
          </a:xfrm>
          <a:custGeom>
            <a:avLst/>
            <a:gdLst/>
            <a:ahLst/>
            <a:cxnLst/>
            <a:rect r="r" b="b" t="t" l="l"/>
            <a:pathLst>
              <a:path h="383329" w="1034860">
                <a:moveTo>
                  <a:pt x="0" y="0"/>
                </a:moveTo>
                <a:lnTo>
                  <a:pt x="1034860" y="0"/>
                </a:lnTo>
                <a:lnTo>
                  <a:pt x="1034860" y="383329"/>
                </a:lnTo>
                <a:lnTo>
                  <a:pt x="0" y="383329"/>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8" id="18"/>
          <p:cNvSpPr/>
          <p:nvPr/>
        </p:nvSpPr>
        <p:spPr>
          <a:xfrm flipH="false" flipV="false" rot="0">
            <a:off x="5737926" y="3189726"/>
            <a:ext cx="4996676" cy="6647263"/>
          </a:xfrm>
          <a:custGeom>
            <a:avLst/>
            <a:gdLst/>
            <a:ahLst/>
            <a:cxnLst/>
            <a:rect r="r" b="b" t="t" l="l"/>
            <a:pathLst>
              <a:path h="6647263" w="4996676">
                <a:moveTo>
                  <a:pt x="0" y="0"/>
                </a:moveTo>
                <a:lnTo>
                  <a:pt x="4996676" y="0"/>
                </a:lnTo>
                <a:lnTo>
                  <a:pt x="4996676" y="6647264"/>
                </a:lnTo>
                <a:lnTo>
                  <a:pt x="0" y="6647264"/>
                </a:lnTo>
                <a:lnTo>
                  <a:pt x="0" y="0"/>
                </a:lnTo>
                <a:close/>
              </a:path>
            </a:pathLst>
          </a:custGeom>
          <a:blipFill>
            <a:blip r:embed="rId18"/>
            <a:stretch>
              <a:fillRect l="0" t="0" r="0" b="0"/>
            </a:stretch>
          </a:blipFill>
        </p:spPr>
      </p:sp>
      <p:sp>
        <p:nvSpPr>
          <p:cNvPr name="Freeform 19" id="19"/>
          <p:cNvSpPr/>
          <p:nvPr/>
        </p:nvSpPr>
        <p:spPr>
          <a:xfrm flipH="false" flipV="false" rot="0">
            <a:off x="1847695" y="2300395"/>
            <a:ext cx="11682168" cy="679781"/>
          </a:xfrm>
          <a:custGeom>
            <a:avLst/>
            <a:gdLst/>
            <a:ahLst/>
            <a:cxnLst/>
            <a:rect r="r" b="b" t="t" l="l"/>
            <a:pathLst>
              <a:path h="679781" w="11682168">
                <a:moveTo>
                  <a:pt x="0" y="0"/>
                </a:moveTo>
                <a:lnTo>
                  <a:pt x="11682168" y="0"/>
                </a:lnTo>
                <a:lnTo>
                  <a:pt x="11682168" y="679781"/>
                </a:lnTo>
                <a:lnTo>
                  <a:pt x="0" y="679781"/>
                </a:lnTo>
                <a:lnTo>
                  <a:pt x="0" y="0"/>
                </a:lnTo>
                <a:close/>
              </a:path>
            </a:pathLst>
          </a:custGeom>
          <a:blipFill>
            <a:blip r:embed="rId19"/>
            <a:stretch>
              <a:fillRect l="0" t="0" r="0" b="0"/>
            </a:stretch>
          </a:blipFill>
        </p:spPr>
      </p:sp>
      <p:sp>
        <p:nvSpPr>
          <p:cNvPr name="TextBox 20" id="20"/>
          <p:cNvSpPr txBox="true"/>
          <p:nvPr/>
        </p:nvSpPr>
        <p:spPr>
          <a:xfrm rot="0">
            <a:off x="11428284" y="1200266"/>
            <a:ext cx="1370528" cy="269875"/>
          </a:xfrm>
          <a:prstGeom prst="rect">
            <a:avLst/>
          </a:prstGeom>
        </p:spPr>
        <p:txBody>
          <a:bodyPr anchor="t" rtlCol="false" tIns="0" lIns="0" bIns="0" rIns="0">
            <a:spAutoFit/>
          </a:bodyPr>
          <a:lstStyle/>
          <a:p>
            <a:pPr algn="ctr">
              <a:lnSpc>
                <a:spcPts val="2000"/>
              </a:lnSpc>
            </a:pPr>
            <a:r>
              <a:rPr lang="en-US" sz="2000">
                <a:solidFill>
                  <a:srgbClr val="27194D">
                    <a:alpha val="55686"/>
                  </a:srgbClr>
                </a:solidFill>
                <a:latin typeface="Open Sans"/>
                <a:ea typeface="Open Sans"/>
                <a:cs typeface="Open Sans"/>
                <a:sym typeface="Open Sans"/>
              </a:rPr>
              <a:t>LAYANAN</a:t>
            </a:r>
          </a:p>
        </p:txBody>
      </p:sp>
      <p:sp>
        <p:nvSpPr>
          <p:cNvPr name="TextBox 21" id="21"/>
          <p:cNvSpPr txBox="true"/>
          <p:nvPr/>
        </p:nvSpPr>
        <p:spPr>
          <a:xfrm rot="0">
            <a:off x="9810993" y="1200266"/>
            <a:ext cx="1293441" cy="269875"/>
          </a:xfrm>
          <a:prstGeom prst="rect">
            <a:avLst/>
          </a:prstGeom>
        </p:spPr>
        <p:txBody>
          <a:bodyPr anchor="t" rtlCol="false" tIns="0" lIns="0" bIns="0" rIns="0">
            <a:spAutoFit/>
          </a:bodyPr>
          <a:lstStyle/>
          <a:p>
            <a:pPr algn="ctr">
              <a:lnSpc>
                <a:spcPts val="2000"/>
              </a:lnSpc>
            </a:pPr>
            <a:r>
              <a:rPr lang="en-US" b="true" sz="2000">
                <a:solidFill>
                  <a:srgbClr val="5D4FCA"/>
                </a:solidFill>
                <a:latin typeface="Open Sans Bold"/>
                <a:ea typeface="Open Sans Bold"/>
                <a:cs typeface="Open Sans Bold"/>
                <a:sym typeface="Open Sans Bold"/>
              </a:rPr>
              <a:t>BERANDA</a:t>
            </a:r>
          </a:p>
        </p:txBody>
      </p:sp>
      <p:sp>
        <p:nvSpPr>
          <p:cNvPr name="TextBox 22" id="22"/>
          <p:cNvSpPr txBox="true"/>
          <p:nvPr/>
        </p:nvSpPr>
        <p:spPr>
          <a:xfrm rot="0">
            <a:off x="1847695" y="1119177"/>
            <a:ext cx="3115460" cy="443865"/>
          </a:xfrm>
          <a:prstGeom prst="rect">
            <a:avLst/>
          </a:prstGeom>
        </p:spPr>
        <p:txBody>
          <a:bodyPr anchor="t" rtlCol="false" tIns="0" lIns="0" bIns="0" rIns="0">
            <a:spAutoFit/>
          </a:bodyPr>
          <a:lstStyle/>
          <a:p>
            <a:pPr algn="l">
              <a:lnSpc>
                <a:spcPts val="3329"/>
              </a:lnSpc>
            </a:pPr>
            <a:r>
              <a:rPr lang="en-US" sz="2999" b="true">
                <a:solidFill>
                  <a:srgbClr val="5D4FCA"/>
                </a:solidFill>
                <a:latin typeface="Roboto Condensed Bold"/>
                <a:ea typeface="Roboto Condensed Bold"/>
                <a:cs typeface="Roboto Condensed Bold"/>
                <a:sym typeface="Roboto Condensed Bold"/>
              </a:rPr>
              <a:t>PROSES WRANLING</a:t>
            </a:r>
          </a:p>
        </p:txBody>
      </p:sp>
      <p:sp>
        <p:nvSpPr>
          <p:cNvPr name="TextBox 23" id="23"/>
          <p:cNvSpPr txBox="true"/>
          <p:nvPr/>
        </p:nvSpPr>
        <p:spPr>
          <a:xfrm rot="0">
            <a:off x="11644759" y="3597733"/>
            <a:ext cx="3770208" cy="2497455"/>
          </a:xfrm>
          <a:prstGeom prst="rect">
            <a:avLst/>
          </a:prstGeom>
        </p:spPr>
        <p:txBody>
          <a:bodyPr anchor="t" rtlCol="false" tIns="0" lIns="0" bIns="0" rIns="0">
            <a:spAutoFit/>
          </a:bodyPr>
          <a:lstStyle/>
          <a:p>
            <a:pPr algn="just" marL="0" indent="0" lvl="0">
              <a:lnSpc>
                <a:spcPts val="2520"/>
              </a:lnSpc>
            </a:pPr>
            <a:r>
              <a:rPr lang="en-US" sz="1800">
                <a:solidFill>
                  <a:srgbClr val="000000"/>
                </a:solidFill>
                <a:latin typeface="Open Sans"/>
                <a:ea typeface="Open Sans"/>
                <a:cs typeface="Open Sans"/>
                <a:sym typeface="Open Sans"/>
              </a:rPr>
              <a:t>Pada hasil interpretasi ni terlihat bahwa kode menampilkan output data yang berbentuk csv dan excel. selain itu, pada hasil tersebut juga membaca dan menampilkan tabel yang berisi data tentang pengangguran, gender, umur dan pendidikan.</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F8E9"/>
        </a:solidFill>
      </p:bgPr>
    </p:bg>
    <p:spTree>
      <p:nvGrpSpPr>
        <p:cNvPr id="1" name=""/>
        <p:cNvGrpSpPr/>
        <p:nvPr/>
      </p:nvGrpSpPr>
      <p:grpSpPr>
        <a:xfrm>
          <a:off x="0" y="0"/>
          <a:ext cx="0" cy="0"/>
          <a:chOff x="0" y="0"/>
          <a:chExt cx="0" cy="0"/>
        </a:xfrm>
      </p:grpSpPr>
      <p:grpSp>
        <p:nvGrpSpPr>
          <p:cNvPr name="Group 2" id="2"/>
          <p:cNvGrpSpPr/>
          <p:nvPr/>
        </p:nvGrpSpPr>
        <p:grpSpPr>
          <a:xfrm rot="0">
            <a:off x="13138009" y="1035414"/>
            <a:ext cx="4121291" cy="571004"/>
            <a:chOff x="0" y="0"/>
            <a:chExt cx="1370603" cy="189897"/>
          </a:xfrm>
        </p:grpSpPr>
        <p:sp>
          <p:nvSpPr>
            <p:cNvPr name="Freeform 3" id="3"/>
            <p:cNvSpPr/>
            <p:nvPr/>
          </p:nvSpPr>
          <p:spPr>
            <a:xfrm flipH="false" flipV="false" rot="0">
              <a:off x="0" y="0"/>
              <a:ext cx="1370603" cy="189897"/>
            </a:xfrm>
            <a:custGeom>
              <a:avLst/>
              <a:gdLst/>
              <a:ahLst/>
              <a:cxnLst/>
              <a:rect r="r" b="b" t="t" l="l"/>
              <a:pathLst>
                <a:path h="189897" w="1370603">
                  <a:moveTo>
                    <a:pt x="94948" y="0"/>
                  </a:moveTo>
                  <a:lnTo>
                    <a:pt x="1275655" y="0"/>
                  </a:lnTo>
                  <a:cubicBezTo>
                    <a:pt x="1300837" y="0"/>
                    <a:pt x="1324987" y="10003"/>
                    <a:pt x="1342794" y="27810"/>
                  </a:cubicBezTo>
                  <a:cubicBezTo>
                    <a:pt x="1360600" y="45616"/>
                    <a:pt x="1370603" y="69767"/>
                    <a:pt x="1370603" y="94948"/>
                  </a:cubicBezTo>
                  <a:lnTo>
                    <a:pt x="1370603" y="94948"/>
                  </a:lnTo>
                  <a:cubicBezTo>
                    <a:pt x="1370603" y="147387"/>
                    <a:pt x="1328094" y="189897"/>
                    <a:pt x="1275655" y="189897"/>
                  </a:cubicBezTo>
                  <a:lnTo>
                    <a:pt x="94948" y="189897"/>
                  </a:lnTo>
                  <a:cubicBezTo>
                    <a:pt x="42510" y="189897"/>
                    <a:pt x="0" y="147387"/>
                    <a:pt x="0" y="94948"/>
                  </a:cubicBezTo>
                  <a:lnTo>
                    <a:pt x="0" y="94948"/>
                  </a:lnTo>
                  <a:cubicBezTo>
                    <a:pt x="0" y="42510"/>
                    <a:pt x="42510" y="0"/>
                    <a:pt x="94948" y="0"/>
                  </a:cubicBezTo>
                  <a:close/>
                </a:path>
              </a:pathLst>
            </a:custGeom>
            <a:solidFill>
              <a:srgbClr val="FAA607"/>
            </a:solidFill>
            <a:ln cap="rnd">
              <a:noFill/>
              <a:prstDash val="solid"/>
              <a:round/>
            </a:ln>
          </p:spPr>
        </p:sp>
        <p:sp>
          <p:nvSpPr>
            <p:cNvPr name="TextBox 4" id="4"/>
            <p:cNvSpPr txBox="true"/>
            <p:nvPr/>
          </p:nvSpPr>
          <p:spPr>
            <a:xfrm>
              <a:off x="0" y="-57150"/>
              <a:ext cx="1370603" cy="247047"/>
            </a:xfrm>
            <a:prstGeom prst="rect">
              <a:avLst/>
            </a:prstGeom>
          </p:spPr>
          <p:txBody>
            <a:bodyPr anchor="ctr" rtlCol="false" tIns="50800" lIns="50800" bIns="50800" rIns="50800"/>
            <a:lstStyle/>
            <a:p>
              <a:pPr algn="ctr" marL="0" indent="0" lvl="0">
                <a:lnSpc>
                  <a:spcPts val="2824"/>
                </a:lnSpc>
                <a:spcBef>
                  <a:spcPct val="0"/>
                </a:spcBef>
              </a:pPr>
            </a:p>
          </p:txBody>
        </p:sp>
      </p:grpSp>
      <p:sp>
        <p:nvSpPr>
          <p:cNvPr name="Freeform 5" id="5"/>
          <p:cNvSpPr/>
          <p:nvPr/>
        </p:nvSpPr>
        <p:spPr>
          <a:xfrm flipH="false" flipV="false" rot="0">
            <a:off x="16815378" y="1166754"/>
            <a:ext cx="296763" cy="308325"/>
          </a:xfrm>
          <a:custGeom>
            <a:avLst/>
            <a:gdLst/>
            <a:ahLst/>
            <a:cxnLst/>
            <a:rect r="r" b="b" t="t" l="l"/>
            <a:pathLst>
              <a:path h="308325" w="296763">
                <a:moveTo>
                  <a:pt x="0" y="0"/>
                </a:moveTo>
                <a:lnTo>
                  <a:pt x="296763" y="0"/>
                </a:lnTo>
                <a:lnTo>
                  <a:pt x="296763" y="308325"/>
                </a:lnTo>
                <a:lnTo>
                  <a:pt x="0" y="30832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2145208">
            <a:off x="-1908576" y="445835"/>
            <a:ext cx="8984724" cy="4018622"/>
          </a:xfrm>
          <a:custGeom>
            <a:avLst/>
            <a:gdLst/>
            <a:ahLst/>
            <a:cxnLst/>
            <a:rect r="r" b="b" t="t" l="l"/>
            <a:pathLst>
              <a:path h="4018622" w="8984724">
                <a:moveTo>
                  <a:pt x="0" y="0"/>
                </a:moveTo>
                <a:lnTo>
                  <a:pt x="8984724" y="0"/>
                </a:lnTo>
                <a:lnTo>
                  <a:pt x="8984724" y="4018622"/>
                </a:lnTo>
                <a:lnTo>
                  <a:pt x="0" y="401862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2145208">
            <a:off x="12148525" y="4221640"/>
            <a:ext cx="8984724" cy="4018622"/>
          </a:xfrm>
          <a:custGeom>
            <a:avLst/>
            <a:gdLst/>
            <a:ahLst/>
            <a:cxnLst/>
            <a:rect r="r" b="b" t="t" l="l"/>
            <a:pathLst>
              <a:path h="4018622" w="8984724">
                <a:moveTo>
                  <a:pt x="0" y="0"/>
                </a:moveTo>
                <a:lnTo>
                  <a:pt x="8984724" y="0"/>
                </a:lnTo>
                <a:lnTo>
                  <a:pt x="8984724" y="4018622"/>
                </a:lnTo>
                <a:lnTo>
                  <a:pt x="0" y="401862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028700" y="2458569"/>
            <a:ext cx="5054516" cy="5041879"/>
          </a:xfrm>
          <a:custGeom>
            <a:avLst/>
            <a:gdLst/>
            <a:ahLst/>
            <a:cxnLst/>
            <a:rect r="r" b="b" t="t" l="l"/>
            <a:pathLst>
              <a:path h="5041879" w="5054516">
                <a:moveTo>
                  <a:pt x="0" y="0"/>
                </a:moveTo>
                <a:lnTo>
                  <a:pt x="5054516" y="0"/>
                </a:lnTo>
                <a:lnTo>
                  <a:pt x="5054516" y="5041879"/>
                </a:lnTo>
                <a:lnTo>
                  <a:pt x="0" y="504187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9" id="9"/>
          <p:cNvGrpSpPr/>
          <p:nvPr/>
        </p:nvGrpSpPr>
        <p:grpSpPr>
          <a:xfrm rot="0">
            <a:off x="7657118" y="4421917"/>
            <a:ext cx="721583" cy="721583"/>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A607"/>
            </a:solidFill>
          </p:spPr>
        </p:sp>
        <p:sp>
          <p:nvSpPr>
            <p:cNvPr name="TextBox 11" id="11"/>
            <p:cNvSpPr txBox="true"/>
            <p:nvPr/>
          </p:nvSpPr>
          <p:spPr>
            <a:xfrm>
              <a:off x="76200" y="104775"/>
              <a:ext cx="660400" cy="631825"/>
            </a:xfrm>
            <a:prstGeom prst="rect">
              <a:avLst/>
            </a:prstGeom>
          </p:spPr>
          <p:txBody>
            <a:bodyPr anchor="ctr" rtlCol="false" tIns="50800" lIns="50800" bIns="50800" rIns="50800"/>
            <a:lstStyle/>
            <a:p>
              <a:pPr algn="ctr">
                <a:lnSpc>
                  <a:spcPts val="2000"/>
                </a:lnSpc>
              </a:pPr>
            </a:p>
          </p:txBody>
        </p:sp>
      </p:grpSp>
      <p:sp>
        <p:nvSpPr>
          <p:cNvPr name="Freeform 12" id="12"/>
          <p:cNvSpPr/>
          <p:nvPr/>
        </p:nvSpPr>
        <p:spPr>
          <a:xfrm flipH="false" flipV="false" rot="0">
            <a:off x="1028700" y="1049653"/>
            <a:ext cx="647545" cy="495666"/>
          </a:xfrm>
          <a:custGeom>
            <a:avLst/>
            <a:gdLst/>
            <a:ahLst/>
            <a:cxnLst/>
            <a:rect r="r" b="b" t="t" l="l"/>
            <a:pathLst>
              <a:path h="495666" w="647545">
                <a:moveTo>
                  <a:pt x="0" y="0"/>
                </a:moveTo>
                <a:lnTo>
                  <a:pt x="647545" y="0"/>
                </a:lnTo>
                <a:lnTo>
                  <a:pt x="647545" y="495666"/>
                </a:lnTo>
                <a:lnTo>
                  <a:pt x="0" y="49566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3" id="13"/>
          <p:cNvSpPr/>
          <p:nvPr/>
        </p:nvSpPr>
        <p:spPr>
          <a:xfrm flipH="false" flipV="false" rot="737715">
            <a:off x="15592676" y="7359466"/>
            <a:ext cx="3845468" cy="4114800"/>
          </a:xfrm>
          <a:custGeom>
            <a:avLst/>
            <a:gdLst/>
            <a:ahLst/>
            <a:cxnLst/>
            <a:rect r="r" b="b" t="t" l="l"/>
            <a:pathLst>
              <a:path h="4114800" w="3845468">
                <a:moveTo>
                  <a:pt x="0" y="0"/>
                </a:moveTo>
                <a:lnTo>
                  <a:pt x="3845467" y="0"/>
                </a:lnTo>
                <a:lnTo>
                  <a:pt x="3845467"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4" id="14"/>
          <p:cNvSpPr/>
          <p:nvPr/>
        </p:nvSpPr>
        <p:spPr>
          <a:xfrm flipH="false" flipV="false" rot="6034560">
            <a:off x="-1502391" y="7200900"/>
            <a:ext cx="3845468" cy="4114800"/>
          </a:xfrm>
          <a:custGeom>
            <a:avLst/>
            <a:gdLst/>
            <a:ahLst/>
            <a:cxnLst/>
            <a:rect r="r" b="b" t="t" l="l"/>
            <a:pathLst>
              <a:path h="4114800" w="3845468">
                <a:moveTo>
                  <a:pt x="0" y="0"/>
                </a:moveTo>
                <a:lnTo>
                  <a:pt x="3845468" y="0"/>
                </a:lnTo>
                <a:lnTo>
                  <a:pt x="3845468"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5" id="15"/>
          <p:cNvSpPr/>
          <p:nvPr/>
        </p:nvSpPr>
        <p:spPr>
          <a:xfrm flipH="false" flipV="false" rot="-1342151">
            <a:off x="7403138" y="1649866"/>
            <a:ext cx="626952" cy="392130"/>
          </a:xfrm>
          <a:custGeom>
            <a:avLst/>
            <a:gdLst/>
            <a:ahLst/>
            <a:cxnLst/>
            <a:rect r="r" b="b" t="t" l="l"/>
            <a:pathLst>
              <a:path h="392130" w="626952">
                <a:moveTo>
                  <a:pt x="0" y="0"/>
                </a:moveTo>
                <a:lnTo>
                  <a:pt x="626953" y="0"/>
                </a:lnTo>
                <a:lnTo>
                  <a:pt x="626953" y="392130"/>
                </a:lnTo>
                <a:lnTo>
                  <a:pt x="0" y="39213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6" id="16"/>
          <p:cNvSpPr/>
          <p:nvPr/>
        </p:nvSpPr>
        <p:spPr>
          <a:xfrm flipH="false" flipV="false" rot="6902289">
            <a:off x="16690589" y="8888367"/>
            <a:ext cx="1034860" cy="383329"/>
          </a:xfrm>
          <a:custGeom>
            <a:avLst/>
            <a:gdLst/>
            <a:ahLst/>
            <a:cxnLst/>
            <a:rect r="r" b="b" t="t" l="l"/>
            <a:pathLst>
              <a:path h="383329" w="1034860">
                <a:moveTo>
                  <a:pt x="0" y="0"/>
                </a:moveTo>
                <a:lnTo>
                  <a:pt x="1034860" y="0"/>
                </a:lnTo>
                <a:lnTo>
                  <a:pt x="1034860" y="383330"/>
                </a:lnTo>
                <a:lnTo>
                  <a:pt x="0" y="383330"/>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17" id="17"/>
          <p:cNvSpPr txBox="true"/>
          <p:nvPr/>
        </p:nvSpPr>
        <p:spPr>
          <a:xfrm rot="0">
            <a:off x="11428284" y="1200266"/>
            <a:ext cx="1370528" cy="269875"/>
          </a:xfrm>
          <a:prstGeom prst="rect">
            <a:avLst/>
          </a:prstGeom>
        </p:spPr>
        <p:txBody>
          <a:bodyPr anchor="t" rtlCol="false" tIns="0" lIns="0" bIns="0" rIns="0">
            <a:spAutoFit/>
          </a:bodyPr>
          <a:lstStyle/>
          <a:p>
            <a:pPr algn="ctr">
              <a:lnSpc>
                <a:spcPts val="2000"/>
              </a:lnSpc>
            </a:pPr>
            <a:r>
              <a:rPr lang="en-US" sz="2000">
                <a:solidFill>
                  <a:srgbClr val="27194D">
                    <a:alpha val="55686"/>
                  </a:srgbClr>
                </a:solidFill>
                <a:latin typeface="Open Sans"/>
                <a:ea typeface="Open Sans"/>
                <a:cs typeface="Open Sans"/>
                <a:sym typeface="Open Sans"/>
              </a:rPr>
              <a:t>LAYANAN</a:t>
            </a:r>
          </a:p>
        </p:txBody>
      </p:sp>
      <p:sp>
        <p:nvSpPr>
          <p:cNvPr name="TextBox 18" id="18"/>
          <p:cNvSpPr txBox="true"/>
          <p:nvPr/>
        </p:nvSpPr>
        <p:spPr>
          <a:xfrm rot="0">
            <a:off x="9810993" y="1200266"/>
            <a:ext cx="1293441" cy="269875"/>
          </a:xfrm>
          <a:prstGeom prst="rect">
            <a:avLst/>
          </a:prstGeom>
        </p:spPr>
        <p:txBody>
          <a:bodyPr anchor="t" rtlCol="false" tIns="0" lIns="0" bIns="0" rIns="0">
            <a:spAutoFit/>
          </a:bodyPr>
          <a:lstStyle/>
          <a:p>
            <a:pPr algn="ctr">
              <a:lnSpc>
                <a:spcPts val="2000"/>
              </a:lnSpc>
            </a:pPr>
            <a:r>
              <a:rPr lang="en-US" b="true" sz="2000">
                <a:solidFill>
                  <a:srgbClr val="5D4FCA"/>
                </a:solidFill>
                <a:latin typeface="Open Sans Bold"/>
                <a:ea typeface="Open Sans Bold"/>
                <a:cs typeface="Open Sans Bold"/>
                <a:sym typeface="Open Sans Bold"/>
              </a:rPr>
              <a:t>BERANDA</a:t>
            </a:r>
          </a:p>
        </p:txBody>
      </p:sp>
      <p:sp>
        <p:nvSpPr>
          <p:cNvPr name="TextBox 19" id="19"/>
          <p:cNvSpPr txBox="true"/>
          <p:nvPr/>
        </p:nvSpPr>
        <p:spPr>
          <a:xfrm rot="0">
            <a:off x="7657118" y="2497060"/>
            <a:ext cx="8912861" cy="1758950"/>
          </a:xfrm>
          <a:prstGeom prst="rect">
            <a:avLst/>
          </a:prstGeom>
        </p:spPr>
        <p:txBody>
          <a:bodyPr anchor="t" rtlCol="false" tIns="0" lIns="0" bIns="0" rIns="0">
            <a:spAutoFit/>
          </a:bodyPr>
          <a:lstStyle/>
          <a:p>
            <a:pPr algn="l">
              <a:lnSpc>
                <a:spcPts val="2800"/>
              </a:lnSpc>
            </a:pPr>
            <a:r>
              <a:rPr lang="en-US" sz="2000">
                <a:solidFill>
                  <a:srgbClr val="000000"/>
                </a:solidFill>
                <a:latin typeface="Open Sans"/>
                <a:ea typeface="Open Sans"/>
                <a:cs typeface="Open Sans"/>
                <a:sym typeface="Open Sans"/>
              </a:rPr>
              <a:t>Integrasi data adalah proses menggabungkan beberapa sumber data yang berbeda menjadi satu dataset yang lengkap, konsisten, dan mudah dianalisis. </a:t>
            </a:r>
            <a:r>
              <a:rPr lang="en-US" sz="2000">
                <a:solidFill>
                  <a:srgbClr val="000000"/>
                </a:solidFill>
                <a:latin typeface="Open Sans"/>
                <a:ea typeface="Open Sans"/>
                <a:cs typeface="Open Sans"/>
                <a:sym typeface="Open Sans"/>
              </a:rPr>
              <a:t>Tujuannya adalah agar data yang tersebar di berbagai file atau tabel dapat dipadukan sehingga memberikan gambaran yang utuh.</a:t>
            </a:r>
          </a:p>
          <a:p>
            <a:pPr algn="l" marL="0" indent="0" lvl="0">
              <a:lnSpc>
                <a:spcPts val="2800"/>
              </a:lnSpc>
            </a:pPr>
          </a:p>
        </p:txBody>
      </p:sp>
      <p:sp>
        <p:nvSpPr>
          <p:cNvPr name="TextBox 20" id="20"/>
          <p:cNvSpPr txBox="true"/>
          <p:nvPr/>
        </p:nvSpPr>
        <p:spPr>
          <a:xfrm rot="0">
            <a:off x="1847695" y="1109652"/>
            <a:ext cx="3115460" cy="422529"/>
          </a:xfrm>
          <a:prstGeom prst="rect">
            <a:avLst/>
          </a:prstGeom>
        </p:spPr>
        <p:txBody>
          <a:bodyPr anchor="t" rtlCol="false" tIns="0" lIns="0" bIns="0" rIns="0">
            <a:spAutoFit/>
          </a:bodyPr>
          <a:lstStyle/>
          <a:p>
            <a:pPr algn="l">
              <a:lnSpc>
                <a:spcPts val="3107"/>
              </a:lnSpc>
            </a:pPr>
            <a:r>
              <a:rPr lang="en-US" sz="2799" b="true">
                <a:solidFill>
                  <a:srgbClr val="5D4FCA"/>
                </a:solidFill>
                <a:latin typeface="Roboto Condensed Bold"/>
                <a:ea typeface="Roboto Condensed Bold"/>
                <a:cs typeface="Roboto Condensed Bold"/>
                <a:sym typeface="Roboto Condensed Bold"/>
              </a:rPr>
              <a:t>PROSES WRANLING</a:t>
            </a:r>
          </a:p>
        </p:txBody>
      </p:sp>
      <p:sp>
        <p:nvSpPr>
          <p:cNvPr name="TextBox 21" id="21"/>
          <p:cNvSpPr txBox="true"/>
          <p:nvPr/>
        </p:nvSpPr>
        <p:spPr>
          <a:xfrm rot="0">
            <a:off x="7667870" y="1836406"/>
            <a:ext cx="9847540" cy="632079"/>
          </a:xfrm>
          <a:prstGeom prst="rect">
            <a:avLst/>
          </a:prstGeom>
        </p:spPr>
        <p:txBody>
          <a:bodyPr anchor="t" rtlCol="false" tIns="0" lIns="0" bIns="0" rIns="0">
            <a:spAutoFit/>
          </a:bodyPr>
          <a:lstStyle/>
          <a:p>
            <a:pPr algn="l">
              <a:lnSpc>
                <a:spcPts val="5043"/>
              </a:lnSpc>
            </a:pPr>
            <a:r>
              <a:rPr lang="en-US" sz="4100" b="true">
                <a:solidFill>
                  <a:srgbClr val="27194D"/>
                </a:solidFill>
                <a:latin typeface="Roboto Condensed Bold"/>
                <a:ea typeface="Roboto Condensed Bold"/>
                <a:cs typeface="Roboto Condensed Bold"/>
                <a:sym typeface="Roboto Condensed Bold"/>
              </a:rPr>
              <a:t>INTEGRASI DATA</a:t>
            </a:r>
          </a:p>
        </p:txBody>
      </p:sp>
      <p:sp>
        <p:nvSpPr>
          <p:cNvPr name="TextBox 22" id="22"/>
          <p:cNvSpPr txBox="true"/>
          <p:nvPr/>
        </p:nvSpPr>
        <p:spPr>
          <a:xfrm rot="0">
            <a:off x="1543392" y="2217561"/>
            <a:ext cx="744481" cy="650748"/>
          </a:xfrm>
          <a:prstGeom prst="rect">
            <a:avLst/>
          </a:prstGeom>
        </p:spPr>
        <p:txBody>
          <a:bodyPr anchor="t" rtlCol="false" tIns="0" lIns="0" bIns="0" rIns="0">
            <a:spAutoFit/>
          </a:bodyPr>
          <a:lstStyle/>
          <a:p>
            <a:pPr algn="ctr">
              <a:lnSpc>
                <a:spcPts val="5166"/>
              </a:lnSpc>
            </a:pPr>
            <a:r>
              <a:rPr lang="en-US" b="true" sz="4200">
                <a:solidFill>
                  <a:srgbClr val="FFF8E9"/>
                </a:solidFill>
                <a:latin typeface="Roboto Condensed Bold"/>
                <a:ea typeface="Roboto Condensed Bold"/>
                <a:cs typeface="Roboto Condensed Bold"/>
                <a:sym typeface="Roboto Condensed Bold"/>
              </a:rPr>
              <a:t>01</a:t>
            </a:r>
          </a:p>
        </p:txBody>
      </p:sp>
      <p:sp>
        <p:nvSpPr>
          <p:cNvPr name="TextBox 23" id="23"/>
          <p:cNvSpPr txBox="true"/>
          <p:nvPr/>
        </p:nvSpPr>
        <p:spPr>
          <a:xfrm rot="0">
            <a:off x="8635876" y="4482938"/>
            <a:ext cx="4736511" cy="496571"/>
          </a:xfrm>
          <a:prstGeom prst="rect">
            <a:avLst/>
          </a:prstGeom>
        </p:spPr>
        <p:txBody>
          <a:bodyPr anchor="t" rtlCol="false" tIns="0" lIns="0" bIns="0" rIns="0">
            <a:spAutoFit/>
          </a:bodyPr>
          <a:lstStyle/>
          <a:p>
            <a:pPr algn="l" marL="0" indent="0" lvl="0">
              <a:lnSpc>
                <a:spcPts val="4159"/>
              </a:lnSpc>
            </a:pPr>
            <a:r>
              <a:rPr lang="en-US" b="true" sz="2599">
                <a:solidFill>
                  <a:srgbClr val="FAA607"/>
                </a:solidFill>
                <a:latin typeface="Open Sans Bold"/>
                <a:ea typeface="Open Sans Bold"/>
                <a:cs typeface="Open Sans Bold"/>
                <a:sym typeface="Open Sans Bold"/>
              </a:rPr>
              <a:t>METODE DATA CLEANING</a:t>
            </a:r>
          </a:p>
        </p:txBody>
      </p:sp>
      <p:sp>
        <p:nvSpPr>
          <p:cNvPr name="TextBox 24" id="24"/>
          <p:cNvSpPr txBox="true"/>
          <p:nvPr/>
        </p:nvSpPr>
        <p:spPr>
          <a:xfrm rot="0">
            <a:off x="8635876" y="5569486"/>
            <a:ext cx="3001023" cy="496571"/>
          </a:xfrm>
          <a:prstGeom prst="rect">
            <a:avLst/>
          </a:prstGeom>
        </p:spPr>
        <p:txBody>
          <a:bodyPr anchor="t" rtlCol="false" tIns="0" lIns="0" bIns="0" rIns="0">
            <a:spAutoFit/>
          </a:bodyPr>
          <a:lstStyle/>
          <a:p>
            <a:pPr algn="r" marL="0" indent="0" lvl="0">
              <a:lnSpc>
                <a:spcPts val="4159"/>
              </a:lnSpc>
            </a:pPr>
            <a:r>
              <a:rPr lang="en-US" b="true" sz="2599">
                <a:solidFill>
                  <a:srgbClr val="FAA607"/>
                </a:solidFill>
                <a:latin typeface="Open Sans Bold"/>
                <a:ea typeface="Open Sans Bold"/>
                <a:cs typeface="Open Sans Bold"/>
                <a:sym typeface="Open Sans Bold"/>
              </a:rPr>
              <a:t>INTEGRASI SKEMA</a:t>
            </a:r>
          </a:p>
        </p:txBody>
      </p:sp>
      <p:sp>
        <p:nvSpPr>
          <p:cNvPr name="TextBox 25" id="25"/>
          <p:cNvSpPr txBox="true"/>
          <p:nvPr/>
        </p:nvSpPr>
        <p:spPr>
          <a:xfrm rot="0">
            <a:off x="8635876" y="7821100"/>
            <a:ext cx="5474644" cy="496571"/>
          </a:xfrm>
          <a:prstGeom prst="rect">
            <a:avLst/>
          </a:prstGeom>
        </p:spPr>
        <p:txBody>
          <a:bodyPr anchor="t" rtlCol="false" tIns="0" lIns="0" bIns="0" rIns="0">
            <a:spAutoFit/>
          </a:bodyPr>
          <a:lstStyle/>
          <a:p>
            <a:pPr algn="just" marL="0" indent="0" lvl="0">
              <a:lnSpc>
                <a:spcPts val="4159"/>
              </a:lnSpc>
            </a:pPr>
            <a:r>
              <a:rPr lang="en-US" b="true" sz="2599">
                <a:solidFill>
                  <a:srgbClr val="FAA607"/>
                </a:solidFill>
                <a:latin typeface="Open Sans Bold"/>
                <a:ea typeface="Open Sans Bold"/>
                <a:cs typeface="Open Sans Bold"/>
                <a:sym typeface="Open Sans Bold"/>
              </a:rPr>
              <a:t>OUTER JOIN</a:t>
            </a:r>
          </a:p>
        </p:txBody>
      </p:sp>
      <p:sp>
        <p:nvSpPr>
          <p:cNvPr name="TextBox 26" id="26"/>
          <p:cNvSpPr txBox="true"/>
          <p:nvPr/>
        </p:nvSpPr>
        <p:spPr>
          <a:xfrm rot="0">
            <a:off x="8103713" y="6659576"/>
            <a:ext cx="5474644" cy="496571"/>
          </a:xfrm>
          <a:prstGeom prst="rect">
            <a:avLst/>
          </a:prstGeom>
        </p:spPr>
        <p:txBody>
          <a:bodyPr anchor="t" rtlCol="false" tIns="0" lIns="0" bIns="0" rIns="0">
            <a:spAutoFit/>
          </a:bodyPr>
          <a:lstStyle/>
          <a:p>
            <a:pPr algn="r" marL="0" indent="0" lvl="0">
              <a:lnSpc>
                <a:spcPts val="4159"/>
              </a:lnSpc>
            </a:pPr>
            <a:r>
              <a:rPr lang="en-US" b="true" sz="2599">
                <a:solidFill>
                  <a:srgbClr val="FAA607"/>
                </a:solidFill>
                <a:latin typeface="Open Sans Bold"/>
                <a:ea typeface="Open Sans Bold"/>
                <a:cs typeface="Open Sans Bold"/>
                <a:sym typeface="Open Sans Bold"/>
              </a:rPr>
              <a:t>INTEGRASI TRANSFORMATION</a:t>
            </a:r>
          </a:p>
        </p:txBody>
      </p:sp>
      <p:sp>
        <p:nvSpPr>
          <p:cNvPr name="TextBox 27" id="27"/>
          <p:cNvSpPr txBox="true"/>
          <p:nvPr/>
        </p:nvSpPr>
        <p:spPr>
          <a:xfrm rot="0">
            <a:off x="12054331" y="5293833"/>
            <a:ext cx="744481" cy="650748"/>
          </a:xfrm>
          <a:prstGeom prst="rect">
            <a:avLst/>
          </a:prstGeom>
        </p:spPr>
        <p:txBody>
          <a:bodyPr anchor="t" rtlCol="false" tIns="0" lIns="0" bIns="0" rIns="0">
            <a:spAutoFit/>
          </a:bodyPr>
          <a:lstStyle/>
          <a:p>
            <a:pPr algn="ctr">
              <a:lnSpc>
                <a:spcPts val="5166"/>
              </a:lnSpc>
            </a:pPr>
            <a:r>
              <a:rPr lang="en-US" b="true" sz="4200">
                <a:solidFill>
                  <a:srgbClr val="FFF8E9"/>
                </a:solidFill>
                <a:latin typeface="Roboto Condensed Bold"/>
                <a:ea typeface="Roboto Condensed Bold"/>
                <a:cs typeface="Roboto Condensed Bold"/>
                <a:sym typeface="Roboto Condensed Bold"/>
              </a:rPr>
              <a:t>01</a:t>
            </a:r>
          </a:p>
        </p:txBody>
      </p:sp>
      <p:grpSp>
        <p:nvGrpSpPr>
          <p:cNvPr name="Group 28" id="28"/>
          <p:cNvGrpSpPr/>
          <p:nvPr/>
        </p:nvGrpSpPr>
        <p:grpSpPr>
          <a:xfrm rot="0">
            <a:off x="7704977" y="5509367"/>
            <a:ext cx="721583" cy="721583"/>
            <a:chOff x="0" y="0"/>
            <a:chExt cx="812800" cy="812800"/>
          </a:xfrm>
        </p:grpSpPr>
        <p:sp>
          <p:nvSpPr>
            <p:cNvPr name="Freeform 29" id="2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A607"/>
            </a:solidFill>
          </p:spPr>
        </p:sp>
        <p:sp>
          <p:nvSpPr>
            <p:cNvPr name="TextBox 30" id="30"/>
            <p:cNvSpPr txBox="true"/>
            <p:nvPr/>
          </p:nvSpPr>
          <p:spPr>
            <a:xfrm>
              <a:off x="76200" y="104775"/>
              <a:ext cx="660400" cy="631825"/>
            </a:xfrm>
            <a:prstGeom prst="rect">
              <a:avLst/>
            </a:prstGeom>
          </p:spPr>
          <p:txBody>
            <a:bodyPr anchor="ctr" rtlCol="false" tIns="50800" lIns="50800" bIns="50800" rIns="50800"/>
            <a:lstStyle/>
            <a:p>
              <a:pPr algn="ctr">
                <a:lnSpc>
                  <a:spcPts val="2000"/>
                </a:lnSpc>
              </a:pPr>
            </a:p>
          </p:txBody>
        </p:sp>
      </p:grpSp>
      <p:grpSp>
        <p:nvGrpSpPr>
          <p:cNvPr name="Group 31" id="31"/>
          <p:cNvGrpSpPr/>
          <p:nvPr/>
        </p:nvGrpSpPr>
        <p:grpSpPr>
          <a:xfrm rot="0">
            <a:off x="7720327" y="6640526"/>
            <a:ext cx="721583" cy="721583"/>
            <a:chOff x="0" y="0"/>
            <a:chExt cx="812800" cy="812800"/>
          </a:xfrm>
        </p:grpSpPr>
        <p:sp>
          <p:nvSpPr>
            <p:cNvPr name="Freeform 32" id="3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A607"/>
            </a:solidFill>
          </p:spPr>
        </p:sp>
        <p:sp>
          <p:nvSpPr>
            <p:cNvPr name="TextBox 33" id="33"/>
            <p:cNvSpPr txBox="true"/>
            <p:nvPr/>
          </p:nvSpPr>
          <p:spPr>
            <a:xfrm>
              <a:off x="76200" y="104775"/>
              <a:ext cx="660400" cy="631825"/>
            </a:xfrm>
            <a:prstGeom prst="rect">
              <a:avLst/>
            </a:prstGeom>
          </p:spPr>
          <p:txBody>
            <a:bodyPr anchor="ctr" rtlCol="false" tIns="50800" lIns="50800" bIns="50800" rIns="50800"/>
            <a:lstStyle/>
            <a:p>
              <a:pPr algn="ctr">
                <a:lnSpc>
                  <a:spcPts val="2000"/>
                </a:lnSpc>
              </a:pPr>
            </a:p>
          </p:txBody>
        </p:sp>
      </p:grpSp>
      <p:grpSp>
        <p:nvGrpSpPr>
          <p:cNvPr name="Group 34" id="34"/>
          <p:cNvGrpSpPr/>
          <p:nvPr/>
        </p:nvGrpSpPr>
        <p:grpSpPr>
          <a:xfrm rot="0">
            <a:off x="7724043" y="7760981"/>
            <a:ext cx="721583" cy="721583"/>
            <a:chOff x="0" y="0"/>
            <a:chExt cx="812800" cy="812800"/>
          </a:xfrm>
        </p:grpSpPr>
        <p:sp>
          <p:nvSpPr>
            <p:cNvPr name="Freeform 35" id="3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A607"/>
            </a:solidFill>
          </p:spPr>
        </p:sp>
        <p:sp>
          <p:nvSpPr>
            <p:cNvPr name="TextBox 36" id="36"/>
            <p:cNvSpPr txBox="true"/>
            <p:nvPr/>
          </p:nvSpPr>
          <p:spPr>
            <a:xfrm>
              <a:off x="76200" y="104775"/>
              <a:ext cx="660400" cy="631825"/>
            </a:xfrm>
            <a:prstGeom prst="rect">
              <a:avLst/>
            </a:prstGeom>
          </p:spPr>
          <p:txBody>
            <a:bodyPr anchor="ctr" rtlCol="false" tIns="50800" lIns="50800" bIns="50800" rIns="50800"/>
            <a:lstStyle/>
            <a:p>
              <a:pPr algn="ctr">
                <a:lnSpc>
                  <a:spcPts val="2000"/>
                </a:lnSpc>
              </a:pPr>
            </a:p>
          </p:txBody>
        </p:sp>
      </p:grpSp>
      <p:sp>
        <p:nvSpPr>
          <p:cNvPr name="TextBox 37" id="37"/>
          <p:cNvSpPr txBox="true"/>
          <p:nvPr/>
        </p:nvSpPr>
        <p:spPr>
          <a:xfrm rot="0">
            <a:off x="7634220" y="4448711"/>
            <a:ext cx="744481" cy="650748"/>
          </a:xfrm>
          <a:prstGeom prst="rect">
            <a:avLst/>
          </a:prstGeom>
        </p:spPr>
        <p:txBody>
          <a:bodyPr anchor="t" rtlCol="false" tIns="0" lIns="0" bIns="0" rIns="0">
            <a:spAutoFit/>
          </a:bodyPr>
          <a:lstStyle/>
          <a:p>
            <a:pPr algn="ctr">
              <a:lnSpc>
                <a:spcPts val="5166"/>
              </a:lnSpc>
            </a:pPr>
            <a:r>
              <a:rPr lang="en-US" b="true" sz="4200">
                <a:solidFill>
                  <a:srgbClr val="FFF8E9"/>
                </a:solidFill>
                <a:latin typeface="Roboto Condensed Bold"/>
                <a:ea typeface="Roboto Condensed Bold"/>
                <a:cs typeface="Roboto Condensed Bold"/>
                <a:sym typeface="Roboto Condensed Bold"/>
              </a:rPr>
              <a:t>01</a:t>
            </a:r>
          </a:p>
        </p:txBody>
      </p:sp>
      <p:sp>
        <p:nvSpPr>
          <p:cNvPr name="TextBox 38" id="38"/>
          <p:cNvSpPr txBox="true"/>
          <p:nvPr/>
        </p:nvSpPr>
        <p:spPr>
          <a:xfrm rot="0">
            <a:off x="7716615" y="5490317"/>
            <a:ext cx="744481" cy="650748"/>
          </a:xfrm>
          <a:prstGeom prst="rect">
            <a:avLst/>
          </a:prstGeom>
        </p:spPr>
        <p:txBody>
          <a:bodyPr anchor="t" rtlCol="false" tIns="0" lIns="0" bIns="0" rIns="0">
            <a:spAutoFit/>
          </a:bodyPr>
          <a:lstStyle/>
          <a:p>
            <a:pPr algn="ctr">
              <a:lnSpc>
                <a:spcPts val="5166"/>
              </a:lnSpc>
            </a:pPr>
            <a:r>
              <a:rPr lang="en-US" b="true" sz="4200">
                <a:solidFill>
                  <a:srgbClr val="FFF8E9"/>
                </a:solidFill>
                <a:latin typeface="Roboto Condensed Bold"/>
                <a:ea typeface="Roboto Condensed Bold"/>
                <a:cs typeface="Roboto Condensed Bold"/>
                <a:sym typeface="Roboto Condensed Bold"/>
              </a:rPr>
              <a:t>02</a:t>
            </a:r>
          </a:p>
        </p:txBody>
      </p:sp>
      <p:sp>
        <p:nvSpPr>
          <p:cNvPr name="TextBox 39" id="39"/>
          <p:cNvSpPr txBox="true"/>
          <p:nvPr/>
        </p:nvSpPr>
        <p:spPr>
          <a:xfrm rot="0">
            <a:off x="7724043" y="6655715"/>
            <a:ext cx="744481" cy="650748"/>
          </a:xfrm>
          <a:prstGeom prst="rect">
            <a:avLst/>
          </a:prstGeom>
        </p:spPr>
        <p:txBody>
          <a:bodyPr anchor="t" rtlCol="false" tIns="0" lIns="0" bIns="0" rIns="0">
            <a:spAutoFit/>
          </a:bodyPr>
          <a:lstStyle/>
          <a:p>
            <a:pPr algn="ctr">
              <a:lnSpc>
                <a:spcPts val="5166"/>
              </a:lnSpc>
            </a:pPr>
            <a:r>
              <a:rPr lang="en-US" b="true" sz="4200">
                <a:solidFill>
                  <a:srgbClr val="FFF8E9"/>
                </a:solidFill>
                <a:latin typeface="Roboto Condensed Bold"/>
                <a:ea typeface="Roboto Condensed Bold"/>
                <a:cs typeface="Roboto Condensed Bold"/>
                <a:sym typeface="Roboto Condensed Bold"/>
              </a:rPr>
              <a:t>03</a:t>
            </a:r>
          </a:p>
        </p:txBody>
      </p:sp>
      <p:sp>
        <p:nvSpPr>
          <p:cNvPr name="TextBox 40" id="40"/>
          <p:cNvSpPr txBox="true"/>
          <p:nvPr/>
        </p:nvSpPr>
        <p:spPr>
          <a:xfrm rot="0">
            <a:off x="7731472" y="7821113"/>
            <a:ext cx="744481" cy="650748"/>
          </a:xfrm>
          <a:prstGeom prst="rect">
            <a:avLst/>
          </a:prstGeom>
        </p:spPr>
        <p:txBody>
          <a:bodyPr anchor="t" rtlCol="false" tIns="0" lIns="0" bIns="0" rIns="0">
            <a:spAutoFit/>
          </a:bodyPr>
          <a:lstStyle/>
          <a:p>
            <a:pPr algn="ctr">
              <a:lnSpc>
                <a:spcPts val="5166"/>
              </a:lnSpc>
            </a:pPr>
            <a:r>
              <a:rPr lang="en-US" b="true" sz="4200">
                <a:solidFill>
                  <a:srgbClr val="FFF8E9"/>
                </a:solidFill>
                <a:latin typeface="Roboto Condensed Bold"/>
                <a:ea typeface="Roboto Condensed Bold"/>
                <a:cs typeface="Roboto Condensed Bold"/>
                <a:sym typeface="Roboto Condensed Bold"/>
              </a:rPr>
              <a:t>04</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FF8E9"/>
        </a:solidFill>
      </p:bgPr>
    </p:bg>
    <p:spTree>
      <p:nvGrpSpPr>
        <p:cNvPr id="1" name=""/>
        <p:cNvGrpSpPr/>
        <p:nvPr/>
      </p:nvGrpSpPr>
      <p:grpSpPr>
        <a:xfrm>
          <a:off x="0" y="0"/>
          <a:ext cx="0" cy="0"/>
          <a:chOff x="0" y="0"/>
          <a:chExt cx="0" cy="0"/>
        </a:xfrm>
      </p:grpSpPr>
      <p:sp>
        <p:nvSpPr>
          <p:cNvPr name="Freeform 2" id="2"/>
          <p:cNvSpPr/>
          <p:nvPr/>
        </p:nvSpPr>
        <p:spPr>
          <a:xfrm flipH="false" flipV="false" rot="-5687936">
            <a:off x="15336566" y="-1307732"/>
            <a:ext cx="3845468" cy="4114800"/>
          </a:xfrm>
          <a:custGeom>
            <a:avLst/>
            <a:gdLst/>
            <a:ahLst/>
            <a:cxnLst/>
            <a:rect r="r" b="b" t="t" l="l"/>
            <a:pathLst>
              <a:path h="4114800" w="3845468">
                <a:moveTo>
                  <a:pt x="0" y="0"/>
                </a:moveTo>
                <a:lnTo>
                  <a:pt x="3845468" y="0"/>
                </a:lnTo>
                <a:lnTo>
                  <a:pt x="3845468"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3138009" y="1035414"/>
            <a:ext cx="4121291" cy="571004"/>
            <a:chOff x="0" y="0"/>
            <a:chExt cx="1370603" cy="189897"/>
          </a:xfrm>
        </p:grpSpPr>
        <p:sp>
          <p:nvSpPr>
            <p:cNvPr name="Freeform 4" id="4"/>
            <p:cNvSpPr/>
            <p:nvPr/>
          </p:nvSpPr>
          <p:spPr>
            <a:xfrm flipH="false" flipV="false" rot="0">
              <a:off x="0" y="0"/>
              <a:ext cx="1370603" cy="189897"/>
            </a:xfrm>
            <a:custGeom>
              <a:avLst/>
              <a:gdLst/>
              <a:ahLst/>
              <a:cxnLst/>
              <a:rect r="r" b="b" t="t" l="l"/>
              <a:pathLst>
                <a:path h="189897" w="1370603">
                  <a:moveTo>
                    <a:pt x="94948" y="0"/>
                  </a:moveTo>
                  <a:lnTo>
                    <a:pt x="1275655" y="0"/>
                  </a:lnTo>
                  <a:cubicBezTo>
                    <a:pt x="1300837" y="0"/>
                    <a:pt x="1324987" y="10003"/>
                    <a:pt x="1342794" y="27810"/>
                  </a:cubicBezTo>
                  <a:cubicBezTo>
                    <a:pt x="1360600" y="45616"/>
                    <a:pt x="1370603" y="69767"/>
                    <a:pt x="1370603" y="94948"/>
                  </a:cubicBezTo>
                  <a:lnTo>
                    <a:pt x="1370603" y="94948"/>
                  </a:lnTo>
                  <a:cubicBezTo>
                    <a:pt x="1370603" y="147387"/>
                    <a:pt x="1328094" y="189897"/>
                    <a:pt x="1275655" y="189897"/>
                  </a:cubicBezTo>
                  <a:lnTo>
                    <a:pt x="94948" y="189897"/>
                  </a:lnTo>
                  <a:cubicBezTo>
                    <a:pt x="42510" y="189897"/>
                    <a:pt x="0" y="147387"/>
                    <a:pt x="0" y="94948"/>
                  </a:cubicBezTo>
                  <a:lnTo>
                    <a:pt x="0" y="94948"/>
                  </a:lnTo>
                  <a:cubicBezTo>
                    <a:pt x="0" y="42510"/>
                    <a:pt x="42510" y="0"/>
                    <a:pt x="94948" y="0"/>
                  </a:cubicBezTo>
                  <a:close/>
                </a:path>
              </a:pathLst>
            </a:custGeom>
            <a:solidFill>
              <a:srgbClr val="FAA607"/>
            </a:solidFill>
            <a:ln cap="rnd">
              <a:noFill/>
              <a:prstDash val="solid"/>
              <a:round/>
            </a:ln>
          </p:spPr>
        </p:sp>
        <p:sp>
          <p:nvSpPr>
            <p:cNvPr name="TextBox 5" id="5"/>
            <p:cNvSpPr txBox="true"/>
            <p:nvPr/>
          </p:nvSpPr>
          <p:spPr>
            <a:xfrm>
              <a:off x="0" y="-57150"/>
              <a:ext cx="1370603" cy="247047"/>
            </a:xfrm>
            <a:prstGeom prst="rect">
              <a:avLst/>
            </a:prstGeom>
          </p:spPr>
          <p:txBody>
            <a:bodyPr anchor="ctr" rtlCol="false" tIns="50800" lIns="50800" bIns="50800" rIns="50800"/>
            <a:lstStyle/>
            <a:p>
              <a:pPr algn="ctr" marL="0" indent="0" lvl="0">
                <a:lnSpc>
                  <a:spcPts val="2824"/>
                </a:lnSpc>
                <a:spcBef>
                  <a:spcPct val="0"/>
                </a:spcBef>
              </a:pPr>
            </a:p>
          </p:txBody>
        </p:sp>
      </p:grpSp>
      <p:sp>
        <p:nvSpPr>
          <p:cNvPr name="Freeform 6" id="6"/>
          <p:cNvSpPr/>
          <p:nvPr/>
        </p:nvSpPr>
        <p:spPr>
          <a:xfrm flipH="false" flipV="false" rot="0">
            <a:off x="16815378" y="1166754"/>
            <a:ext cx="296763" cy="308325"/>
          </a:xfrm>
          <a:custGeom>
            <a:avLst/>
            <a:gdLst/>
            <a:ahLst/>
            <a:cxnLst/>
            <a:rect r="r" b="b" t="t" l="l"/>
            <a:pathLst>
              <a:path h="308325" w="296763">
                <a:moveTo>
                  <a:pt x="0" y="0"/>
                </a:moveTo>
                <a:lnTo>
                  <a:pt x="296763" y="0"/>
                </a:lnTo>
                <a:lnTo>
                  <a:pt x="296763" y="308325"/>
                </a:lnTo>
                <a:lnTo>
                  <a:pt x="0" y="30832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2145208">
            <a:off x="-2225101" y="-628162"/>
            <a:ext cx="8984724" cy="4018622"/>
          </a:xfrm>
          <a:custGeom>
            <a:avLst/>
            <a:gdLst/>
            <a:ahLst/>
            <a:cxnLst/>
            <a:rect r="r" b="b" t="t" l="l"/>
            <a:pathLst>
              <a:path h="4018622" w="8984724">
                <a:moveTo>
                  <a:pt x="0" y="0"/>
                </a:moveTo>
                <a:lnTo>
                  <a:pt x="8984724" y="0"/>
                </a:lnTo>
                <a:lnTo>
                  <a:pt x="8984724" y="4018622"/>
                </a:lnTo>
                <a:lnTo>
                  <a:pt x="0" y="401862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2145208">
            <a:off x="13199823" y="4022174"/>
            <a:ext cx="8984724" cy="4018622"/>
          </a:xfrm>
          <a:custGeom>
            <a:avLst/>
            <a:gdLst/>
            <a:ahLst/>
            <a:cxnLst/>
            <a:rect r="r" b="b" t="t" l="l"/>
            <a:pathLst>
              <a:path h="4018622" w="8984724">
                <a:moveTo>
                  <a:pt x="0" y="0"/>
                </a:moveTo>
                <a:lnTo>
                  <a:pt x="8984724" y="0"/>
                </a:lnTo>
                <a:lnTo>
                  <a:pt x="8984724" y="4018622"/>
                </a:lnTo>
                <a:lnTo>
                  <a:pt x="0" y="401862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9" id="9"/>
          <p:cNvGrpSpPr/>
          <p:nvPr/>
        </p:nvGrpSpPr>
        <p:grpSpPr>
          <a:xfrm rot="0">
            <a:off x="1352472" y="1753101"/>
            <a:ext cx="259747" cy="259747"/>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A607"/>
            </a:solidFill>
          </p:spPr>
        </p:sp>
        <p:sp>
          <p:nvSpPr>
            <p:cNvPr name="TextBox 11" id="11"/>
            <p:cNvSpPr txBox="true"/>
            <p:nvPr/>
          </p:nvSpPr>
          <p:spPr>
            <a:xfrm>
              <a:off x="76200" y="104775"/>
              <a:ext cx="660400" cy="631825"/>
            </a:xfrm>
            <a:prstGeom prst="rect">
              <a:avLst/>
            </a:prstGeom>
          </p:spPr>
          <p:txBody>
            <a:bodyPr anchor="ctr" rtlCol="false" tIns="50800" lIns="50800" bIns="50800" rIns="50800"/>
            <a:lstStyle/>
            <a:p>
              <a:pPr algn="ctr">
                <a:lnSpc>
                  <a:spcPts val="2000"/>
                </a:lnSpc>
              </a:pPr>
            </a:p>
          </p:txBody>
        </p:sp>
      </p:grpSp>
      <p:sp>
        <p:nvSpPr>
          <p:cNvPr name="TextBox 12" id="12"/>
          <p:cNvSpPr txBox="true"/>
          <p:nvPr/>
        </p:nvSpPr>
        <p:spPr>
          <a:xfrm rot="0">
            <a:off x="1847695" y="1648408"/>
            <a:ext cx="7845217" cy="445008"/>
          </a:xfrm>
          <a:prstGeom prst="rect">
            <a:avLst/>
          </a:prstGeom>
        </p:spPr>
        <p:txBody>
          <a:bodyPr anchor="t" rtlCol="false" tIns="0" lIns="0" bIns="0" rIns="0">
            <a:spAutoFit/>
          </a:bodyPr>
          <a:lstStyle/>
          <a:p>
            <a:pPr algn="l" marL="0" indent="0" lvl="0">
              <a:lnSpc>
                <a:spcPts val="3665"/>
              </a:lnSpc>
            </a:pPr>
            <a:r>
              <a:rPr lang="en-US" b="true" sz="2599">
                <a:solidFill>
                  <a:srgbClr val="5D4FCA"/>
                </a:solidFill>
                <a:latin typeface="Open Sans Bold"/>
                <a:ea typeface="Open Sans Bold"/>
                <a:cs typeface="Open Sans Bold"/>
                <a:sym typeface="Open Sans Bold"/>
              </a:rPr>
              <a:t>INTEGRASI DATA</a:t>
            </a:r>
          </a:p>
        </p:txBody>
      </p:sp>
      <p:sp>
        <p:nvSpPr>
          <p:cNvPr name="Freeform 13" id="13"/>
          <p:cNvSpPr/>
          <p:nvPr/>
        </p:nvSpPr>
        <p:spPr>
          <a:xfrm flipH="false" flipV="false" rot="0">
            <a:off x="1028700" y="1049653"/>
            <a:ext cx="647545" cy="495666"/>
          </a:xfrm>
          <a:custGeom>
            <a:avLst/>
            <a:gdLst/>
            <a:ahLst/>
            <a:cxnLst/>
            <a:rect r="r" b="b" t="t" l="l"/>
            <a:pathLst>
              <a:path h="495666" w="647545">
                <a:moveTo>
                  <a:pt x="0" y="0"/>
                </a:moveTo>
                <a:lnTo>
                  <a:pt x="647545" y="0"/>
                </a:lnTo>
                <a:lnTo>
                  <a:pt x="647545" y="495666"/>
                </a:lnTo>
                <a:lnTo>
                  <a:pt x="0" y="49566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4" id="14"/>
          <p:cNvSpPr/>
          <p:nvPr/>
        </p:nvSpPr>
        <p:spPr>
          <a:xfrm flipH="false" flipV="false" rot="6034560">
            <a:off x="-1502391" y="7200900"/>
            <a:ext cx="3845468" cy="4114800"/>
          </a:xfrm>
          <a:custGeom>
            <a:avLst/>
            <a:gdLst/>
            <a:ahLst/>
            <a:cxnLst/>
            <a:rect r="r" b="b" t="t" l="l"/>
            <a:pathLst>
              <a:path h="4114800" w="3845468">
                <a:moveTo>
                  <a:pt x="0" y="0"/>
                </a:moveTo>
                <a:lnTo>
                  <a:pt x="3845468" y="0"/>
                </a:lnTo>
                <a:lnTo>
                  <a:pt x="384546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5" id="15"/>
          <p:cNvSpPr/>
          <p:nvPr/>
        </p:nvSpPr>
        <p:spPr>
          <a:xfrm flipH="false" flipV="false" rot="8465491">
            <a:off x="16694299" y="8640481"/>
            <a:ext cx="624757" cy="390757"/>
          </a:xfrm>
          <a:custGeom>
            <a:avLst/>
            <a:gdLst/>
            <a:ahLst/>
            <a:cxnLst/>
            <a:rect r="r" b="b" t="t" l="l"/>
            <a:pathLst>
              <a:path h="390757" w="624757">
                <a:moveTo>
                  <a:pt x="0" y="0"/>
                </a:moveTo>
                <a:lnTo>
                  <a:pt x="624756" y="0"/>
                </a:lnTo>
                <a:lnTo>
                  <a:pt x="624756" y="390757"/>
                </a:lnTo>
                <a:lnTo>
                  <a:pt x="0" y="39075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6" id="16"/>
          <p:cNvSpPr/>
          <p:nvPr/>
        </p:nvSpPr>
        <p:spPr>
          <a:xfrm flipH="false" flipV="false" rot="-10127191">
            <a:off x="1190908" y="5389253"/>
            <a:ext cx="624757" cy="390757"/>
          </a:xfrm>
          <a:custGeom>
            <a:avLst/>
            <a:gdLst/>
            <a:ahLst/>
            <a:cxnLst/>
            <a:rect r="r" b="b" t="t" l="l"/>
            <a:pathLst>
              <a:path h="390757" w="624757">
                <a:moveTo>
                  <a:pt x="0" y="0"/>
                </a:moveTo>
                <a:lnTo>
                  <a:pt x="624756" y="0"/>
                </a:lnTo>
                <a:lnTo>
                  <a:pt x="624756" y="390756"/>
                </a:lnTo>
                <a:lnTo>
                  <a:pt x="0" y="390756"/>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7" id="17"/>
          <p:cNvSpPr/>
          <p:nvPr/>
        </p:nvSpPr>
        <p:spPr>
          <a:xfrm flipH="false" flipV="false" rot="1640404">
            <a:off x="7844821" y="1691310"/>
            <a:ext cx="1034860" cy="383329"/>
          </a:xfrm>
          <a:custGeom>
            <a:avLst/>
            <a:gdLst/>
            <a:ahLst/>
            <a:cxnLst/>
            <a:rect r="r" b="b" t="t" l="l"/>
            <a:pathLst>
              <a:path h="383329" w="1034860">
                <a:moveTo>
                  <a:pt x="0" y="0"/>
                </a:moveTo>
                <a:lnTo>
                  <a:pt x="1034860" y="0"/>
                </a:lnTo>
                <a:lnTo>
                  <a:pt x="1034860" y="383329"/>
                </a:lnTo>
                <a:lnTo>
                  <a:pt x="0" y="383329"/>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8" id="18"/>
          <p:cNvSpPr/>
          <p:nvPr/>
        </p:nvSpPr>
        <p:spPr>
          <a:xfrm flipH="false" flipV="false" rot="0">
            <a:off x="7826349" y="2627371"/>
            <a:ext cx="8075214" cy="7240434"/>
          </a:xfrm>
          <a:custGeom>
            <a:avLst/>
            <a:gdLst/>
            <a:ahLst/>
            <a:cxnLst/>
            <a:rect r="r" b="b" t="t" l="l"/>
            <a:pathLst>
              <a:path h="7240434" w="8075214">
                <a:moveTo>
                  <a:pt x="0" y="0"/>
                </a:moveTo>
                <a:lnTo>
                  <a:pt x="8075214" y="0"/>
                </a:lnTo>
                <a:lnTo>
                  <a:pt x="8075214" y="7240434"/>
                </a:lnTo>
                <a:lnTo>
                  <a:pt x="0" y="7240434"/>
                </a:lnTo>
                <a:lnTo>
                  <a:pt x="0" y="0"/>
                </a:lnTo>
                <a:close/>
              </a:path>
            </a:pathLst>
          </a:custGeom>
          <a:blipFill>
            <a:blip r:embed="rId18"/>
            <a:stretch>
              <a:fillRect l="0" t="0" r="0" b="0"/>
            </a:stretch>
          </a:blipFill>
        </p:spPr>
      </p:sp>
      <p:sp>
        <p:nvSpPr>
          <p:cNvPr name="TextBox 19" id="19"/>
          <p:cNvSpPr txBox="true"/>
          <p:nvPr/>
        </p:nvSpPr>
        <p:spPr>
          <a:xfrm rot="0">
            <a:off x="11428284" y="1200266"/>
            <a:ext cx="1370528" cy="269875"/>
          </a:xfrm>
          <a:prstGeom prst="rect">
            <a:avLst/>
          </a:prstGeom>
        </p:spPr>
        <p:txBody>
          <a:bodyPr anchor="t" rtlCol="false" tIns="0" lIns="0" bIns="0" rIns="0">
            <a:spAutoFit/>
          </a:bodyPr>
          <a:lstStyle/>
          <a:p>
            <a:pPr algn="ctr">
              <a:lnSpc>
                <a:spcPts val="2000"/>
              </a:lnSpc>
            </a:pPr>
            <a:r>
              <a:rPr lang="en-US" sz="2000">
                <a:solidFill>
                  <a:srgbClr val="27194D">
                    <a:alpha val="55686"/>
                  </a:srgbClr>
                </a:solidFill>
                <a:latin typeface="Open Sans"/>
                <a:ea typeface="Open Sans"/>
                <a:cs typeface="Open Sans"/>
                <a:sym typeface="Open Sans"/>
              </a:rPr>
              <a:t>LAYANAN</a:t>
            </a:r>
          </a:p>
        </p:txBody>
      </p:sp>
      <p:sp>
        <p:nvSpPr>
          <p:cNvPr name="TextBox 20" id="20"/>
          <p:cNvSpPr txBox="true"/>
          <p:nvPr/>
        </p:nvSpPr>
        <p:spPr>
          <a:xfrm rot="0">
            <a:off x="9810993" y="1200266"/>
            <a:ext cx="1293441" cy="269875"/>
          </a:xfrm>
          <a:prstGeom prst="rect">
            <a:avLst/>
          </a:prstGeom>
        </p:spPr>
        <p:txBody>
          <a:bodyPr anchor="t" rtlCol="false" tIns="0" lIns="0" bIns="0" rIns="0">
            <a:spAutoFit/>
          </a:bodyPr>
          <a:lstStyle/>
          <a:p>
            <a:pPr algn="ctr">
              <a:lnSpc>
                <a:spcPts val="2000"/>
              </a:lnSpc>
            </a:pPr>
            <a:r>
              <a:rPr lang="en-US" b="true" sz="2000">
                <a:solidFill>
                  <a:srgbClr val="5D4FCA"/>
                </a:solidFill>
                <a:latin typeface="Open Sans Bold"/>
                <a:ea typeface="Open Sans Bold"/>
                <a:cs typeface="Open Sans Bold"/>
                <a:sym typeface="Open Sans Bold"/>
              </a:rPr>
              <a:t>BERANDA</a:t>
            </a:r>
          </a:p>
        </p:txBody>
      </p:sp>
      <p:sp>
        <p:nvSpPr>
          <p:cNvPr name="TextBox 21" id="21"/>
          <p:cNvSpPr txBox="true"/>
          <p:nvPr/>
        </p:nvSpPr>
        <p:spPr>
          <a:xfrm rot="0">
            <a:off x="1847695" y="1119177"/>
            <a:ext cx="3115460" cy="443865"/>
          </a:xfrm>
          <a:prstGeom prst="rect">
            <a:avLst/>
          </a:prstGeom>
        </p:spPr>
        <p:txBody>
          <a:bodyPr anchor="t" rtlCol="false" tIns="0" lIns="0" bIns="0" rIns="0">
            <a:spAutoFit/>
          </a:bodyPr>
          <a:lstStyle/>
          <a:p>
            <a:pPr algn="l">
              <a:lnSpc>
                <a:spcPts val="3329"/>
              </a:lnSpc>
            </a:pPr>
            <a:r>
              <a:rPr lang="en-US" sz="2999" b="true">
                <a:solidFill>
                  <a:srgbClr val="5D4FCA"/>
                </a:solidFill>
                <a:latin typeface="Roboto Condensed Bold"/>
                <a:ea typeface="Roboto Condensed Bold"/>
                <a:cs typeface="Roboto Condensed Bold"/>
                <a:sym typeface="Roboto Condensed Bold"/>
              </a:rPr>
              <a:t>PROSES WRANLING</a:t>
            </a:r>
          </a:p>
        </p:txBody>
      </p:sp>
      <p:sp>
        <p:nvSpPr>
          <p:cNvPr name="TextBox 22" id="22"/>
          <p:cNvSpPr txBox="true"/>
          <p:nvPr/>
        </p:nvSpPr>
        <p:spPr>
          <a:xfrm rot="0">
            <a:off x="2267261" y="3048013"/>
            <a:ext cx="5030658" cy="3440187"/>
          </a:xfrm>
          <a:prstGeom prst="rect">
            <a:avLst/>
          </a:prstGeom>
        </p:spPr>
        <p:txBody>
          <a:bodyPr anchor="t" rtlCol="false" tIns="0" lIns="0" bIns="0" rIns="0">
            <a:spAutoFit/>
          </a:bodyPr>
          <a:lstStyle/>
          <a:p>
            <a:pPr algn="just">
              <a:lnSpc>
                <a:spcPts val="2520"/>
              </a:lnSpc>
            </a:pPr>
            <a:r>
              <a:rPr lang="en-US" sz="1800">
                <a:solidFill>
                  <a:srgbClr val="000000"/>
                </a:solidFill>
                <a:latin typeface="Open Sans"/>
                <a:ea typeface="Open Sans"/>
                <a:cs typeface="Open Sans"/>
                <a:sym typeface="Open Sans"/>
              </a:rPr>
              <a:t>Pada data ini output yang dihasilkan berhasil dilakukan, di mana kolom dari berbagai sumber data (umur, pendidikan, gender, dan TPT) telah digabung menjadi satu tabel.</a:t>
            </a:r>
          </a:p>
          <a:p>
            <a:pPr algn="just">
              <a:lnSpc>
                <a:spcPts val="2520"/>
              </a:lnSpc>
            </a:pPr>
            <a:r>
              <a:rPr lang="en-US" sz="1800">
                <a:solidFill>
                  <a:srgbClr val="000000"/>
                </a:solidFill>
                <a:latin typeface="Open Sans"/>
                <a:ea typeface="Open Sans"/>
                <a:cs typeface="Open Sans"/>
                <a:sym typeface="Open Sans"/>
              </a:rPr>
              <a:t>Isi tabel mencakup:</a:t>
            </a:r>
          </a:p>
          <a:p>
            <a:pPr algn="just" marL="388622" indent="-194311" lvl="1">
              <a:lnSpc>
                <a:spcPts val="2520"/>
              </a:lnSpc>
              <a:buFont typeface="Arial"/>
              <a:buChar char="•"/>
            </a:pPr>
            <a:r>
              <a:rPr lang="en-US" sz="1800">
                <a:solidFill>
                  <a:srgbClr val="000000"/>
                </a:solidFill>
                <a:latin typeface="Open Sans"/>
                <a:ea typeface="Open Sans"/>
                <a:cs typeface="Open Sans"/>
                <a:sym typeface="Open Sans"/>
              </a:rPr>
              <a:t>Kolom umur (15–19, 20–24, 25–29, dst.)</a:t>
            </a:r>
          </a:p>
          <a:p>
            <a:pPr algn="just" marL="388622" indent="-194311" lvl="1">
              <a:lnSpc>
                <a:spcPts val="2520"/>
              </a:lnSpc>
              <a:buFont typeface="Arial"/>
              <a:buChar char="•"/>
            </a:pPr>
            <a:r>
              <a:rPr lang="en-US" sz="1800">
                <a:solidFill>
                  <a:srgbClr val="000000"/>
                </a:solidFill>
                <a:latin typeface="Open Sans"/>
                <a:ea typeface="Open Sans"/>
                <a:cs typeface="Open Sans"/>
                <a:sym typeface="Open Sans"/>
              </a:rPr>
              <a:t>Kolom pendidikan (SD, SLTP, SLTA, SMK, Akademi/Diploma, Universitas, Total)</a:t>
            </a:r>
          </a:p>
          <a:p>
            <a:pPr algn="just" marL="388622" indent="-194311" lvl="1">
              <a:lnSpc>
                <a:spcPts val="2520"/>
              </a:lnSpc>
              <a:buFont typeface="Arial"/>
              <a:buChar char="•"/>
            </a:pPr>
            <a:r>
              <a:rPr lang="en-US" sz="1800">
                <a:solidFill>
                  <a:srgbClr val="000000"/>
                </a:solidFill>
                <a:latin typeface="Open Sans"/>
                <a:ea typeface="Open Sans"/>
                <a:cs typeface="Open Sans"/>
                <a:sym typeface="Open Sans"/>
              </a:rPr>
              <a:t>Kolom gender (Laki-laki, Perempuan)</a:t>
            </a:r>
          </a:p>
          <a:p>
            <a:pPr algn="just" marL="388622" indent="-194311" lvl="1">
              <a:lnSpc>
                <a:spcPts val="2520"/>
              </a:lnSpc>
              <a:buFont typeface="Arial"/>
              <a:buChar char="•"/>
            </a:pPr>
            <a:r>
              <a:rPr lang="en-US" sz="1800">
                <a:solidFill>
                  <a:srgbClr val="000000"/>
                </a:solidFill>
                <a:latin typeface="Open Sans"/>
                <a:ea typeface="Open Sans"/>
                <a:cs typeface="Open Sans"/>
                <a:sym typeface="Open Sans"/>
              </a:rPr>
              <a:t>Nilai TPT (Value)</a:t>
            </a:r>
          </a:p>
          <a:p>
            <a:pPr algn="just" marL="0" indent="0" lvl="0">
              <a:lnSpc>
                <a:spcPts val="2520"/>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FF8E9"/>
        </a:solidFill>
      </p:bgPr>
    </p:bg>
    <p:spTree>
      <p:nvGrpSpPr>
        <p:cNvPr id="1" name=""/>
        <p:cNvGrpSpPr/>
        <p:nvPr/>
      </p:nvGrpSpPr>
      <p:grpSpPr>
        <a:xfrm>
          <a:off x="0" y="0"/>
          <a:ext cx="0" cy="0"/>
          <a:chOff x="0" y="0"/>
          <a:chExt cx="0" cy="0"/>
        </a:xfrm>
      </p:grpSpPr>
      <p:grpSp>
        <p:nvGrpSpPr>
          <p:cNvPr name="Group 2" id="2"/>
          <p:cNvGrpSpPr/>
          <p:nvPr/>
        </p:nvGrpSpPr>
        <p:grpSpPr>
          <a:xfrm rot="0">
            <a:off x="13138009" y="1035414"/>
            <a:ext cx="4121291" cy="571004"/>
            <a:chOff x="0" y="0"/>
            <a:chExt cx="1370603" cy="189897"/>
          </a:xfrm>
        </p:grpSpPr>
        <p:sp>
          <p:nvSpPr>
            <p:cNvPr name="Freeform 3" id="3"/>
            <p:cNvSpPr/>
            <p:nvPr/>
          </p:nvSpPr>
          <p:spPr>
            <a:xfrm flipH="false" flipV="false" rot="0">
              <a:off x="0" y="0"/>
              <a:ext cx="1370603" cy="189897"/>
            </a:xfrm>
            <a:custGeom>
              <a:avLst/>
              <a:gdLst/>
              <a:ahLst/>
              <a:cxnLst/>
              <a:rect r="r" b="b" t="t" l="l"/>
              <a:pathLst>
                <a:path h="189897" w="1370603">
                  <a:moveTo>
                    <a:pt x="94948" y="0"/>
                  </a:moveTo>
                  <a:lnTo>
                    <a:pt x="1275655" y="0"/>
                  </a:lnTo>
                  <a:cubicBezTo>
                    <a:pt x="1300837" y="0"/>
                    <a:pt x="1324987" y="10003"/>
                    <a:pt x="1342794" y="27810"/>
                  </a:cubicBezTo>
                  <a:cubicBezTo>
                    <a:pt x="1360600" y="45616"/>
                    <a:pt x="1370603" y="69767"/>
                    <a:pt x="1370603" y="94948"/>
                  </a:cubicBezTo>
                  <a:lnTo>
                    <a:pt x="1370603" y="94948"/>
                  </a:lnTo>
                  <a:cubicBezTo>
                    <a:pt x="1370603" y="147387"/>
                    <a:pt x="1328094" y="189897"/>
                    <a:pt x="1275655" y="189897"/>
                  </a:cubicBezTo>
                  <a:lnTo>
                    <a:pt x="94948" y="189897"/>
                  </a:lnTo>
                  <a:cubicBezTo>
                    <a:pt x="42510" y="189897"/>
                    <a:pt x="0" y="147387"/>
                    <a:pt x="0" y="94948"/>
                  </a:cubicBezTo>
                  <a:lnTo>
                    <a:pt x="0" y="94948"/>
                  </a:lnTo>
                  <a:cubicBezTo>
                    <a:pt x="0" y="42510"/>
                    <a:pt x="42510" y="0"/>
                    <a:pt x="94948" y="0"/>
                  </a:cubicBezTo>
                  <a:close/>
                </a:path>
              </a:pathLst>
            </a:custGeom>
            <a:solidFill>
              <a:srgbClr val="FAA607"/>
            </a:solidFill>
            <a:ln cap="rnd">
              <a:noFill/>
              <a:prstDash val="solid"/>
              <a:round/>
            </a:ln>
          </p:spPr>
        </p:sp>
        <p:sp>
          <p:nvSpPr>
            <p:cNvPr name="TextBox 4" id="4"/>
            <p:cNvSpPr txBox="true"/>
            <p:nvPr/>
          </p:nvSpPr>
          <p:spPr>
            <a:xfrm>
              <a:off x="0" y="-57150"/>
              <a:ext cx="1370603" cy="247047"/>
            </a:xfrm>
            <a:prstGeom prst="rect">
              <a:avLst/>
            </a:prstGeom>
          </p:spPr>
          <p:txBody>
            <a:bodyPr anchor="ctr" rtlCol="false" tIns="50800" lIns="50800" bIns="50800" rIns="50800"/>
            <a:lstStyle/>
            <a:p>
              <a:pPr algn="ctr" marL="0" indent="0" lvl="0">
                <a:lnSpc>
                  <a:spcPts val="2824"/>
                </a:lnSpc>
                <a:spcBef>
                  <a:spcPct val="0"/>
                </a:spcBef>
              </a:pPr>
            </a:p>
          </p:txBody>
        </p:sp>
      </p:grpSp>
      <p:sp>
        <p:nvSpPr>
          <p:cNvPr name="Freeform 5" id="5"/>
          <p:cNvSpPr/>
          <p:nvPr/>
        </p:nvSpPr>
        <p:spPr>
          <a:xfrm flipH="false" flipV="false" rot="0">
            <a:off x="16815378" y="1166754"/>
            <a:ext cx="296763" cy="308325"/>
          </a:xfrm>
          <a:custGeom>
            <a:avLst/>
            <a:gdLst/>
            <a:ahLst/>
            <a:cxnLst/>
            <a:rect r="r" b="b" t="t" l="l"/>
            <a:pathLst>
              <a:path h="308325" w="296763">
                <a:moveTo>
                  <a:pt x="0" y="0"/>
                </a:moveTo>
                <a:lnTo>
                  <a:pt x="296763" y="0"/>
                </a:lnTo>
                <a:lnTo>
                  <a:pt x="296763" y="308325"/>
                </a:lnTo>
                <a:lnTo>
                  <a:pt x="0" y="30832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2145208">
            <a:off x="-1908576" y="445835"/>
            <a:ext cx="8984724" cy="4018622"/>
          </a:xfrm>
          <a:custGeom>
            <a:avLst/>
            <a:gdLst/>
            <a:ahLst/>
            <a:cxnLst/>
            <a:rect r="r" b="b" t="t" l="l"/>
            <a:pathLst>
              <a:path h="4018622" w="8984724">
                <a:moveTo>
                  <a:pt x="0" y="0"/>
                </a:moveTo>
                <a:lnTo>
                  <a:pt x="8984724" y="0"/>
                </a:lnTo>
                <a:lnTo>
                  <a:pt x="8984724" y="4018622"/>
                </a:lnTo>
                <a:lnTo>
                  <a:pt x="0" y="401862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2145208">
            <a:off x="12148525" y="4221640"/>
            <a:ext cx="8984724" cy="4018622"/>
          </a:xfrm>
          <a:custGeom>
            <a:avLst/>
            <a:gdLst/>
            <a:ahLst/>
            <a:cxnLst/>
            <a:rect r="r" b="b" t="t" l="l"/>
            <a:pathLst>
              <a:path h="4018622" w="8984724">
                <a:moveTo>
                  <a:pt x="0" y="0"/>
                </a:moveTo>
                <a:lnTo>
                  <a:pt x="8984724" y="0"/>
                </a:lnTo>
                <a:lnTo>
                  <a:pt x="8984724" y="4018622"/>
                </a:lnTo>
                <a:lnTo>
                  <a:pt x="0" y="401862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028700" y="2458569"/>
            <a:ext cx="5054516" cy="5041879"/>
          </a:xfrm>
          <a:custGeom>
            <a:avLst/>
            <a:gdLst/>
            <a:ahLst/>
            <a:cxnLst/>
            <a:rect r="r" b="b" t="t" l="l"/>
            <a:pathLst>
              <a:path h="5041879" w="5054516">
                <a:moveTo>
                  <a:pt x="0" y="0"/>
                </a:moveTo>
                <a:lnTo>
                  <a:pt x="5054516" y="0"/>
                </a:lnTo>
                <a:lnTo>
                  <a:pt x="5054516" y="5041879"/>
                </a:lnTo>
                <a:lnTo>
                  <a:pt x="0" y="504187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1028700" y="1049653"/>
            <a:ext cx="647545" cy="495666"/>
          </a:xfrm>
          <a:custGeom>
            <a:avLst/>
            <a:gdLst/>
            <a:ahLst/>
            <a:cxnLst/>
            <a:rect r="r" b="b" t="t" l="l"/>
            <a:pathLst>
              <a:path h="495666" w="647545">
                <a:moveTo>
                  <a:pt x="0" y="0"/>
                </a:moveTo>
                <a:lnTo>
                  <a:pt x="647545" y="0"/>
                </a:lnTo>
                <a:lnTo>
                  <a:pt x="647545" y="495666"/>
                </a:lnTo>
                <a:lnTo>
                  <a:pt x="0" y="49566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737715">
            <a:off x="15592676" y="7359466"/>
            <a:ext cx="3845468" cy="4114800"/>
          </a:xfrm>
          <a:custGeom>
            <a:avLst/>
            <a:gdLst/>
            <a:ahLst/>
            <a:cxnLst/>
            <a:rect r="r" b="b" t="t" l="l"/>
            <a:pathLst>
              <a:path h="4114800" w="3845468">
                <a:moveTo>
                  <a:pt x="0" y="0"/>
                </a:moveTo>
                <a:lnTo>
                  <a:pt x="3845467" y="0"/>
                </a:lnTo>
                <a:lnTo>
                  <a:pt x="3845467"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6034560">
            <a:off x="-1502391" y="7200900"/>
            <a:ext cx="3845468" cy="4114800"/>
          </a:xfrm>
          <a:custGeom>
            <a:avLst/>
            <a:gdLst/>
            <a:ahLst/>
            <a:cxnLst/>
            <a:rect r="r" b="b" t="t" l="l"/>
            <a:pathLst>
              <a:path h="4114800" w="3845468">
                <a:moveTo>
                  <a:pt x="0" y="0"/>
                </a:moveTo>
                <a:lnTo>
                  <a:pt x="3845468" y="0"/>
                </a:lnTo>
                <a:lnTo>
                  <a:pt x="3845468"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2" id="12"/>
          <p:cNvSpPr/>
          <p:nvPr/>
        </p:nvSpPr>
        <p:spPr>
          <a:xfrm flipH="false" flipV="false" rot="-1342151">
            <a:off x="7403138" y="1649866"/>
            <a:ext cx="626952" cy="392130"/>
          </a:xfrm>
          <a:custGeom>
            <a:avLst/>
            <a:gdLst/>
            <a:ahLst/>
            <a:cxnLst/>
            <a:rect r="r" b="b" t="t" l="l"/>
            <a:pathLst>
              <a:path h="392130" w="626952">
                <a:moveTo>
                  <a:pt x="0" y="0"/>
                </a:moveTo>
                <a:lnTo>
                  <a:pt x="626953" y="0"/>
                </a:lnTo>
                <a:lnTo>
                  <a:pt x="626953" y="392130"/>
                </a:lnTo>
                <a:lnTo>
                  <a:pt x="0" y="39213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3" id="13"/>
          <p:cNvSpPr/>
          <p:nvPr/>
        </p:nvSpPr>
        <p:spPr>
          <a:xfrm flipH="false" flipV="false" rot="6902289">
            <a:off x="16690589" y="8888367"/>
            <a:ext cx="1034860" cy="383329"/>
          </a:xfrm>
          <a:custGeom>
            <a:avLst/>
            <a:gdLst/>
            <a:ahLst/>
            <a:cxnLst/>
            <a:rect r="r" b="b" t="t" l="l"/>
            <a:pathLst>
              <a:path h="383329" w="1034860">
                <a:moveTo>
                  <a:pt x="0" y="0"/>
                </a:moveTo>
                <a:lnTo>
                  <a:pt x="1034860" y="0"/>
                </a:lnTo>
                <a:lnTo>
                  <a:pt x="1034860" y="383330"/>
                </a:lnTo>
                <a:lnTo>
                  <a:pt x="0" y="383330"/>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14" id="14"/>
          <p:cNvSpPr txBox="true"/>
          <p:nvPr/>
        </p:nvSpPr>
        <p:spPr>
          <a:xfrm rot="0">
            <a:off x="11428284" y="1200266"/>
            <a:ext cx="1370528" cy="269875"/>
          </a:xfrm>
          <a:prstGeom prst="rect">
            <a:avLst/>
          </a:prstGeom>
        </p:spPr>
        <p:txBody>
          <a:bodyPr anchor="t" rtlCol="false" tIns="0" lIns="0" bIns="0" rIns="0">
            <a:spAutoFit/>
          </a:bodyPr>
          <a:lstStyle/>
          <a:p>
            <a:pPr algn="ctr">
              <a:lnSpc>
                <a:spcPts val="2000"/>
              </a:lnSpc>
            </a:pPr>
            <a:r>
              <a:rPr lang="en-US" sz="2000">
                <a:solidFill>
                  <a:srgbClr val="27194D">
                    <a:alpha val="55686"/>
                  </a:srgbClr>
                </a:solidFill>
                <a:latin typeface="Open Sans"/>
                <a:ea typeface="Open Sans"/>
                <a:cs typeface="Open Sans"/>
                <a:sym typeface="Open Sans"/>
              </a:rPr>
              <a:t>LAYANAN</a:t>
            </a:r>
          </a:p>
        </p:txBody>
      </p:sp>
      <p:sp>
        <p:nvSpPr>
          <p:cNvPr name="TextBox 15" id="15"/>
          <p:cNvSpPr txBox="true"/>
          <p:nvPr/>
        </p:nvSpPr>
        <p:spPr>
          <a:xfrm rot="0">
            <a:off x="9810993" y="1200266"/>
            <a:ext cx="1293441" cy="269875"/>
          </a:xfrm>
          <a:prstGeom prst="rect">
            <a:avLst/>
          </a:prstGeom>
        </p:spPr>
        <p:txBody>
          <a:bodyPr anchor="t" rtlCol="false" tIns="0" lIns="0" bIns="0" rIns="0">
            <a:spAutoFit/>
          </a:bodyPr>
          <a:lstStyle/>
          <a:p>
            <a:pPr algn="ctr">
              <a:lnSpc>
                <a:spcPts val="2000"/>
              </a:lnSpc>
            </a:pPr>
            <a:r>
              <a:rPr lang="en-US" b="true" sz="2000">
                <a:solidFill>
                  <a:srgbClr val="5D4FCA"/>
                </a:solidFill>
                <a:latin typeface="Open Sans Bold"/>
                <a:ea typeface="Open Sans Bold"/>
                <a:cs typeface="Open Sans Bold"/>
                <a:sym typeface="Open Sans Bold"/>
              </a:rPr>
              <a:t>BERANDA</a:t>
            </a:r>
          </a:p>
        </p:txBody>
      </p:sp>
      <p:sp>
        <p:nvSpPr>
          <p:cNvPr name="TextBox 16" id="16"/>
          <p:cNvSpPr txBox="true"/>
          <p:nvPr/>
        </p:nvSpPr>
        <p:spPr>
          <a:xfrm rot="0">
            <a:off x="6648004" y="2931940"/>
            <a:ext cx="8912861" cy="1758950"/>
          </a:xfrm>
          <a:prstGeom prst="rect">
            <a:avLst/>
          </a:prstGeom>
        </p:spPr>
        <p:txBody>
          <a:bodyPr anchor="t" rtlCol="false" tIns="0" lIns="0" bIns="0" rIns="0">
            <a:spAutoFit/>
          </a:bodyPr>
          <a:lstStyle/>
          <a:p>
            <a:pPr algn="l" marL="0" indent="0" lvl="0">
              <a:lnSpc>
                <a:spcPts val="2800"/>
              </a:lnSpc>
            </a:pPr>
            <a:r>
              <a:rPr lang="en-US" sz="2000">
                <a:solidFill>
                  <a:srgbClr val="000000"/>
                </a:solidFill>
                <a:latin typeface="Open Sans"/>
                <a:ea typeface="Open Sans"/>
                <a:cs typeface="Open Sans"/>
                <a:sym typeface="Open Sans"/>
              </a:rPr>
              <a:t>Data cleaning (pembersihan data) adalah proses memperbaiki data agar lebih akurat, konsisten, dan siap digunakan untuk analisis. Secara lebih spesifik, data cleaning mencakup kegiatan seperti menghapus data yang tercatat dua kali, mengisi atau menangani nilai yang kosong, serta memperbaiki format yang salah. </a:t>
            </a:r>
          </a:p>
        </p:txBody>
      </p:sp>
      <p:sp>
        <p:nvSpPr>
          <p:cNvPr name="TextBox 17" id="17"/>
          <p:cNvSpPr txBox="true"/>
          <p:nvPr/>
        </p:nvSpPr>
        <p:spPr>
          <a:xfrm rot="0">
            <a:off x="1847695" y="1109652"/>
            <a:ext cx="3115460" cy="422529"/>
          </a:xfrm>
          <a:prstGeom prst="rect">
            <a:avLst/>
          </a:prstGeom>
        </p:spPr>
        <p:txBody>
          <a:bodyPr anchor="t" rtlCol="false" tIns="0" lIns="0" bIns="0" rIns="0">
            <a:spAutoFit/>
          </a:bodyPr>
          <a:lstStyle/>
          <a:p>
            <a:pPr algn="l">
              <a:lnSpc>
                <a:spcPts val="3107"/>
              </a:lnSpc>
            </a:pPr>
            <a:r>
              <a:rPr lang="en-US" sz="2799" b="true">
                <a:solidFill>
                  <a:srgbClr val="5D4FCA"/>
                </a:solidFill>
                <a:latin typeface="Roboto Condensed Bold"/>
                <a:ea typeface="Roboto Condensed Bold"/>
                <a:cs typeface="Roboto Condensed Bold"/>
                <a:sym typeface="Roboto Condensed Bold"/>
              </a:rPr>
              <a:t>PROSES WRANLING</a:t>
            </a:r>
          </a:p>
        </p:txBody>
      </p:sp>
      <p:sp>
        <p:nvSpPr>
          <p:cNvPr name="TextBox 18" id="18"/>
          <p:cNvSpPr txBox="true"/>
          <p:nvPr/>
        </p:nvSpPr>
        <p:spPr>
          <a:xfrm rot="0">
            <a:off x="6648004" y="2227086"/>
            <a:ext cx="9847540" cy="632079"/>
          </a:xfrm>
          <a:prstGeom prst="rect">
            <a:avLst/>
          </a:prstGeom>
        </p:spPr>
        <p:txBody>
          <a:bodyPr anchor="t" rtlCol="false" tIns="0" lIns="0" bIns="0" rIns="0">
            <a:spAutoFit/>
          </a:bodyPr>
          <a:lstStyle/>
          <a:p>
            <a:pPr algn="l">
              <a:lnSpc>
                <a:spcPts val="5043"/>
              </a:lnSpc>
            </a:pPr>
            <a:r>
              <a:rPr lang="en-US" sz="4100" b="true">
                <a:solidFill>
                  <a:srgbClr val="27194D"/>
                </a:solidFill>
                <a:latin typeface="Roboto Condensed Bold"/>
                <a:ea typeface="Roboto Condensed Bold"/>
                <a:cs typeface="Roboto Condensed Bold"/>
                <a:sym typeface="Roboto Condensed Bold"/>
              </a:rPr>
              <a:t>CLEANING DATA</a:t>
            </a:r>
          </a:p>
        </p:txBody>
      </p:sp>
      <p:sp>
        <p:nvSpPr>
          <p:cNvPr name="TextBox 19" id="19"/>
          <p:cNvSpPr txBox="true"/>
          <p:nvPr/>
        </p:nvSpPr>
        <p:spPr>
          <a:xfrm rot="0">
            <a:off x="1543392" y="2217561"/>
            <a:ext cx="744481" cy="650748"/>
          </a:xfrm>
          <a:prstGeom prst="rect">
            <a:avLst/>
          </a:prstGeom>
        </p:spPr>
        <p:txBody>
          <a:bodyPr anchor="t" rtlCol="false" tIns="0" lIns="0" bIns="0" rIns="0">
            <a:spAutoFit/>
          </a:bodyPr>
          <a:lstStyle/>
          <a:p>
            <a:pPr algn="ctr">
              <a:lnSpc>
                <a:spcPts val="5166"/>
              </a:lnSpc>
            </a:pPr>
            <a:r>
              <a:rPr lang="en-US" b="true" sz="4200">
                <a:solidFill>
                  <a:srgbClr val="FFF8E9"/>
                </a:solidFill>
                <a:latin typeface="Roboto Condensed Bold"/>
                <a:ea typeface="Roboto Condensed Bold"/>
                <a:cs typeface="Roboto Condensed Bold"/>
                <a:sym typeface="Roboto Condensed Bold"/>
              </a:rPr>
              <a:t>01</a:t>
            </a:r>
          </a:p>
        </p:txBody>
      </p:sp>
      <p:sp>
        <p:nvSpPr>
          <p:cNvPr name="TextBox 20" id="20"/>
          <p:cNvSpPr txBox="true"/>
          <p:nvPr/>
        </p:nvSpPr>
        <p:spPr>
          <a:xfrm rot="0">
            <a:off x="6513259" y="4776615"/>
            <a:ext cx="11002151" cy="5657215"/>
          </a:xfrm>
          <a:prstGeom prst="rect">
            <a:avLst/>
          </a:prstGeom>
        </p:spPr>
        <p:txBody>
          <a:bodyPr anchor="t" rtlCol="false" tIns="0" lIns="0" bIns="0" rIns="0">
            <a:spAutoFit/>
          </a:bodyPr>
          <a:lstStyle/>
          <a:p>
            <a:pPr algn="l">
              <a:lnSpc>
                <a:spcPts val="2660"/>
              </a:lnSpc>
            </a:pPr>
            <a:r>
              <a:rPr lang="en-US" sz="1900" b="true">
                <a:solidFill>
                  <a:srgbClr val="FAA607"/>
                </a:solidFill>
                <a:latin typeface="Open Sans Bold"/>
                <a:ea typeface="Open Sans Bold"/>
                <a:cs typeface="Open Sans Bold"/>
                <a:sym typeface="Open Sans Bold"/>
              </a:rPr>
              <a:t>1. Standardisasi Nama Kolom</a:t>
            </a:r>
          </a:p>
          <a:p>
            <a:pPr algn="l">
              <a:lnSpc>
                <a:spcPts val="2660"/>
              </a:lnSpc>
            </a:pPr>
            <a:r>
              <a:rPr lang="en-US" sz="1900">
                <a:solidFill>
                  <a:srgbClr val="000000"/>
                </a:solidFill>
                <a:latin typeface="Open Sans"/>
                <a:ea typeface="Open Sans"/>
                <a:cs typeface="Open Sans"/>
                <a:sym typeface="Open Sans"/>
              </a:rPr>
              <a:t>Membersihkan nama kolom dengan menghapus spasi dan mengganti karakter tidak valid agar lebih konsisten dan mudah diproses.</a:t>
            </a:r>
          </a:p>
          <a:p>
            <a:pPr algn="l">
              <a:lnSpc>
                <a:spcPts val="2660"/>
              </a:lnSpc>
            </a:pPr>
            <a:r>
              <a:rPr lang="en-US" sz="1900" b="true">
                <a:solidFill>
                  <a:srgbClr val="FAA607"/>
                </a:solidFill>
                <a:latin typeface="Open Sans Bold"/>
                <a:ea typeface="Open Sans Bold"/>
                <a:cs typeface="Open Sans Bold"/>
                <a:sym typeface="Open Sans Bold"/>
              </a:rPr>
              <a:t>2. Konversi Tipe Data</a:t>
            </a:r>
          </a:p>
          <a:p>
            <a:pPr algn="l">
              <a:lnSpc>
                <a:spcPts val="2660"/>
              </a:lnSpc>
            </a:pPr>
            <a:r>
              <a:rPr lang="en-US" sz="1900">
                <a:solidFill>
                  <a:srgbClr val="000000"/>
                </a:solidFill>
                <a:latin typeface="Open Sans"/>
                <a:ea typeface="Open Sans"/>
                <a:cs typeface="Open Sans"/>
                <a:sym typeface="Open Sans"/>
              </a:rPr>
              <a:t>Mengubah kolom menjadi tipe numerik untuk memastikan data dapat dihitung dengan benar.</a:t>
            </a:r>
          </a:p>
          <a:p>
            <a:pPr algn="l">
              <a:lnSpc>
                <a:spcPts val="2660"/>
              </a:lnSpc>
            </a:pPr>
            <a:r>
              <a:rPr lang="en-US" sz="1900" b="true">
                <a:solidFill>
                  <a:srgbClr val="FAA607"/>
                </a:solidFill>
                <a:latin typeface="Open Sans Bold"/>
                <a:ea typeface="Open Sans Bold"/>
                <a:cs typeface="Open Sans Bold"/>
                <a:sym typeface="Open Sans Bold"/>
              </a:rPr>
              <a:t>3. Penanganan Missing Values</a:t>
            </a:r>
          </a:p>
          <a:p>
            <a:pPr algn="l">
              <a:lnSpc>
                <a:spcPts val="2660"/>
              </a:lnSpc>
            </a:pPr>
            <a:r>
              <a:rPr lang="en-US" sz="1900">
                <a:solidFill>
                  <a:srgbClr val="000000"/>
                </a:solidFill>
                <a:latin typeface="Open Sans"/>
                <a:ea typeface="Open Sans"/>
                <a:cs typeface="Open Sans"/>
                <a:sym typeface="Open Sans"/>
              </a:rPr>
              <a:t>Mengisi nilai kosong (NaN) dengan angka 0 untuk menghindari error pada perhitungan.</a:t>
            </a:r>
          </a:p>
          <a:p>
            <a:pPr algn="l">
              <a:lnSpc>
                <a:spcPts val="2660"/>
              </a:lnSpc>
            </a:pPr>
            <a:r>
              <a:rPr lang="en-US" sz="1900" b="true">
                <a:solidFill>
                  <a:srgbClr val="FAA607"/>
                </a:solidFill>
                <a:latin typeface="Open Sans Bold"/>
                <a:ea typeface="Open Sans Bold"/>
                <a:cs typeface="Open Sans Bold"/>
                <a:sym typeface="Open Sans Bold"/>
              </a:rPr>
              <a:t>4. Penghapusan Duplikasi</a:t>
            </a:r>
          </a:p>
          <a:p>
            <a:pPr algn="l">
              <a:lnSpc>
                <a:spcPts val="2660"/>
              </a:lnSpc>
            </a:pPr>
            <a:r>
              <a:rPr lang="en-US" sz="1900">
                <a:solidFill>
                  <a:srgbClr val="000000"/>
                </a:solidFill>
                <a:latin typeface="Open Sans"/>
                <a:ea typeface="Open Sans"/>
                <a:cs typeface="Open Sans"/>
                <a:sym typeface="Open Sans"/>
              </a:rPr>
              <a:t>Menghapus baris data yang sama persis untuk mencegah data terhitung dua kali.</a:t>
            </a:r>
          </a:p>
          <a:p>
            <a:pPr algn="l">
              <a:lnSpc>
                <a:spcPts val="2660"/>
              </a:lnSpc>
            </a:pPr>
            <a:r>
              <a:rPr lang="en-US" sz="1900" b="true">
                <a:solidFill>
                  <a:srgbClr val="FAA607"/>
                </a:solidFill>
                <a:latin typeface="Open Sans Bold"/>
                <a:ea typeface="Open Sans Bold"/>
                <a:cs typeface="Open Sans Bold"/>
                <a:sym typeface="Open Sans Bold"/>
              </a:rPr>
              <a:t>5. Filtering Data</a:t>
            </a:r>
          </a:p>
          <a:p>
            <a:pPr algn="l">
              <a:lnSpc>
                <a:spcPts val="2660"/>
              </a:lnSpc>
            </a:pPr>
            <a:r>
              <a:rPr lang="en-US" sz="1900">
                <a:solidFill>
                  <a:srgbClr val="000000"/>
                </a:solidFill>
                <a:latin typeface="Open Sans"/>
                <a:ea typeface="Open Sans"/>
                <a:cs typeface="Open Sans"/>
                <a:sym typeface="Open Sans"/>
              </a:rPr>
              <a:t>Memilih hanya data tahun 2015–2022 agar analisis fokus pada periode yang relevan.</a:t>
            </a:r>
          </a:p>
          <a:p>
            <a:pPr algn="l">
              <a:lnSpc>
                <a:spcPts val="2660"/>
              </a:lnSpc>
            </a:pPr>
            <a:r>
              <a:rPr lang="en-US" sz="1900" b="true">
                <a:solidFill>
                  <a:srgbClr val="FAA607"/>
                </a:solidFill>
                <a:latin typeface="Open Sans Bold"/>
                <a:ea typeface="Open Sans Bold"/>
                <a:cs typeface="Open Sans Bold"/>
                <a:sym typeface="Open Sans Bold"/>
              </a:rPr>
              <a:t>6. Pembulatan Angka</a:t>
            </a:r>
          </a:p>
          <a:p>
            <a:pPr algn="l">
              <a:lnSpc>
                <a:spcPts val="2660"/>
              </a:lnSpc>
            </a:pPr>
            <a:r>
              <a:rPr lang="en-US" sz="1900">
                <a:solidFill>
                  <a:srgbClr val="000000"/>
                </a:solidFill>
                <a:latin typeface="Open Sans"/>
                <a:ea typeface="Open Sans"/>
                <a:cs typeface="Open Sans"/>
                <a:sym typeface="Open Sans"/>
              </a:rPr>
              <a:t>Membulatkan nilai numerik menjadi dua desimal agar data lebih rapi.</a:t>
            </a:r>
          </a:p>
          <a:p>
            <a:pPr algn="l">
              <a:lnSpc>
                <a:spcPts val="2660"/>
              </a:lnSpc>
            </a:pPr>
            <a:r>
              <a:rPr lang="en-US" sz="1900" b="true">
                <a:solidFill>
                  <a:srgbClr val="FAA607"/>
                </a:solidFill>
                <a:latin typeface="Open Sans Bold"/>
                <a:ea typeface="Open Sans Bold"/>
                <a:cs typeface="Open Sans Bold"/>
                <a:sym typeface="Open Sans Bold"/>
              </a:rPr>
              <a:t>7. Validasi Data</a:t>
            </a:r>
          </a:p>
          <a:p>
            <a:pPr algn="l">
              <a:lnSpc>
                <a:spcPts val="2660"/>
              </a:lnSpc>
            </a:pPr>
            <a:r>
              <a:rPr lang="en-US" sz="1900">
                <a:solidFill>
                  <a:srgbClr val="000000"/>
                </a:solidFill>
                <a:latin typeface="Open Sans"/>
                <a:ea typeface="Open Sans"/>
                <a:cs typeface="Open Sans"/>
                <a:sym typeface="Open Sans"/>
              </a:rPr>
              <a:t>Melakukan pengecekan ulang seperti statistik ringkas dan jumlah missing value untuk memastikan data siap dianalisis.</a:t>
            </a:r>
          </a:p>
          <a:p>
            <a:pPr algn="l" marL="0" indent="0" lvl="0">
              <a:lnSpc>
                <a:spcPts val="2660"/>
              </a:lnSpc>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FF8E9"/>
        </a:solidFill>
      </p:bgPr>
    </p:bg>
    <p:spTree>
      <p:nvGrpSpPr>
        <p:cNvPr id="1" name=""/>
        <p:cNvGrpSpPr/>
        <p:nvPr/>
      </p:nvGrpSpPr>
      <p:grpSpPr>
        <a:xfrm>
          <a:off x="0" y="0"/>
          <a:ext cx="0" cy="0"/>
          <a:chOff x="0" y="0"/>
          <a:chExt cx="0" cy="0"/>
        </a:xfrm>
      </p:grpSpPr>
      <p:sp>
        <p:nvSpPr>
          <p:cNvPr name="Freeform 2" id="2"/>
          <p:cNvSpPr/>
          <p:nvPr/>
        </p:nvSpPr>
        <p:spPr>
          <a:xfrm flipH="false" flipV="false" rot="-1231210">
            <a:off x="11652954" y="343687"/>
            <a:ext cx="10202489" cy="4563295"/>
          </a:xfrm>
          <a:custGeom>
            <a:avLst/>
            <a:gdLst/>
            <a:ahLst/>
            <a:cxnLst/>
            <a:rect r="r" b="b" t="t" l="l"/>
            <a:pathLst>
              <a:path h="4563295" w="10202489">
                <a:moveTo>
                  <a:pt x="0" y="0"/>
                </a:moveTo>
                <a:lnTo>
                  <a:pt x="10202489" y="0"/>
                </a:lnTo>
                <a:lnTo>
                  <a:pt x="10202489" y="4563295"/>
                </a:lnTo>
                <a:lnTo>
                  <a:pt x="0" y="456329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783636">
            <a:off x="-3990254" y="3759594"/>
            <a:ext cx="12402218" cy="5547174"/>
          </a:xfrm>
          <a:custGeom>
            <a:avLst/>
            <a:gdLst/>
            <a:ahLst/>
            <a:cxnLst/>
            <a:rect r="r" b="b" t="t" l="l"/>
            <a:pathLst>
              <a:path h="5547174" w="12402218">
                <a:moveTo>
                  <a:pt x="0" y="0"/>
                </a:moveTo>
                <a:lnTo>
                  <a:pt x="12402218" y="0"/>
                </a:lnTo>
                <a:lnTo>
                  <a:pt x="12402218" y="5547173"/>
                </a:lnTo>
                <a:lnTo>
                  <a:pt x="0" y="55471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3138009" y="1035414"/>
            <a:ext cx="4121291" cy="571004"/>
            <a:chOff x="0" y="0"/>
            <a:chExt cx="1370603" cy="189897"/>
          </a:xfrm>
        </p:grpSpPr>
        <p:sp>
          <p:nvSpPr>
            <p:cNvPr name="Freeform 5" id="5"/>
            <p:cNvSpPr/>
            <p:nvPr/>
          </p:nvSpPr>
          <p:spPr>
            <a:xfrm flipH="false" flipV="false" rot="0">
              <a:off x="0" y="0"/>
              <a:ext cx="1370603" cy="189897"/>
            </a:xfrm>
            <a:custGeom>
              <a:avLst/>
              <a:gdLst/>
              <a:ahLst/>
              <a:cxnLst/>
              <a:rect r="r" b="b" t="t" l="l"/>
              <a:pathLst>
                <a:path h="189897" w="1370603">
                  <a:moveTo>
                    <a:pt x="94948" y="0"/>
                  </a:moveTo>
                  <a:lnTo>
                    <a:pt x="1275655" y="0"/>
                  </a:lnTo>
                  <a:cubicBezTo>
                    <a:pt x="1300837" y="0"/>
                    <a:pt x="1324987" y="10003"/>
                    <a:pt x="1342794" y="27810"/>
                  </a:cubicBezTo>
                  <a:cubicBezTo>
                    <a:pt x="1360600" y="45616"/>
                    <a:pt x="1370603" y="69767"/>
                    <a:pt x="1370603" y="94948"/>
                  </a:cubicBezTo>
                  <a:lnTo>
                    <a:pt x="1370603" y="94948"/>
                  </a:lnTo>
                  <a:cubicBezTo>
                    <a:pt x="1370603" y="147387"/>
                    <a:pt x="1328094" y="189897"/>
                    <a:pt x="1275655" y="189897"/>
                  </a:cubicBezTo>
                  <a:lnTo>
                    <a:pt x="94948" y="189897"/>
                  </a:lnTo>
                  <a:cubicBezTo>
                    <a:pt x="42510" y="189897"/>
                    <a:pt x="0" y="147387"/>
                    <a:pt x="0" y="94948"/>
                  </a:cubicBezTo>
                  <a:lnTo>
                    <a:pt x="0" y="94948"/>
                  </a:lnTo>
                  <a:cubicBezTo>
                    <a:pt x="0" y="42510"/>
                    <a:pt x="42510" y="0"/>
                    <a:pt x="94948" y="0"/>
                  </a:cubicBezTo>
                  <a:close/>
                </a:path>
              </a:pathLst>
            </a:custGeom>
            <a:solidFill>
              <a:srgbClr val="FAA607"/>
            </a:solidFill>
            <a:ln cap="rnd">
              <a:noFill/>
              <a:prstDash val="solid"/>
              <a:round/>
            </a:ln>
          </p:spPr>
        </p:sp>
        <p:sp>
          <p:nvSpPr>
            <p:cNvPr name="TextBox 6" id="6"/>
            <p:cNvSpPr txBox="true"/>
            <p:nvPr/>
          </p:nvSpPr>
          <p:spPr>
            <a:xfrm>
              <a:off x="0" y="-57150"/>
              <a:ext cx="1370603" cy="247047"/>
            </a:xfrm>
            <a:prstGeom prst="rect">
              <a:avLst/>
            </a:prstGeom>
          </p:spPr>
          <p:txBody>
            <a:bodyPr anchor="ctr" rtlCol="false" tIns="50800" lIns="50800" bIns="50800" rIns="50800"/>
            <a:lstStyle/>
            <a:p>
              <a:pPr algn="ctr" marL="0" indent="0" lvl="0">
                <a:lnSpc>
                  <a:spcPts val="2824"/>
                </a:lnSpc>
                <a:spcBef>
                  <a:spcPct val="0"/>
                </a:spcBef>
              </a:pPr>
            </a:p>
          </p:txBody>
        </p:sp>
      </p:grpSp>
      <p:sp>
        <p:nvSpPr>
          <p:cNvPr name="Freeform 7" id="7"/>
          <p:cNvSpPr/>
          <p:nvPr/>
        </p:nvSpPr>
        <p:spPr>
          <a:xfrm flipH="false" flipV="false" rot="0">
            <a:off x="16815378" y="1166754"/>
            <a:ext cx="296763" cy="308325"/>
          </a:xfrm>
          <a:custGeom>
            <a:avLst/>
            <a:gdLst/>
            <a:ahLst/>
            <a:cxnLst/>
            <a:rect r="r" b="b" t="t" l="l"/>
            <a:pathLst>
              <a:path h="308325" w="296763">
                <a:moveTo>
                  <a:pt x="0" y="0"/>
                </a:moveTo>
                <a:lnTo>
                  <a:pt x="296763" y="0"/>
                </a:lnTo>
                <a:lnTo>
                  <a:pt x="296763" y="308325"/>
                </a:lnTo>
                <a:lnTo>
                  <a:pt x="0" y="30832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028700" y="1049653"/>
            <a:ext cx="647545" cy="495666"/>
          </a:xfrm>
          <a:custGeom>
            <a:avLst/>
            <a:gdLst/>
            <a:ahLst/>
            <a:cxnLst/>
            <a:rect r="r" b="b" t="t" l="l"/>
            <a:pathLst>
              <a:path h="495666" w="647545">
                <a:moveTo>
                  <a:pt x="0" y="0"/>
                </a:moveTo>
                <a:lnTo>
                  <a:pt x="647545" y="0"/>
                </a:lnTo>
                <a:lnTo>
                  <a:pt x="647545" y="495666"/>
                </a:lnTo>
                <a:lnTo>
                  <a:pt x="0" y="49566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429004">
            <a:off x="15336566" y="7695966"/>
            <a:ext cx="3845468" cy="4114800"/>
          </a:xfrm>
          <a:custGeom>
            <a:avLst/>
            <a:gdLst/>
            <a:ahLst/>
            <a:cxnLst/>
            <a:rect r="r" b="b" t="t" l="l"/>
            <a:pathLst>
              <a:path h="4114800" w="3845468">
                <a:moveTo>
                  <a:pt x="0" y="0"/>
                </a:moveTo>
                <a:lnTo>
                  <a:pt x="3845468" y="0"/>
                </a:lnTo>
                <a:lnTo>
                  <a:pt x="3845468"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6034560">
            <a:off x="-1502391" y="7200900"/>
            <a:ext cx="3845468" cy="4114800"/>
          </a:xfrm>
          <a:custGeom>
            <a:avLst/>
            <a:gdLst/>
            <a:ahLst/>
            <a:cxnLst/>
            <a:rect r="r" b="b" t="t" l="l"/>
            <a:pathLst>
              <a:path h="4114800" w="3845468">
                <a:moveTo>
                  <a:pt x="0" y="0"/>
                </a:moveTo>
                <a:lnTo>
                  <a:pt x="3845468" y="0"/>
                </a:lnTo>
                <a:lnTo>
                  <a:pt x="384546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1342151">
            <a:off x="16076218" y="3256173"/>
            <a:ext cx="626952" cy="392130"/>
          </a:xfrm>
          <a:custGeom>
            <a:avLst/>
            <a:gdLst/>
            <a:ahLst/>
            <a:cxnLst/>
            <a:rect r="r" b="b" t="t" l="l"/>
            <a:pathLst>
              <a:path h="392130" w="626952">
                <a:moveTo>
                  <a:pt x="0" y="0"/>
                </a:moveTo>
                <a:lnTo>
                  <a:pt x="626952" y="0"/>
                </a:lnTo>
                <a:lnTo>
                  <a:pt x="626952" y="392130"/>
                </a:lnTo>
                <a:lnTo>
                  <a:pt x="0" y="39213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2" id="12"/>
          <p:cNvSpPr/>
          <p:nvPr/>
        </p:nvSpPr>
        <p:spPr>
          <a:xfrm flipH="false" flipV="false" rot="6902289">
            <a:off x="1227683" y="3770216"/>
            <a:ext cx="1034860" cy="383329"/>
          </a:xfrm>
          <a:custGeom>
            <a:avLst/>
            <a:gdLst/>
            <a:ahLst/>
            <a:cxnLst/>
            <a:rect r="r" b="b" t="t" l="l"/>
            <a:pathLst>
              <a:path h="383329" w="1034860">
                <a:moveTo>
                  <a:pt x="0" y="0"/>
                </a:moveTo>
                <a:lnTo>
                  <a:pt x="1034860" y="0"/>
                </a:lnTo>
                <a:lnTo>
                  <a:pt x="1034860" y="383329"/>
                </a:lnTo>
                <a:lnTo>
                  <a:pt x="0" y="38332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3" id="13"/>
          <p:cNvSpPr/>
          <p:nvPr/>
        </p:nvSpPr>
        <p:spPr>
          <a:xfrm flipH="false" flipV="false" rot="0">
            <a:off x="9364001" y="2000100"/>
            <a:ext cx="5338648" cy="7753266"/>
          </a:xfrm>
          <a:custGeom>
            <a:avLst/>
            <a:gdLst/>
            <a:ahLst/>
            <a:cxnLst/>
            <a:rect r="r" b="b" t="t" l="l"/>
            <a:pathLst>
              <a:path h="7753266" w="5338648">
                <a:moveTo>
                  <a:pt x="0" y="0"/>
                </a:moveTo>
                <a:lnTo>
                  <a:pt x="5338648" y="0"/>
                </a:lnTo>
                <a:lnTo>
                  <a:pt x="5338648" y="7753266"/>
                </a:lnTo>
                <a:lnTo>
                  <a:pt x="0" y="7753266"/>
                </a:lnTo>
                <a:lnTo>
                  <a:pt x="0" y="0"/>
                </a:lnTo>
                <a:close/>
              </a:path>
            </a:pathLst>
          </a:custGeom>
          <a:blipFill>
            <a:blip r:embed="rId16"/>
            <a:stretch>
              <a:fillRect l="0" t="0" r="0" b="0"/>
            </a:stretch>
          </a:blipFill>
        </p:spPr>
      </p:sp>
      <p:sp>
        <p:nvSpPr>
          <p:cNvPr name="TextBox 14" id="14"/>
          <p:cNvSpPr txBox="true"/>
          <p:nvPr/>
        </p:nvSpPr>
        <p:spPr>
          <a:xfrm rot="0">
            <a:off x="11428284" y="1200266"/>
            <a:ext cx="1370528" cy="269875"/>
          </a:xfrm>
          <a:prstGeom prst="rect">
            <a:avLst/>
          </a:prstGeom>
        </p:spPr>
        <p:txBody>
          <a:bodyPr anchor="t" rtlCol="false" tIns="0" lIns="0" bIns="0" rIns="0">
            <a:spAutoFit/>
          </a:bodyPr>
          <a:lstStyle/>
          <a:p>
            <a:pPr algn="ctr">
              <a:lnSpc>
                <a:spcPts val="2000"/>
              </a:lnSpc>
            </a:pPr>
            <a:r>
              <a:rPr lang="en-US" sz="2000">
                <a:solidFill>
                  <a:srgbClr val="27194D">
                    <a:alpha val="55686"/>
                  </a:srgbClr>
                </a:solidFill>
                <a:latin typeface="Open Sans"/>
                <a:ea typeface="Open Sans"/>
                <a:cs typeface="Open Sans"/>
                <a:sym typeface="Open Sans"/>
              </a:rPr>
              <a:t>LAYANAN</a:t>
            </a:r>
          </a:p>
        </p:txBody>
      </p:sp>
      <p:sp>
        <p:nvSpPr>
          <p:cNvPr name="TextBox 15" id="15"/>
          <p:cNvSpPr txBox="true"/>
          <p:nvPr/>
        </p:nvSpPr>
        <p:spPr>
          <a:xfrm rot="0">
            <a:off x="9810993" y="1200266"/>
            <a:ext cx="1293441" cy="269875"/>
          </a:xfrm>
          <a:prstGeom prst="rect">
            <a:avLst/>
          </a:prstGeom>
        </p:spPr>
        <p:txBody>
          <a:bodyPr anchor="t" rtlCol="false" tIns="0" lIns="0" bIns="0" rIns="0">
            <a:spAutoFit/>
          </a:bodyPr>
          <a:lstStyle/>
          <a:p>
            <a:pPr algn="ctr">
              <a:lnSpc>
                <a:spcPts val="2000"/>
              </a:lnSpc>
            </a:pPr>
            <a:r>
              <a:rPr lang="en-US" b="true" sz="2000">
                <a:solidFill>
                  <a:srgbClr val="5D4FCA"/>
                </a:solidFill>
                <a:latin typeface="Open Sans Bold"/>
                <a:ea typeface="Open Sans Bold"/>
                <a:cs typeface="Open Sans Bold"/>
                <a:sym typeface="Open Sans Bold"/>
              </a:rPr>
              <a:t>BERANDA</a:t>
            </a:r>
          </a:p>
        </p:txBody>
      </p:sp>
      <p:sp>
        <p:nvSpPr>
          <p:cNvPr name="TextBox 16" id="16"/>
          <p:cNvSpPr txBox="true"/>
          <p:nvPr/>
        </p:nvSpPr>
        <p:spPr>
          <a:xfrm rot="0">
            <a:off x="1847695" y="1109652"/>
            <a:ext cx="3115460" cy="422529"/>
          </a:xfrm>
          <a:prstGeom prst="rect">
            <a:avLst/>
          </a:prstGeom>
        </p:spPr>
        <p:txBody>
          <a:bodyPr anchor="t" rtlCol="false" tIns="0" lIns="0" bIns="0" rIns="0">
            <a:spAutoFit/>
          </a:bodyPr>
          <a:lstStyle/>
          <a:p>
            <a:pPr algn="l">
              <a:lnSpc>
                <a:spcPts val="3107"/>
              </a:lnSpc>
            </a:pPr>
            <a:r>
              <a:rPr lang="en-US" sz="2799" b="true">
                <a:solidFill>
                  <a:srgbClr val="5D4FCA"/>
                </a:solidFill>
                <a:latin typeface="Roboto Condensed Bold"/>
                <a:ea typeface="Roboto Condensed Bold"/>
                <a:cs typeface="Roboto Condensed Bold"/>
                <a:sym typeface="Roboto Condensed Bold"/>
              </a:rPr>
              <a:t>PROSES WRANLING</a:t>
            </a:r>
          </a:p>
        </p:txBody>
      </p:sp>
      <p:sp>
        <p:nvSpPr>
          <p:cNvPr name="TextBox 17" id="17"/>
          <p:cNvSpPr txBox="true"/>
          <p:nvPr/>
        </p:nvSpPr>
        <p:spPr>
          <a:xfrm rot="0">
            <a:off x="2419661" y="3200413"/>
            <a:ext cx="5030658" cy="3440430"/>
          </a:xfrm>
          <a:prstGeom prst="rect">
            <a:avLst/>
          </a:prstGeom>
        </p:spPr>
        <p:txBody>
          <a:bodyPr anchor="t" rtlCol="false" tIns="0" lIns="0" bIns="0" rIns="0">
            <a:spAutoFit/>
          </a:bodyPr>
          <a:lstStyle/>
          <a:p>
            <a:pPr algn="just">
              <a:lnSpc>
                <a:spcPts val="2520"/>
              </a:lnSpc>
            </a:pPr>
            <a:r>
              <a:rPr lang="en-US" sz="1800">
                <a:solidFill>
                  <a:srgbClr val="000000"/>
                </a:solidFill>
                <a:latin typeface="Open Sans"/>
                <a:ea typeface="Open Sans"/>
                <a:cs typeface="Open Sans"/>
                <a:sym typeface="Open Sans"/>
              </a:rPr>
              <a:t>pada hasil ini output menampilkan statistik ringkas (descriptive statistics) setelah proses pembersihan data.</a:t>
            </a:r>
          </a:p>
          <a:p>
            <a:pPr algn="just">
              <a:lnSpc>
                <a:spcPts val="2520"/>
              </a:lnSpc>
            </a:pPr>
            <a:r>
              <a:rPr lang="en-US" sz="1800">
                <a:solidFill>
                  <a:srgbClr val="000000"/>
                </a:solidFill>
                <a:latin typeface="Open Sans"/>
                <a:ea typeface="Open Sans"/>
                <a:cs typeface="Open Sans"/>
                <a:sym typeface="Open Sans"/>
              </a:rPr>
              <a:t>Statistik yang ditampilkan mencakup:count (jumlah data)</a:t>
            </a:r>
          </a:p>
          <a:p>
            <a:pPr algn="just">
              <a:lnSpc>
                <a:spcPts val="2520"/>
              </a:lnSpc>
            </a:pPr>
          </a:p>
          <a:p>
            <a:pPr algn="just" marL="388622" indent="-194311" lvl="1">
              <a:lnSpc>
                <a:spcPts val="2520"/>
              </a:lnSpc>
              <a:buFont typeface="Arial"/>
              <a:buChar char="•"/>
            </a:pPr>
            <a:r>
              <a:rPr lang="en-US" sz="1800">
                <a:solidFill>
                  <a:srgbClr val="000000"/>
                </a:solidFill>
                <a:latin typeface="Open Sans"/>
                <a:ea typeface="Open Sans"/>
                <a:cs typeface="Open Sans"/>
                <a:sym typeface="Open Sans"/>
              </a:rPr>
              <a:t>mean (rata-rata)</a:t>
            </a:r>
          </a:p>
          <a:p>
            <a:pPr algn="just" marL="388622" indent="-194311" lvl="1">
              <a:lnSpc>
                <a:spcPts val="2520"/>
              </a:lnSpc>
              <a:buFont typeface="Arial"/>
              <a:buChar char="•"/>
            </a:pPr>
            <a:r>
              <a:rPr lang="en-US" sz="1800">
                <a:solidFill>
                  <a:srgbClr val="000000"/>
                </a:solidFill>
                <a:latin typeface="Open Sans"/>
                <a:ea typeface="Open Sans"/>
                <a:cs typeface="Open Sans"/>
                <a:sym typeface="Open Sans"/>
              </a:rPr>
              <a:t>std (standar deviasi)</a:t>
            </a:r>
          </a:p>
          <a:p>
            <a:pPr algn="just" marL="388622" indent="-194311" lvl="1">
              <a:lnSpc>
                <a:spcPts val="2520"/>
              </a:lnSpc>
              <a:buFont typeface="Arial"/>
              <a:buChar char="•"/>
            </a:pPr>
            <a:r>
              <a:rPr lang="en-US" sz="1800">
                <a:solidFill>
                  <a:srgbClr val="000000"/>
                </a:solidFill>
                <a:latin typeface="Open Sans"/>
                <a:ea typeface="Open Sans"/>
                <a:cs typeface="Open Sans"/>
                <a:sym typeface="Open Sans"/>
              </a:rPr>
              <a:t>min – max (nilai minimum dan maksimum)</a:t>
            </a:r>
          </a:p>
          <a:p>
            <a:pPr algn="just" marL="388622" indent="-194311" lvl="1">
              <a:lnSpc>
                <a:spcPts val="2520"/>
              </a:lnSpc>
              <a:buFont typeface="Arial"/>
              <a:buChar char="•"/>
            </a:pPr>
            <a:r>
              <a:rPr lang="en-US" sz="1800">
                <a:solidFill>
                  <a:srgbClr val="000000"/>
                </a:solidFill>
                <a:latin typeface="Open Sans"/>
                <a:ea typeface="Open Sans"/>
                <a:cs typeface="Open Sans"/>
                <a:sym typeface="Open Sans"/>
              </a:rPr>
              <a:t>25%, 50%, 75% (kuartil)</a:t>
            </a:r>
          </a:p>
          <a:p>
            <a:pPr algn="just">
              <a:lnSpc>
                <a:spcPts val="2520"/>
              </a:lnSpc>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FF8E9"/>
        </a:solidFill>
      </p:bgPr>
    </p:bg>
    <p:spTree>
      <p:nvGrpSpPr>
        <p:cNvPr id="1" name=""/>
        <p:cNvGrpSpPr/>
        <p:nvPr/>
      </p:nvGrpSpPr>
      <p:grpSpPr>
        <a:xfrm>
          <a:off x="0" y="0"/>
          <a:ext cx="0" cy="0"/>
          <a:chOff x="0" y="0"/>
          <a:chExt cx="0" cy="0"/>
        </a:xfrm>
      </p:grpSpPr>
      <p:sp>
        <p:nvSpPr>
          <p:cNvPr name="Freeform 2" id="2"/>
          <p:cNvSpPr/>
          <p:nvPr/>
        </p:nvSpPr>
        <p:spPr>
          <a:xfrm flipH="false" flipV="false" rot="-5687936">
            <a:off x="15336566" y="-1307732"/>
            <a:ext cx="3845468" cy="4114800"/>
          </a:xfrm>
          <a:custGeom>
            <a:avLst/>
            <a:gdLst/>
            <a:ahLst/>
            <a:cxnLst/>
            <a:rect r="r" b="b" t="t" l="l"/>
            <a:pathLst>
              <a:path h="4114800" w="3845468">
                <a:moveTo>
                  <a:pt x="0" y="0"/>
                </a:moveTo>
                <a:lnTo>
                  <a:pt x="3845468" y="0"/>
                </a:lnTo>
                <a:lnTo>
                  <a:pt x="3845468"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6034560">
            <a:off x="-1502391" y="7200900"/>
            <a:ext cx="3845468" cy="4114800"/>
          </a:xfrm>
          <a:custGeom>
            <a:avLst/>
            <a:gdLst/>
            <a:ahLst/>
            <a:cxnLst/>
            <a:rect r="r" b="b" t="t" l="l"/>
            <a:pathLst>
              <a:path h="4114800" w="3845468">
                <a:moveTo>
                  <a:pt x="0" y="0"/>
                </a:moveTo>
                <a:lnTo>
                  <a:pt x="3845468" y="0"/>
                </a:lnTo>
                <a:lnTo>
                  <a:pt x="3845468"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2145208">
            <a:off x="7697412" y="4335480"/>
            <a:ext cx="13333067" cy="5963517"/>
          </a:xfrm>
          <a:custGeom>
            <a:avLst/>
            <a:gdLst/>
            <a:ahLst/>
            <a:cxnLst/>
            <a:rect r="r" b="b" t="t" l="l"/>
            <a:pathLst>
              <a:path h="5963517" w="13333067">
                <a:moveTo>
                  <a:pt x="0" y="0"/>
                </a:moveTo>
                <a:lnTo>
                  <a:pt x="13333067" y="0"/>
                </a:lnTo>
                <a:lnTo>
                  <a:pt x="13333067" y="5963518"/>
                </a:lnTo>
                <a:lnTo>
                  <a:pt x="0" y="596351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2145208">
            <a:off x="-4801739" y="2802959"/>
            <a:ext cx="11211722" cy="5014698"/>
          </a:xfrm>
          <a:custGeom>
            <a:avLst/>
            <a:gdLst/>
            <a:ahLst/>
            <a:cxnLst/>
            <a:rect r="r" b="b" t="t" l="l"/>
            <a:pathLst>
              <a:path h="5014698" w="11211722">
                <a:moveTo>
                  <a:pt x="0" y="0"/>
                </a:moveTo>
                <a:lnTo>
                  <a:pt x="11211722" y="0"/>
                </a:lnTo>
                <a:lnTo>
                  <a:pt x="11211722" y="5014698"/>
                </a:lnTo>
                <a:lnTo>
                  <a:pt x="0" y="501469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13138009" y="1035414"/>
            <a:ext cx="4121291" cy="571004"/>
            <a:chOff x="0" y="0"/>
            <a:chExt cx="1370603" cy="189897"/>
          </a:xfrm>
        </p:grpSpPr>
        <p:sp>
          <p:nvSpPr>
            <p:cNvPr name="Freeform 7" id="7"/>
            <p:cNvSpPr/>
            <p:nvPr/>
          </p:nvSpPr>
          <p:spPr>
            <a:xfrm flipH="false" flipV="false" rot="0">
              <a:off x="0" y="0"/>
              <a:ext cx="1370603" cy="189897"/>
            </a:xfrm>
            <a:custGeom>
              <a:avLst/>
              <a:gdLst/>
              <a:ahLst/>
              <a:cxnLst/>
              <a:rect r="r" b="b" t="t" l="l"/>
              <a:pathLst>
                <a:path h="189897" w="1370603">
                  <a:moveTo>
                    <a:pt x="94948" y="0"/>
                  </a:moveTo>
                  <a:lnTo>
                    <a:pt x="1275655" y="0"/>
                  </a:lnTo>
                  <a:cubicBezTo>
                    <a:pt x="1300837" y="0"/>
                    <a:pt x="1324987" y="10003"/>
                    <a:pt x="1342794" y="27810"/>
                  </a:cubicBezTo>
                  <a:cubicBezTo>
                    <a:pt x="1360600" y="45616"/>
                    <a:pt x="1370603" y="69767"/>
                    <a:pt x="1370603" y="94948"/>
                  </a:cubicBezTo>
                  <a:lnTo>
                    <a:pt x="1370603" y="94948"/>
                  </a:lnTo>
                  <a:cubicBezTo>
                    <a:pt x="1370603" y="147387"/>
                    <a:pt x="1328094" y="189897"/>
                    <a:pt x="1275655" y="189897"/>
                  </a:cubicBezTo>
                  <a:lnTo>
                    <a:pt x="94948" y="189897"/>
                  </a:lnTo>
                  <a:cubicBezTo>
                    <a:pt x="42510" y="189897"/>
                    <a:pt x="0" y="147387"/>
                    <a:pt x="0" y="94948"/>
                  </a:cubicBezTo>
                  <a:lnTo>
                    <a:pt x="0" y="94948"/>
                  </a:lnTo>
                  <a:cubicBezTo>
                    <a:pt x="0" y="42510"/>
                    <a:pt x="42510" y="0"/>
                    <a:pt x="94948" y="0"/>
                  </a:cubicBezTo>
                  <a:close/>
                </a:path>
              </a:pathLst>
            </a:custGeom>
            <a:solidFill>
              <a:srgbClr val="FAA607"/>
            </a:solidFill>
            <a:ln cap="rnd">
              <a:noFill/>
              <a:prstDash val="solid"/>
              <a:round/>
            </a:ln>
          </p:spPr>
        </p:sp>
        <p:sp>
          <p:nvSpPr>
            <p:cNvPr name="TextBox 8" id="8"/>
            <p:cNvSpPr txBox="true"/>
            <p:nvPr/>
          </p:nvSpPr>
          <p:spPr>
            <a:xfrm>
              <a:off x="0" y="-57150"/>
              <a:ext cx="1370603" cy="247047"/>
            </a:xfrm>
            <a:prstGeom prst="rect">
              <a:avLst/>
            </a:prstGeom>
          </p:spPr>
          <p:txBody>
            <a:bodyPr anchor="ctr" rtlCol="false" tIns="50800" lIns="50800" bIns="50800" rIns="50800"/>
            <a:lstStyle/>
            <a:p>
              <a:pPr algn="ctr" marL="0" indent="0" lvl="0">
                <a:lnSpc>
                  <a:spcPts val="2824"/>
                </a:lnSpc>
                <a:spcBef>
                  <a:spcPct val="0"/>
                </a:spcBef>
              </a:pPr>
            </a:p>
          </p:txBody>
        </p:sp>
      </p:grpSp>
      <p:sp>
        <p:nvSpPr>
          <p:cNvPr name="Freeform 9" id="9"/>
          <p:cNvSpPr/>
          <p:nvPr/>
        </p:nvSpPr>
        <p:spPr>
          <a:xfrm flipH="false" flipV="false" rot="0">
            <a:off x="16815378" y="1166754"/>
            <a:ext cx="296763" cy="308325"/>
          </a:xfrm>
          <a:custGeom>
            <a:avLst/>
            <a:gdLst/>
            <a:ahLst/>
            <a:cxnLst/>
            <a:rect r="r" b="b" t="t" l="l"/>
            <a:pathLst>
              <a:path h="308325" w="296763">
                <a:moveTo>
                  <a:pt x="0" y="0"/>
                </a:moveTo>
                <a:lnTo>
                  <a:pt x="296763" y="0"/>
                </a:lnTo>
                <a:lnTo>
                  <a:pt x="296763" y="308325"/>
                </a:lnTo>
                <a:lnTo>
                  <a:pt x="0" y="30832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10548510" y="2730690"/>
            <a:ext cx="6563631" cy="6366722"/>
          </a:xfrm>
          <a:custGeom>
            <a:avLst/>
            <a:gdLst/>
            <a:ahLst/>
            <a:cxnLst/>
            <a:rect r="r" b="b" t="t" l="l"/>
            <a:pathLst>
              <a:path h="6366722" w="6563631">
                <a:moveTo>
                  <a:pt x="0" y="0"/>
                </a:moveTo>
                <a:lnTo>
                  <a:pt x="6563631" y="0"/>
                </a:lnTo>
                <a:lnTo>
                  <a:pt x="6563631" y="6366722"/>
                </a:lnTo>
                <a:lnTo>
                  <a:pt x="0" y="636672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11" id="11"/>
          <p:cNvGrpSpPr/>
          <p:nvPr/>
        </p:nvGrpSpPr>
        <p:grpSpPr>
          <a:xfrm rot="0">
            <a:off x="2356946" y="5389590"/>
            <a:ext cx="7454047" cy="3868710"/>
            <a:chOff x="0" y="0"/>
            <a:chExt cx="1963206" cy="1018919"/>
          </a:xfrm>
        </p:grpSpPr>
        <p:sp>
          <p:nvSpPr>
            <p:cNvPr name="Freeform 12" id="12"/>
            <p:cNvSpPr/>
            <p:nvPr/>
          </p:nvSpPr>
          <p:spPr>
            <a:xfrm flipH="false" flipV="false" rot="0">
              <a:off x="0" y="0"/>
              <a:ext cx="1963206" cy="1018919"/>
            </a:xfrm>
            <a:custGeom>
              <a:avLst/>
              <a:gdLst/>
              <a:ahLst/>
              <a:cxnLst/>
              <a:rect r="r" b="b" t="t" l="l"/>
              <a:pathLst>
                <a:path h="1018919" w="1963206">
                  <a:moveTo>
                    <a:pt x="27004" y="0"/>
                  </a:moveTo>
                  <a:lnTo>
                    <a:pt x="1936202" y="0"/>
                  </a:lnTo>
                  <a:cubicBezTo>
                    <a:pt x="1951116" y="0"/>
                    <a:pt x="1963206" y="12090"/>
                    <a:pt x="1963206" y="27004"/>
                  </a:cubicBezTo>
                  <a:lnTo>
                    <a:pt x="1963206" y="991915"/>
                  </a:lnTo>
                  <a:cubicBezTo>
                    <a:pt x="1963206" y="999077"/>
                    <a:pt x="1960361" y="1005946"/>
                    <a:pt x="1955296" y="1011010"/>
                  </a:cubicBezTo>
                  <a:cubicBezTo>
                    <a:pt x="1950232" y="1016074"/>
                    <a:pt x="1943364" y="1018919"/>
                    <a:pt x="1936202" y="1018919"/>
                  </a:cubicBezTo>
                  <a:lnTo>
                    <a:pt x="27004" y="1018919"/>
                  </a:lnTo>
                  <a:cubicBezTo>
                    <a:pt x="12090" y="1018919"/>
                    <a:pt x="0" y="1006829"/>
                    <a:pt x="0" y="991915"/>
                  </a:cubicBezTo>
                  <a:lnTo>
                    <a:pt x="0" y="27004"/>
                  </a:lnTo>
                  <a:cubicBezTo>
                    <a:pt x="0" y="19842"/>
                    <a:pt x="2845" y="12974"/>
                    <a:pt x="7909" y="7909"/>
                  </a:cubicBezTo>
                  <a:cubicBezTo>
                    <a:pt x="12974" y="2845"/>
                    <a:pt x="19842" y="0"/>
                    <a:pt x="27004" y="0"/>
                  </a:cubicBezTo>
                  <a:close/>
                </a:path>
              </a:pathLst>
            </a:custGeom>
            <a:solidFill>
              <a:srgbClr val="FAA607"/>
            </a:solidFill>
          </p:spPr>
        </p:sp>
        <p:sp>
          <p:nvSpPr>
            <p:cNvPr name="TextBox 13" id="13"/>
            <p:cNvSpPr txBox="true"/>
            <p:nvPr/>
          </p:nvSpPr>
          <p:spPr>
            <a:xfrm>
              <a:off x="0" y="28575"/>
              <a:ext cx="1963206" cy="990344"/>
            </a:xfrm>
            <a:prstGeom prst="rect">
              <a:avLst/>
            </a:prstGeom>
          </p:spPr>
          <p:txBody>
            <a:bodyPr anchor="ctr" rtlCol="false" tIns="50800" lIns="50800" bIns="50800" rIns="50800"/>
            <a:lstStyle/>
            <a:p>
              <a:pPr algn="ctr">
                <a:lnSpc>
                  <a:spcPts val="2000"/>
                </a:lnSpc>
              </a:pPr>
            </a:p>
          </p:txBody>
        </p:sp>
      </p:grpSp>
      <p:sp>
        <p:nvSpPr>
          <p:cNvPr name="TextBox 14" id="14"/>
          <p:cNvSpPr txBox="true"/>
          <p:nvPr/>
        </p:nvSpPr>
        <p:spPr>
          <a:xfrm rot="0">
            <a:off x="11428284" y="1200266"/>
            <a:ext cx="1370528" cy="269875"/>
          </a:xfrm>
          <a:prstGeom prst="rect">
            <a:avLst/>
          </a:prstGeom>
        </p:spPr>
        <p:txBody>
          <a:bodyPr anchor="t" rtlCol="false" tIns="0" lIns="0" bIns="0" rIns="0">
            <a:spAutoFit/>
          </a:bodyPr>
          <a:lstStyle/>
          <a:p>
            <a:pPr algn="ctr">
              <a:lnSpc>
                <a:spcPts val="2000"/>
              </a:lnSpc>
            </a:pPr>
            <a:r>
              <a:rPr lang="en-US" sz="2000">
                <a:solidFill>
                  <a:srgbClr val="27194D">
                    <a:alpha val="55686"/>
                  </a:srgbClr>
                </a:solidFill>
                <a:latin typeface="Open Sans"/>
                <a:ea typeface="Open Sans"/>
                <a:cs typeface="Open Sans"/>
                <a:sym typeface="Open Sans"/>
              </a:rPr>
              <a:t>LAYANAN</a:t>
            </a:r>
          </a:p>
        </p:txBody>
      </p:sp>
      <p:sp>
        <p:nvSpPr>
          <p:cNvPr name="TextBox 15" id="15"/>
          <p:cNvSpPr txBox="true"/>
          <p:nvPr/>
        </p:nvSpPr>
        <p:spPr>
          <a:xfrm rot="0">
            <a:off x="9810993" y="1200266"/>
            <a:ext cx="1293441" cy="269875"/>
          </a:xfrm>
          <a:prstGeom prst="rect">
            <a:avLst/>
          </a:prstGeom>
        </p:spPr>
        <p:txBody>
          <a:bodyPr anchor="t" rtlCol="false" tIns="0" lIns="0" bIns="0" rIns="0">
            <a:spAutoFit/>
          </a:bodyPr>
          <a:lstStyle/>
          <a:p>
            <a:pPr algn="ctr">
              <a:lnSpc>
                <a:spcPts val="2000"/>
              </a:lnSpc>
            </a:pPr>
            <a:r>
              <a:rPr lang="en-US" b="true" sz="2000">
                <a:solidFill>
                  <a:srgbClr val="5D4FCA"/>
                </a:solidFill>
                <a:latin typeface="Open Sans Bold"/>
                <a:ea typeface="Open Sans Bold"/>
                <a:cs typeface="Open Sans Bold"/>
                <a:sym typeface="Open Sans Bold"/>
              </a:rPr>
              <a:t>BERANDA</a:t>
            </a:r>
          </a:p>
        </p:txBody>
      </p:sp>
      <p:sp>
        <p:nvSpPr>
          <p:cNvPr name="TextBox 16" id="16"/>
          <p:cNvSpPr txBox="true"/>
          <p:nvPr/>
        </p:nvSpPr>
        <p:spPr>
          <a:xfrm rot="0">
            <a:off x="2356946" y="2818732"/>
            <a:ext cx="7757779" cy="2540596"/>
          </a:xfrm>
          <a:prstGeom prst="rect">
            <a:avLst/>
          </a:prstGeom>
        </p:spPr>
        <p:txBody>
          <a:bodyPr anchor="t" rtlCol="false" tIns="0" lIns="0" bIns="0" rIns="0">
            <a:spAutoFit/>
          </a:bodyPr>
          <a:lstStyle/>
          <a:p>
            <a:pPr algn="l">
              <a:lnSpc>
                <a:spcPts val="10085"/>
              </a:lnSpc>
            </a:pPr>
            <a:r>
              <a:rPr lang="en-US" sz="8199" b="true">
                <a:solidFill>
                  <a:srgbClr val="27194D"/>
                </a:solidFill>
                <a:latin typeface="Roboto Condensed Bold"/>
                <a:ea typeface="Roboto Condensed Bold"/>
                <a:cs typeface="Roboto Condensed Bold"/>
                <a:sym typeface="Roboto Condensed Bold"/>
              </a:rPr>
              <a:t>EKSPLORASI DATA</a:t>
            </a:r>
          </a:p>
        </p:txBody>
      </p:sp>
      <p:sp>
        <p:nvSpPr>
          <p:cNvPr name="TextBox 17" id="17"/>
          <p:cNvSpPr txBox="true"/>
          <p:nvPr/>
        </p:nvSpPr>
        <p:spPr>
          <a:xfrm rot="0">
            <a:off x="2872807" y="5555646"/>
            <a:ext cx="6271193" cy="3488972"/>
          </a:xfrm>
          <a:prstGeom prst="rect">
            <a:avLst/>
          </a:prstGeom>
        </p:spPr>
        <p:txBody>
          <a:bodyPr anchor="t" rtlCol="false" tIns="0" lIns="0" bIns="0" rIns="0">
            <a:spAutoFit/>
          </a:bodyPr>
          <a:lstStyle/>
          <a:p>
            <a:pPr algn="just" marL="0" indent="0" lvl="0">
              <a:lnSpc>
                <a:spcPts val="3499"/>
              </a:lnSpc>
            </a:pPr>
            <a:r>
              <a:rPr lang="en-US" b="true" sz="2499">
                <a:solidFill>
                  <a:srgbClr val="FFF8E9"/>
                </a:solidFill>
                <a:latin typeface="Open Sans Bold"/>
                <a:ea typeface="Open Sans Bold"/>
                <a:cs typeface="Open Sans Bold"/>
                <a:sym typeface="Open Sans Bold"/>
              </a:rPr>
              <a:t>Exploratory Data Analysis (EDA) merupakan proses awal dalam analisis data yang bertujuan untuk Mengidentifikasi pola, struktur, dan elemen penting dalam data sebagai dasar sebelum melanjutkan ke tahap analisis statistik atau prediksi berikutnya.</a:t>
            </a:r>
          </a:p>
        </p:txBody>
      </p:sp>
      <p:sp>
        <p:nvSpPr>
          <p:cNvPr name="TextBox 18" id="18"/>
          <p:cNvSpPr txBox="true"/>
          <p:nvPr/>
        </p:nvSpPr>
        <p:spPr>
          <a:xfrm rot="0">
            <a:off x="1847695" y="1109652"/>
            <a:ext cx="3115460" cy="422485"/>
          </a:xfrm>
          <a:prstGeom prst="rect">
            <a:avLst/>
          </a:prstGeom>
        </p:spPr>
        <p:txBody>
          <a:bodyPr anchor="t" rtlCol="false" tIns="0" lIns="0" bIns="0" rIns="0">
            <a:spAutoFit/>
          </a:bodyPr>
          <a:lstStyle/>
          <a:p>
            <a:pPr algn="l">
              <a:lnSpc>
                <a:spcPts val="3107"/>
              </a:lnSpc>
            </a:pPr>
            <a:r>
              <a:rPr lang="en-US" sz="2799" b="true">
                <a:solidFill>
                  <a:srgbClr val="5D4FCA"/>
                </a:solidFill>
                <a:latin typeface="Roboto Condensed Bold"/>
                <a:ea typeface="Roboto Condensed Bold"/>
                <a:cs typeface="Roboto Condensed Bold"/>
                <a:sym typeface="Roboto Condensed Bold"/>
              </a:rPr>
              <a:t>EKSPLORASI DATA</a:t>
            </a:r>
          </a:p>
        </p:txBody>
      </p:sp>
      <p:sp>
        <p:nvSpPr>
          <p:cNvPr name="Freeform 19" id="19"/>
          <p:cNvSpPr/>
          <p:nvPr/>
        </p:nvSpPr>
        <p:spPr>
          <a:xfrm flipH="false" flipV="false" rot="0">
            <a:off x="1028700" y="1049653"/>
            <a:ext cx="647545" cy="495666"/>
          </a:xfrm>
          <a:custGeom>
            <a:avLst/>
            <a:gdLst/>
            <a:ahLst/>
            <a:cxnLst/>
            <a:rect r="r" b="b" t="t" l="l"/>
            <a:pathLst>
              <a:path h="495666" w="647545">
                <a:moveTo>
                  <a:pt x="0" y="0"/>
                </a:moveTo>
                <a:lnTo>
                  <a:pt x="647545" y="0"/>
                </a:lnTo>
                <a:lnTo>
                  <a:pt x="647545" y="495666"/>
                </a:lnTo>
                <a:lnTo>
                  <a:pt x="0" y="49566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0" id="20"/>
          <p:cNvSpPr/>
          <p:nvPr/>
        </p:nvSpPr>
        <p:spPr>
          <a:xfrm flipH="false" flipV="false" rot="720432">
            <a:off x="16866407" y="2641717"/>
            <a:ext cx="626952" cy="392130"/>
          </a:xfrm>
          <a:custGeom>
            <a:avLst/>
            <a:gdLst/>
            <a:ahLst/>
            <a:cxnLst/>
            <a:rect r="r" b="b" t="t" l="l"/>
            <a:pathLst>
              <a:path h="392130" w="626952">
                <a:moveTo>
                  <a:pt x="0" y="0"/>
                </a:moveTo>
                <a:lnTo>
                  <a:pt x="626952" y="0"/>
                </a:lnTo>
                <a:lnTo>
                  <a:pt x="626952" y="392130"/>
                </a:lnTo>
                <a:lnTo>
                  <a:pt x="0" y="39213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21" id="21"/>
          <p:cNvSpPr/>
          <p:nvPr/>
        </p:nvSpPr>
        <p:spPr>
          <a:xfrm flipH="false" flipV="false" rot="-3346249">
            <a:off x="286692" y="4006637"/>
            <a:ext cx="1034860" cy="383329"/>
          </a:xfrm>
          <a:custGeom>
            <a:avLst/>
            <a:gdLst/>
            <a:ahLst/>
            <a:cxnLst/>
            <a:rect r="r" b="b" t="t" l="l"/>
            <a:pathLst>
              <a:path h="383329" w="1034860">
                <a:moveTo>
                  <a:pt x="0" y="0"/>
                </a:moveTo>
                <a:lnTo>
                  <a:pt x="1034860" y="0"/>
                </a:lnTo>
                <a:lnTo>
                  <a:pt x="1034860" y="383329"/>
                </a:lnTo>
                <a:lnTo>
                  <a:pt x="0" y="383329"/>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FF8E9"/>
        </a:solidFill>
      </p:bgPr>
    </p:bg>
    <p:spTree>
      <p:nvGrpSpPr>
        <p:cNvPr id="1" name=""/>
        <p:cNvGrpSpPr/>
        <p:nvPr/>
      </p:nvGrpSpPr>
      <p:grpSpPr>
        <a:xfrm>
          <a:off x="0" y="0"/>
          <a:ext cx="0" cy="0"/>
          <a:chOff x="0" y="0"/>
          <a:chExt cx="0" cy="0"/>
        </a:xfrm>
      </p:grpSpPr>
      <p:sp>
        <p:nvSpPr>
          <p:cNvPr name="Freeform 2" id="2"/>
          <p:cNvSpPr/>
          <p:nvPr/>
        </p:nvSpPr>
        <p:spPr>
          <a:xfrm flipH="false" flipV="false" rot="-5687936">
            <a:off x="15336566" y="-1307732"/>
            <a:ext cx="3845468" cy="4114800"/>
          </a:xfrm>
          <a:custGeom>
            <a:avLst/>
            <a:gdLst/>
            <a:ahLst/>
            <a:cxnLst/>
            <a:rect r="r" b="b" t="t" l="l"/>
            <a:pathLst>
              <a:path h="4114800" w="3845468">
                <a:moveTo>
                  <a:pt x="0" y="0"/>
                </a:moveTo>
                <a:lnTo>
                  <a:pt x="3845468" y="0"/>
                </a:lnTo>
                <a:lnTo>
                  <a:pt x="3845468"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3138009" y="1035414"/>
            <a:ext cx="4121291" cy="571004"/>
            <a:chOff x="0" y="0"/>
            <a:chExt cx="1370603" cy="189897"/>
          </a:xfrm>
        </p:grpSpPr>
        <p:sp>
          <p:nvSpPr>
            <p:cNvPr name="Freeform 4" id="4"/>
            <p:cNvSpPr/>
            <p:nvPr/>
          </p:nvSpPr>
          <p:spPr>
            <a:xfrm flipH="false" flipV="false" rot="0">
              <a:off x="0" y="0"/>
              <a:ext cx="1370603" cy="189897"/>
            </a:xfrm>
            <a:custGeom>
              <a:avLst/>
              <a:gdLst/>
              <a:ahLst/>
              <a:cxnLst/>
              <a:rect r="r" b="b" t="t" l="l"/>
              <a:pathLst>
                <a:path h="189897" w="1370603">
                  <a:moveTo>
                    <a:pt x="94948" y="0"/>
                  </a:moveTo>
                  <a:lnTo>
                    <a:pt x="1275655" y="0"/>
                  </a:lnTo>
                  <a:cubicBezTo>
                    <a:pt x="1300837" y="0"/>
                    <a:pt x="1324987" y="10003"/>
                    <a:pt x="1342794" y="27810"/>
                  </a:cubicBezTo>
                  <a:cubicBezTo>
                    <a:pt x="1360600" y="45616"/>
                    <a:pt x="1370603" y="69767"/>
                    <a:pt x="1370603" y="94948"/>
                  </a:cubicBezTo>
                  <a:lnTo>
                    <a:pt x="1370603" y="94948"/>
                  </a:lnTo>
                  <a:cubicBezTo>
                    <a:pt x="1370603" y="147387"/>
                    <a:pt x="1328094" y="189897"/>
                    <a:pt x="1275655" y="189897"/>
                  </a:cubicBezTo>
                  <a:lnTo>
                    <a:pt x="94948" y="189897"/>
                  </a:lnTo>
                  <a:cubicBezTo>
                    <a:pt x="42510" y="189897"/>
                    <a:pt x="0" y="147387"/>
                    <a:pt x="0" y="94948"/>
                  </a:cubicBezTo>
                  <a:lnTo>
                    <a:pt x="0" y="94948"/>
                  </a:lnTo>
                  <a:cubicBezTo>
                    <a:pt x="0" y="42510"/>
                    <a:pt x="42510" y="0"/>
                    <a:pt x="94948" y="0"/>
                  </a:cubicBezTo>
                  <a:close/>
                </a:path>
              </a:pathLst>
            </a:custGeom>
            <a:solidFill>
              <a:srgbClr val="FAA607"/>
            </a:solidFill>
            <a:ln cap="rnd">
              <a:noFill/>
              <a:prstDash val="solid"/>
              <a:round/>
            </a:ln>
          </p:spPr>
        </p:sp>
        <p:sp>
          <p:nvSpPr>
            <p:cNvPr name="TextBox 5" id="5"/>
            <p:cNvSpPr txBox="true"/>
            <p:nvPr/>
          </p:nvSpPr>
          <p:spPr>
            <a:xfrm>
              <a:off x="0" y="-57150"/>
              <a:ext cx="1370603" cy="247047"/>
            </a:xfrm>
            <a:prstGeom prst="rect">
              <a:avLst/>
            </a:prstGeom>
          </p:spPr>
          <p:txBody>
            <a:bodyPr anchor="ctr" rtlCol="false" tIns="50800" lIns="50800" bIns="50800" rIns="50800"/>
            <a:lstStyle/>
            <a:p>
              <a:pPr algn="ctr" marL="0" indent="0" lvl="0">
                <a:lnSpc>
                  <a:spcPts val="2824"/>
                </a:lnSpc>
                <a:spcBef>
                  <a:spcPct val="0"/>
                </a:spcBef>
              </a:pPr>
            </a:p>
          </p:txBody>
        </p:sp>
      </p:grpSp>
      <p:sp>
        <p:nvSpPr>
          <p:cNvPr name="Freeform 6" id="6"/>
          <p:cNvSpPr/>
          <p:nvPr/>
        </p:nvSpPr>
        <p:spPr>
          <a:xfrm flipH="false" flipV="false" rot="0">
            <a:off x="16815378" y="1166754"/>
            <a:ext cx="296763" cy="308325"/>
          </a:xfrm>
          <a:custGeom>
            <a:avLst/>
            <a:gdLst/>
            <a:ahLst/>
            <a:cxnLst/>
            <a:rect r="r" b="b" t="t" l="l"/>
            <a:pathLst>
              <a:path h="308325" w="296763">
                <a:moveTo>
                  <a:pt x="0" y="0"/>
                </a:moveTo>
                <a:lnTo>
                  <a:pt x="296763" y="0"/>
                </a:lnTo>
                <a:lnTo>
                  <a:pt x="296763" y="308325"/>
                </a:lnTo>
                <a:lnTo>
                  <a:pt x="0" y="30832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2145208">
            <a:off x="12619779" y="3716346"/>
            <a:ext cx="8984724" cy="4018622"/>
          </a:xfrm>
          <a:custGeom>
            <a:avLst/>
            <a:gdLst/>
            <a:ahLst/>
            <a:cxnLst/>
            <a:rect r="r" b="b" t="t" l="l"/>
            <a:pathLst>
              <a:path h="4018622" w="8984724">
                <a:moveTo>
                  <a:pt x="0" y="0"/>
                </a:moveTo>
                <a:lnTo>
                  <a:pt x="8984725" y="0"/>
                </a:lnTo>
                <a:lnTo>
                  <a:pt x="8984725" y="4018622"/>
                </a:lnTo>
                <a:lnTo>
                  <a:pt x="0" y="401862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2145208">
            <a:off x="-3139890" y="3134189"/>
            <a:ext cx="8984724" cy="4018622"/>
          </a:xfrm>
          <a:custGeom>
            <a:avLst/>
            <a:gdLst/>
            <a:ahLst/>
            <a:cxnLst/>
            <a:rect r="r" b="b" t="t" l="l"/>
            <a:pathLst>
              <a:path h="4018622" w="8984724">
                <a:moveTo>
                  <a:pt x="0" y="0"/>
                </a:moveTo>
                <a:lnTo>
                  <a:pt x="8984725" y="0"/>
                </a:lnTo>
                <a:lnTo>
                  <a:pt x="8984725" y="4018622"/>
                </a:lnTo>
                <a:lnTo>
                  <a:pt x="0" y="401862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1028700" y="1049653"/>
            <a:ext cx="647545" cy="495666"/>
          </a:xfrm>
          <a:custGeom>
            <a:avLst/>
            <a:gdLst/>
            <a:ahLst/>
            <a:cxnLst/>
            <a:rect r="r" b="b" t="t" l="l"/>
            <a:pathLst>
              <a:path h="495666" w="647545">
                <a:moveTo>
                  <a:pt x="0" y="0"/>
                </a:moveTo>
                <a:lnTo>
                  <a:pt x="647545" y="0"/>
                </a:lnTo>
                <a:lnTo>
                  <a:pt x="647545" y="495666"/>
                </a:lnTo>
                <a:lnTo>
                  <a:pt x="0" y="49566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6034560">
            <a:off x="-1502391" y="7200900"/>
            <a:ext cx="3845468" cy="4114800"/>
          </a:xfrm>
          <a:custGeom>
            <a:avLst/>
            <a:gdLst/>
            <a:ahLst/>
            <a:cxnLst/>
            <a:rect r="r" b="b" t="t" l="l"/>
            <a:pathLst>
              <a:path h="4114800" w="3845468">
                <a:moveTo>
                  <a:pt x="0" y="0"/>
                </a:moveTo>
                <a:lnTo>
                  <a:pt x="3845468" y="0"/>
                </a:lnTo>
                <a:lnTo>
                  <a:pt x="384546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8394526">
            <a:off x="9779733" y="8761623"/>
            <a:ext cx="626952" cy="392130"/>
          </a:xfrm>
          <a:custGeom>
            <a:avLst/>
            <a:gdLst/>
            <a:ahLst/>
            <a:cxnLst/>
            <a:rect r="r" b="b" t="t" l="l"/>
            <a:pathLst>
              <a:path h="392130" w="626952">
                <a:moveTo>
                  <a:pt x="0" y="0"/>
                </a:moveTo>
                <a:lnTo>
                  <a:pt x="626952" y="0"/>
                </a:lnTo>
                <a:lnTo>
                  <a:pt x="626952" y="392130"/>
                </a:lnTo>
                <a:lnTo>
                  <a:pt x="0" y="39213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2" id="12"/>
          <p:cNvSpPr/>
          <p:nvPr/>
        </p:nvSpPr>
        <p:spPr>
          <a:xfrm flipH="false" flipV="false" rot="-1048382">
            <a:off x="7772191" y="1942195"/>
            <a:ext cx="1034860" cy="383329"/>
          </a:xfrm>
          <a:custGeom>
            <a:avLst/>
            <a:gdLst/>
            <a:ahLst/>
            <a:cxnLst/>
            <a:rect r="r" b="b" t="t" l="l"/>
            <a:pathLst>
              <a:path h="383329" w="1034860">
                <a:moveTo>
                  <a:pt x="0" y="0"/>
                </a:moveTo>
                <a:lnTo>
                  <a:pt x="1034860" y="0"/>
                </a:lnTo>
                <a:lnTo>
                  <a:pt x="1034860" y="383330"/>
                </a:lnTo>
                <a:lnTo>
                  <a:pt x="0" y="38333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nvGrpSpPr>
          <p:cNvPr name="Group 13" id="13"/>
          <p:cNvGrpSpPr/>
          <p:nvPr/>
        </p:nvGrpSpPr>
        <p:grpSpPr>
          <a:xfrm rot="0">
            <a:off x="1700536" y="4636522"/>
            <a:ext cx="217061" cy="217061"/>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A607"/>
            </a:solidFill>
          </p:spPr>
        </p:sp>
        <p:sp>
          <p:nvSpPr>
            <p:cNvPr name="TextBox 15" id="15"/>
            <p:cNvSpPr txBox="true"/>
            <p:nvPr/>
          </p:nvSpPr>
          <p:spPr>
            <a:xfrm>
              <a:off x="76200" y="104775"/>
              <a:ext cx="660400" cy="631825"/>
            </a:xfrm>
            <a:prstGeom prst="rect">
              <a:avLst/>
            </a:prstGeom>
          </p:spPr>
          <p:txBody>
            <a:bodyPr anchor="ctr" rtlCol="false" tIns="50800" lIns="50800" bIns="50800" rIns="50800"/>
            <a:lstStyle/>
            <a:p>
              <a:pPr algn="ctr">
                <a:lnSpc>
                  <a:spcPts val="2000"/>
                </a:lnSpc>
              </a:pPr>
            </a:p>
          </p:txBody>
        </p:sp>
      </p:grpSp>
      <p:grpSp>
        <p:nvGrpSpPr>
          <p:cNvPr name="Group 16" id="16"/>
          <p:cNvGrpSpPr/>
          <p:nvPr/>
        </p:nvGrpSpPr>
        <p:grpSpPr>
          <a:xfrm rot="0">
            <a:off x="6511245" y="5499534"/>
            <a:ext cx="226122" cy="226122"/>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A607"/>
            </a:solidFill>
          </p:spPr>
        </p:sp>
        <p:sp>
          <p:nvSpPr>
            <p:cNvPr name="TextBox 18" id="18"/>
            <p:cNvSpPr txBox="true"/>
            <p:nvPr/>
          </p:nvSpPr>
          <p:spPr>
            <a:xfrm>
              <a:off x="76200" y="104775"/>
              <a:ext cx="660400" cy="631825"/>
            </a:xfrm>
            <a:prstGeom prst="rect">
              <a:avLst/>
            </a:prstGeom>
          </p:spPr>
          <p:txBody>
            <a:bodyPr anchor="ctr" rtlCol="false" tIns="50800" lIns="50800" bIns="50800" rIns="50800"/>
            <a:lstStyle/>
            <a:p>
              <a:pPr algn="ctr">
                <a:lnSpc>
                  <a:spcPts val="2000"/>
                </a:lnSpc>
              </a:pPr>
            </a:p>
          </p:txBody>
        </p:sp>
      </p:grpSp>
      <p:sp>
        <p:nvSpPr>
          <p:cNvPr name="Freeform 19" id="19"/>
          <p:cNvSpPr/>
          <p:nvPr/>
        </p:nvSpPr>
        <p:spPr>
          <a:xfrm flipH="false" flipV="false" rot="0">
            <a:off x="10961294" y="2472043"/>
            <a:ext cx="6002466" cy="7136381"/>
          </a:xfrm>
          <a:custGeom>
            <a:avLst/>
            <a:gdLst/>
            <a:ahLst/>
            <a:cxnLst/>
            <a:rect r="r" b="b" t="t" l="l"/>
            <a:pathLst>
              <a:path h="7136381" w="6002466">
                <a:moveTo>
                  <a:pt x="0" y="0"/>
                </a:moveTo>
                <a:lnTo>
                  <a:pt x="6002466" y="0"/>
                </a:lnTo>
                <a:lnTo>
                  <a:pt x="6002466" y="7136381"/>
                </a:lnTo>
                <a:lnTo>
                  <a:pt x="0" y="7136381"/>
                </a:lnTo>
                <a:lnTo>
                  <a:pt x="0" y="0"/>
                </a:lnTo>
                <a:close/>
              </a:path>
            </a:pathLst>
          </a:custGeom>
          <a:blipFill>
            <a:blip r:embed="rId16"/>
            <a:stretch>
              <a:fillRect l="0" t="0" r="0" b="0"/>
            </a:stretch>
          </a:blipFill>
        </p:spPr>
      </p:sp>
      <p:sp>
        <p:nvSpPr>
          <p:cNvPr name="TextBox 20" id="20"/>
          <p:cNvSpPr txBox="true"/>
          <p:nvPr/>
        </p:nvSpPr>
        <p:spPr>
          <a:xfrm rot="0">
            <a:off x="11428284" y="1200266"/>
            <a:ext cx="1370528" cy="269875"/>
          </a:xfrm>
          <a:prstGeom prst="rect">
            <a:avLst/>
          </a:prstGeom>
        </p:spPr>
        <p:txBody>
          <a:bodyPr anchor="t" rtlCol="false" tIns="0" lIns="0" bIns="0" rIns="0">
            <a:spAutoFit/>
          </a:bodyPr>
          <a:lstStyle/>
          <a:p>
            <a:pPr algn="ctr">
              <a:lnSpc>
                <a:spcPts val="2000"/>
              </a:lnSpc>
            </a:pPr>
            <a:r>
              <a:rPr lang="en-US" sz="2000">
                <a:solidFill>
                  <a:srgbClr val="27194D">
                    <a:alpha val="55686"/>
                  </a:srgbClr>
                </a:solidFill>
                <a:latin typeface="Open Sans"/>
                <a:ea typeface="Open Sans"/>
                <a:cs typeface="Open Sans"/>
                <a:sym typeface="Open Sans"/>
              </a:rPr>
              <a:t>LAYANAN</a:t>
            </a:r>
          </a:p>
        </p:txBody>
      </p:sp>
      <p:sp>
        <p:nvSpPr>
          <p:cNvPr name="TextBox 21" id="21"/>
          <p:cNvSpPr txBox="true"/>
          <p:nvPr/>
        </p:nvSpPr>
        <p:spPr>
          <a:xfrm rot="0">
            <a:off x="2001811" y="4684147"/>
            <a:ext cx="6287810" cy="330178"/>
          </a:xfrm>
          <a:prstGeom prst="rect">
            <a:avLst/>
          </a:prstGeom>
        </p:spPr>
        <p:txBody>
          <a:bodyPr anchor="t" rtlCol="false" tIns="0" lIns="0" bIns="0" rIns="0">
            <a:spAutoFit/>
          </a:bodyPr>
          <a:lstStyle/>
          <a:p>
            <a:pPr algn="l">
              <a:lnSpc>
                <a:spcPts val="2499"/>
              </a:lnSpc>
            </a:pPr>
            <a:r>
              <a:rPr lang="en-US" b="true" sz="2499">
                <a:solidFill>
                  <a:srgbClr val="5D4FCA"/>
                </a:solidFill>
                <a:latin typeface="Open Sans Bold"/>
                <a:ea typeface="Open Sans Bold"/>
                <a:cs typeface="Open Sans Bold"/>
                <a:sym typeface="Open Sans Bold"/>
              </a:rPr>
              <a:t>RINGKASAN DAN STATISTIK DATA</a:t>
            </a:r>
          </a:p>
        </p:txBody>
      </p:sp>
      <p:sp>
        <p:nvSpPr>
          <p:cNvPr name="TextBox 22" id="22"/>
          <p:cNvSpPr txBox="true"/>
          <p:nvPr/>
        </p:nvSpPr>
        <p:spPr>
          <a:xfrm rot="0">
            <a:off x="1700536" y="2651494"/>
            <a:ext cx="9847540" cy="753215"/>
          </a:xfrm>
          <a:prstGeom prst="rect">
            <a:avLst/>
          </a:prstGeom>
        </p:spPr>
        <p:txBody>
          <a:bodyPr anchor="t" rtlCol="false" tIns="0" lIns="0" bIns="0" rIns="0">
            <a:spAutoFit/>
          </a:bodyPr>
          <a:lstStyle/>
          <a:p>
            <a:pPr algn="l">
              <a:lnSpc>
                <a:spcPts val="5904"/>
              </a:lnSpc>
            </a:pPr>
            <a:r>
              <a:rPr lang="en-US" sz="4800" b="true">
                <a:solidFill>
                  <a:srgbClr val="27194D"/>
                </a:solidFill>
                <a:latin typeface="Roboto Condensed Bold"/>
                <a:ea typeface="Roboto Condensed Bold"/>
                <a:cs typeface="Roboto Condensed Bold"/>
                <a:sym typeface="Roboto Condensed Bold"/>
              </a:rPr>
              <a:t>EKSPLORASI TABEL</a:t>
            </a:r>
          </a:p>
        </p:txBody>
      </p:sp>
      <p:sp>
        <p:nvSpPr>
          <p:cNvPr name="TextBox 23" id="23"/>
          <p:cNvSpPr txBox="true"/>
          <p:nvPr/>
        </p:nvSpPr>
        <p:spPr>
          <a:xfrm rot="0">
            <a:off x="1700536" y="3566634"/>
            <a:ext cx="8610018" cy="860337"/>
          </a:xfrm>
          <a:prstGeom prst="rect">
            <a:avLst/>
          </a:prstGeom>
        </p:spPr>
        <p:txBody>
          <a:bodyPr anchor="t" rtlCol="false" tIns="0" lIns="0" bIns="0" rIns="0">
            <a:spAutoFit/>
          </a:bodyPr>
          <a:lstStyle/>
          <a:p>
            <a:pPr algn="just" marL="0" indent="0" lvl="0">
              <a:lnSpc>
                <a:spcPts val="3499"/>
              </a:lnSpc>
            </a:pPr>
            <a:r>
              <a:rPr lang="en-US" sz="2499">
                <a:solidFill>
                  <a:srgbClr val="000000"/>
                </a:solidFill>
                <a:latin typeface="Open Sans"/>
                <a:ea typeface="Open Sans"/>
                <a:cs typeface="Open Sans"/>
                <a:sym typeface="Open Sans"/>
              </a:rPr>
              <a:t>Dilakukan untuk melihat struktur dan karakteristik dataset menggunakan fungsi dari library pandas</a:t>
            </a:r>
          </a:p>
        </p:txBody>
      </p:sp>
      <p:sp>
        <p:nvSpPr>
          <p:cNvPr name="TextBox 24" id="24"/>
          <p:cNvSpPr txBox="true"/>
          <p:nvPr/>
        </p:nvSpPr>
        <p:spPr>
          <a:xfrm rot="0">
            <a:off x="1847695" y="1109652"/>
            <a:ext cx="3115460" cy="422485"/>
          </a:xfrm>
          <a:prstGeom prst="rect">
            <a:avLst/>
          </a:prstGeom>
        </p:spPr>
        <p:txBody>
          <a:bodyPr anchor="t" rtlCol="false" tIns="0" lIns="0" bIns="0" rIns="0">
            <a:spAutoFit/>
          </a:bodyPr>
          <a:lstStyle/>
          <a:p>
            <a:pPr algn="l">
              <a:lnSpc>
                <a:spcPts val="3107"/>
              </a:lnSpc>
            </a:pPr>
            <a:r>
              <a:rPr lang="en-US" sz="2799" b="true">
                <a:solidFill>
                  <a:srgbClr val="5D4FCA"/>
                </a:solidFill>
                <a:latin typeface="Roboto Condensed Bold"/>
                <a:ea typeface="Roboto Condensed Bold"/>
                <a:cs typeface="Roboto Condensed Bold"/>
                <a:sym typeface="Roboto Condensed Bold"/>
              </a:rPr>
              <a:t>EKSPLORASI DATA</a:t>
            </a:r>
          </a:p>
        </p:txBody>
      </p:sp>
      <p:sp>
        <p:nvSpPr>
          <p:cNvPr name="TextBox 25" id="25"/>
          <p:cNvSpPr txBox="true"/>
          <p:nvPr/>
        </p:nvSpPr>
        <p:spPr>
          <a:xfrm rot="0">
            <a:off x="9963393" y="1176836"/>
            <a:ext cx="1293441" cy="269875"/>
          </a:xfrm>
          <a:prstGeom prst="rect">
            <a:avLst/>
          </a:prstGeom>
        </p:spPr>
        <p:txBody>
          <a:bodyPr anchor="t" rtlCol="false" tIns="0" lIns="0" bIns="0" rIns="0">
            <a:spAutoFit/>
          </a:bodyPr>
          <a:lstStyle/>
          <a:p>
            <a:pPr algn="ctr">
              <a:lnSpc>
                <a:spcPts val="2000"/>
              </a:lnSpc>
            </a:pPr>
            <a:r>
              <a:rPr lang="en-US" b="true" sz="2000">
                <a:solidFill>
                  <a:srgbClr val="5D4FCA"/>
                </a:solidFill>
                <a:latin typeface="Open Sans Bold"/>
                <a:ea typeface="Open Sans Bold"/>
                <a:cs typeface="Open Sans Bold"/>
                <a:sym typeface="Open Sans Bold"/>
              </a:rPr>
              <a:t>BERANDA</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FF8E9"/>
        </a:solidFill>
      </p:bgPr>
    </p:bg>
    <p:spTree>
      <p:nvGrpSpPr>
        <p:cNvPr id="1" name=""/>
        <p:cNvGrpSpPr/>
        <p:nvPr/>
      </p:nvGrpSpPr>
      <p:grpSpPr>
        <a:xfrm>
          <a:off x="0" y="0"/>
          <a:ext cx="0" cy="0"/>
          <a:chOff x="0" y="0"/>
          <a:chExt cx="0" cy="0"/>
        </a:xfrm>
      </p:grpSpPr>
      <p:sp>
        <p:nvSpPr>
          <p:cNvPr name="Freeform 2" id="2"/>
          <p:cNvSpPr/>
          <p:nvPr/>
        </p:nvSpPr>
        <p:spPr>
          <a:xfrm flipH="false" flipV="false" rot="-5687936">
            <a:off x="15336566" y="-1307732"/>
            <a:ext cx="3845468" cy="4114800"/>
          </a:xfrm>
          <a:custGeom>
            <a:avLst/>
            <a:gdLst/>
            <a:ahLst/>
            <a:cxnLst/>
            <a:rect r="r" b="b" t="t" l="l"/>
            <a:pathLst>
              <a:path h="4114800" w="3845468">
                <a:moveTo>
                  <a:pt x="0" y="0"/>
                </a:moveTo>
                <a:lnTo>
                  <a:pt x="3845468" y="0"/>
                </a:lnTo>
                <a:lnTo>
                  <a:pt x="3845468"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3138009" y="1035414"/>
            <a:ext cx="4121291" cy="571004"/>
            <a:chOff x="0" y="0"/>
            <a:chExt cx="1370603" cy="189897"/>
          </a:xfrm>
        </p:grpSpPr>
        <p:sp>
          <p:nvSpPr>
            <p:cNvPr name="Freeform 4" id="4"/>
            <p:cNvSpPr/>
            <p:nvPr/>
          </p:nvSpPr>
          <p:spPr>
            <a:xfrm flipH="false" flipV="false" rot="0">
              <a:off x="0" y="0"/>
              <a:ext cx="1370603" cy="189897"/>
            </a:xfrm>
            <a:custGeom>
              <a:avLst/>
              <a:gdLst/>
              <a:ahLst/>
              <a:cxnLst/>
              <a:rect r="r" b="b" t="t" l="l"/>
              <a:pathLst>
                <a:path h="189897" w="1370603">
                  <a:moveTo>
                    <a:pt x="94948" y="0"/>
                  </a:moveTo>
                  <a:lnTo>
                    <a:pt x="1275655" y="0"/>
                  </a:lnTo>
                  <a:cubicBezTo>
                    <a:pt x="1300837" y="0"/>
                    <a:pt x="1324987" y="10003"/>
                    <a:pt x="1342794" y="27810"/>
                  </a:cubicBezTo>
                  <a:cubicBezTo>
                    <a:pt x="1360600" y="45616"/>
                    <a:pt x="1370603" y="69767"/>
                    <a:pt x="1370603" y="94948"/>
                  </a:cubicBezTo>
                  <a:lnTo>
                    <a:pt x="1370603" y="94948"/>
                  </a:lnTo>
                  <a:cubicBezTo>
                    <a:pt x="1370603" y="147387"/>
                    <a:pt x="1328094" y="189897"/>
                    <a:pt x="1275655" y="189897"/>
                  </a:cubicBezTo>
                  <a:lnTo>
                    <a:pt x="94948" y="189897"/>
                  </a:lnTo>
                  <a:cubicBezTo>
                    <a:pt x="42510" y="189897"/>
                    <a:pt x="0" y="147387"/>
                    <a:pt x="0" y="94948"/>
                  </a:cubicBezTo>
                  <a:lnTo>
                    <a:pt x="0" y="94948"/>
                  </a:lnTo>
                  <a:cubicBezTo>
                    <a:pt x="0" y="42510"/>
                    <a:pt x="42510" y="0"/>
                    <a:pt x="94948" y="0"/>
                  </a:cubicBezTo>
                  <a:close/>
                </a:path>
              </a:pathLst>
            </a:custGeom>
            <a:solidFill>
              <a:srgbClr val="FAA607"/>
            </a:solidFill>
            <a:ln cap="rnd">
              <a:noFill/>
              <a:prstDash val="solid"/>
              <a:round/>
            </a:ln>
          </p:spPr>
        </p:sp>
        <p:sp>
          <p:nvSpPr>
            <p:cNvPr name="TextBox 5" id="5"/>
            <p:cNvSpPr txBox="true"/>
            <p:nvPr/>
          </p:nvSpPr>
          <p:spPr>
            <a:xfrm>
              <a:off x="0" y="-57150"/>
              <a:ext cx="1370603" cy="247047"/>
            </a:xfrm>
            <a:prstGeom prst="rect">
              <a:avLst/>
            </a:prstGeom>
          </p:spPr>
          <p:txBody>
            <a:bodyPr anchor="ctr" rtlCol="false" tIns="50800" lIns="50800" bIns="50800" rIns="50800"/>
            <a:lstStyle/>
            <a:p>
              <a:pPr algn="ctr" marL="0" indent="0" lvl="0">
                <a:lnSpc>
                  <a:spcPts val="2824"/>
                </a:lnSpc>
                <a:spcBef>
                  <a:spcPct val="0"/>
                </a:spcBef>
              </a:pPr>
            </a:p>
          </p:txBody>
        </p:sp>
      </p:grpSp>
      <p:sp>
        <p:nvSpPr>
          <p:cNvPr name="Freeform 6" id="6"/>
          <p:cNvSpPr/>
          <p:nvPr/>
        </p:nvSpPr>
        <p:spPr>
          <a:xfrm flipH="false" flipV="false" rot="0">
            <a:off x="16815378" y="1166754"/>
            <a:ext cx="296763" cy="308325"/>
          </a:xfrm>
          <a:custGeom>
            <a:avLst/>
            <a:gdLst/>
            <a:ahLst/>
            <a:cxnLst/>
            <a:rect r="r" b="b" t="t" l="l"/>
            <a:pathLst>
              <a:path h="308325" w="296763">
                <a:moveTo>
                  <a:pt x="0" y="0"/>
                </a:moveTo>
                <a:lnTo>
                  <a:pt x="296763" y="0"/>
                </a:lnTo>
                <a:lnTo>
                  <a:pt x="296763" y="308325"/>
                </a:lnTo>
                <a:lnTo>
                  <a:pt x="0" y="30832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2145208">
            <a:off x="12619779" y="3716346"/>
            <a:ext cx="8984724" cy="4018622"/>
          </a:xfrm>
          <a:custGeom>
            <a:avLst/>
            <a:gdLst/>
            <a:ahLst/>
            <a:cxnLst/>
            <a:rect r="r" b="b" t="t" l="l"/>
            <a:pathLst>
              <a:path h="4018622" w="8984724">
                <a:moveTo>
                  <a:pt x="0" y="0"/>
                </a:moveTo>
                <a:lnTo>
                  <a:pt x="8984725" y="0"/>
                </a:lnTo>
                <a:lnTo>
                  <a:pt x="8984725" y="4018622"/>
                </a:lnTo>
                <a:lnTo>
                  <a:pt x="0" y="401862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2145208">
            <a:off x="-3139890" y="3134189"/>
            <a:ext cx="8984724" cy="4018622"/>
          </a:xfrm>
          <a:custGeom>
            <a:avLst/>
            <a:gdLst/>
            <a:ahLst/>
            <a:cxnLst/>
            <a:rect r="r" b="b" t="t" l="l"/>
            <a:pathLst>
              <a:path h="4018622" w="8984724">
                <a:moveTo>
                  <a:pt x="0" y="0"/>
                </a:moveTo>
                <a:lnTo>
                  <a:pt x="8984725" y="0"/>
                </a:lnTo>
                <a:lnTo>
                  <a:pt x="8984725" y="4018622"/>
                </a:lnTo>
                <a:lnTo>
                  <a:pt x="0" y="401862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1028700" y="1049653"/>
            <a:ext cx="647545" cy="495666"/>
          </a:xfrm>
          <a:custGeom>
            <a:avLst/>
            <a:gdLst/>
            <a:ahLst/>
            <a:cxnLst/>
            <a:rect r="r" b="b" t="t" l="l"/>
            <a:pathLst>
              <a:path h="495666" w="647545">
                <a:moveTo>
                  <a:pt x="0" y="0"/>
                </a:moveTo>
                <a:lnTo>
                  <a:pt x="647545" y="0"/>
                </a:lnTo>
                <a:lnTo>
                  <a:pt x="647545" y="495666"/>
                </a:lnTo>
                <a:lnTo>
                  <a:pt x="0" y="49566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6034560">
            <a:off x="-1502391" y="7200900"/>
            <a:ext cx="3845468" cy="4114800"/>
          </a:xfrm>
          <a:custGeom>
            <a:avLst/>
            <a:gdLst/>
            <a:ahLst/>
            <a:cxnLst/>
            <a:rect r="r" b="b" t="t" l="l"/>
            <a:pathLst>
              <a:path h="4114800" w="3845468">
                <a:moveTo>
                  <a:pt x="0" y="0"/>
                </a:moveTo>
                <a:lnTo>
                  <a:pt x="3845468" y="0"/>
                </a:lnTo>
                <a:lnTo>
                  <a:pt x="384546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1048382">
            <a:off x="7772191" y="1942195"/>
            <a:ext cx="1034860" cy="383329"/>
          </a:xfrm>
          <a:custGeom>
            <a:avLst/>
            <a:gdLst/>
            <a:ahLst/>
            <a:cxnLst/>
            <a:rect r="r" b="b" t="t" l="l"/>
            <a:pathLst>
              <a:path h="383329" w="1034860">
                <a:moveTo>
                  <a:pt x="0" y="0"/>
                </a:moveTo>
                <a:lnTo>
                  <a:pt x="1034860" y="0"/>
                </a:lnTo>
                <a:lnTo>
                  <a:pt x="1034860" y="383330"/>
                </a:lnTo>
                <a:lnTo>
                  <a:pt x="0" y="38333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nvGrpSpPr>
          <p:cNvPr name="Group 12" id="12"/>
          <p:cNvGrpSpPr/>
          <p:nvPr/>
        </p:nvGrpSpPr>
        <p:grpSpPr>
          <a:xfrm rot="0">
            <a:off x="1668613" y="6106657"/>
            <a:ext cx="7961438" cy="377803"/>
            <a:chOff x="0" y="0"/>
            <a:chExt cx="10615250" cy="503737"/>
          </a:xfrm>
        </p:grpSpPr>
        <p:grpSp>
          <p:nvGrpSpPr>
            <p:cNvPr name="Group 13" id="13"/>
            <p:cNvGrpSpPr/>
            <p:nvPr/>
          </p:nvGrpSpPr>
          <p:grpSpPr>
            <a:xfrm rot="0">
              <a:off x="0" y="76200"/>
              <a:ext cx="349693" cy="289415"/>
              <a:chOff x="0" y="0"/>
              <a:chExt cx="982087" cy="812800"/>
            </a:xfrm>
          </p:grpSpPr>
          <p:sp>
            <p:nvSpPr>
              <p:cNvPr name="Freeform 14" id="14"/>
              <p:cNvSpPr/>
              <p:nvPr/>
            </p:nvSpPr>
            <p:spPr>
              <a:xfrm flipH="false" flipV="false" rot="0">
                <a:off x="0" y="0"/>
                <a:ext cx="982087" cy="812800"/>
              </a:xfrm>
              <a:custGeom>
                <a:avLst/>
                <a:gdLst/>
                <a:ahLst/>
                <a:cxnLst/>
                <a:rect r="r" b="b" t="t" l="l"/>
                <a:pathLst>
                  <a:path h="812800" w="982087">
                    <a:moveTo>
                      <a:pt x="491044" y="0"/>
                    </a:moveTo>
                    <a:cubicBezTo>
                      <a:pt x="219848" y="0"/>
                      <a:pt x="0" y="181951"/>
                      <a:pt x="0" y="406400"/>
                    </a:cubicBezTo>
                    <a:cubicBezTo>
                      <a:pt x="0" y="630849"/>
                      <a:pt x="219848" y="812800"/>
                      <a:pt x="491044" y="812800"/>
                    </a:cubicBezTo>
                    <a:cubicBezTo>
                      <a:pt x="762240" y="812800"/>
                      <a:pt x="982087" y="630849"/>
                      <a:pt x="982087" y="406400"/>
                    </a:cubicBezTo>
                    <a:cubicBezTo>
                      <a:pt x="982087" y="181951"/>
                      <a:pt x="762240" y="0"/>
                      <a:pt x="491044" y="0"/>
                    </a:cubicBezTo>
                    <a:close/>
                  </a:path>
                </a:pathLst>
              </a:custGeom>
              <a:solidFill>
                <a:srgbClr val="FAA607"/>
              </a:solidFill>
            </p:spPr>
          </p:sp>
          <p:sp>
            <p:nvSpPr>
              <p:cNvPr name="TextBox 15" id="15"/>
              <p:cNvSpPr txBox="true"/>
              <p:nvPr/>
            </p:nvSpPr>
            <p:spPr>
              <a:xfrm>
                <a:off x="92071" y="104775"/>
                <a:ext cx="797946" cy="631825"/>
              </a:xfrm>
              <a:prstGeom prst="rect">
                <a:avLst/>
              </a:prstGeom>
            </p:spPr>
            <p:txBody>
              <a:bodyPr anchor="ctr" rtlCol="false" tIns="50800" lIns="50800" bIns="50800" rIns="50800"/>
              <a:lstStyle/>
              <a:p>
                <a:pPr algn="ctr">
                  <a:lnSpc>
                    <a:spcPts val="2000"/>
                  </a:lnSpc>
                </a:pPr>
              </a:p>
            </p:txBody>
          </p:sp>
        </p:grpSp>
        <p:sp>
          <p:nvSpPr>
            <p:cNvPr name="TextBox 16" id="16"/>
            <p:cNvSpPr txBox="true"/>
            <p:nvPr/>
          </p:nvSpPr>
          <p:spPr>
            <a:xfrm rot="0">
              <a:off x="485364" y="47625"/>
              <a:ext cx="10129886" cy="456112"/>
            </a:xfrm>
            <a:prstGeom prst="rect">
              <a:avLst/>
            </a:prstGeom>
          </p:spPr>
          <p:txBody>
            <a:bodyPr anchor="t" rtlCol="false" tIns="0" lIns="0" bIns="0" rIns="0">
              <a:spAutoFit/>
            </a:bodyPr>
            <a:lstStyle/>
            <a:p>
              <a:pPr algn="l">
                <a:lnSpc>
                  <a:spcPts val="2499"/>
                </a:lnSpc>
              </a:pPr>
              <a:r>
                <a:rPr lang="en-US" b="true" sz="2499">
                  <a:solidFill>
                    <a:srgbClr val="5D4FCA"/>
                  </a:solidFill>
                  <a:latin typeface="Open Sans Bold"/>
                  <a:ea typeface="Open Sans Bold"/>
                  <a:cs typeface="Open Sans Bold"/>
                  <a:sym typeface="Open Sans Bold"/>
                </a:rPr>
                <a:t>AGGREGATING DATA (PENDIDIKAN TERAKHIR)</a:t>
              </a:r>
            </a:p>
          </p:txBody>
        </p:sp>
      </p:grpSp>
      <p:grpSp>
        <p:nvGrpSpPr>
          <p:cNvPr name="Group 17" id="17"/>
          <p:cNvGrpSpPr/>
          <p:nvPr/>
        </p:nvGrpSpPr>
        <p:grpSpPr>
          <a:xfrm rot="0">
            <a:off x="1676245" y="2090547"/>
            <a:ext cx="217061" cy="217061"/>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A607"/>
            </a:solidFill>
          </p:spPr>
        </p:sp>
        <p:sp>
          <p:nvSpPr>
            <p:cNvPr name="TextBox 19" id="19"/>
            <p:cNvSpPr txBox="true"/>
            <p:nvPr/>
          </p:nvSpPr>
          <p:spPr>
            <a:xfrm>
              <a:off x="76200" y="104775"/>
              <a:ext cx="660400" cy="631825"/>
            </a:xfrm>
            <a:prstGeom prst="rect">
              <a:avLst/>
            </a:prstGeom>
          </p:spPr>
          <p:txBody>
            <a:bodyPr anchor="ctr" rtlCol="false" tIns="50800" lIns="50800" bIns="50800" rIns="50800"/>
            <a:lstStyle/>
            <a:p>
              <a:pPr algn="ctr">
                <a:lnSpc>
                  <a:spcPts val="2000"/>
                </a:lnSpc>
              </a:pPr>
            </a:p>
          </p:txBody>
        </p:sp>
      </p:grpSp>
      <p:sp>
        <p:nvSpPr>
          <p:cNvPr name="Freeform 20" id="20"/>
          <p:cNvSpPr/>
          <p:nvPr/>
        </p:nvSpPr>
        <p:spPr>
          <a:xfrm flipH="false" flipV="false" rot="0">
            <a:off x="2147960" y="2710460"/>
            <a:ext cx="14964181" cy="2789771"/>
          </a:xfrm>
          <a:custGeom>
            <a:avLst/>
            <a:gdLst/>
            <a:ahLst/>
            <a:cxnLst/>
            <a:rect r="r" b="b" t="t" l="l"/>
            <a:pathLst>
              <a:path h="2789771" w="14964181">
                <a:moveTo>
                  <a:pt x="0" y="0"/>
                </a:moveTo>
                <a:lnTo>
                  <a:pt x="14964181" y="0"/>
                </a:lnTo>
                <a:lnTo>
                  <a:pt x="14964181" y="2789771"/>
                </a:lnTo>
                <a:lnTo>
                  <a:pt x="0" y="2789771"/>
                </a:lnTo>
                <a:lnTo>
                  <a:pt x="0" y="0"/>
                </a:lnTo>
                <a:close/>
              </a:path>
            </a:pathLst>
          </a:custGeom>
          <a:blipFill>
            <a:blip r:embed="rId14"/>
            <a:stretch>
              <a:fillRect l="0" t="0" r="0" b="0"/>
            </a:stretch>
          </a:blipFill>
        </p:spPr>
      </p:sp>
      <p:sp>
        <p:nvSpPr>
          <p:cNvPr name="Freeform 21" id="21"/>
          <p:cNvSpPr/>
          <p:nvPr/>
        </p:nvSpPr>
        <p:spPr>
          <a:xfrm flipH="false" flipV="false" rot="0">
            <a:off x="2222151" y="7040822"/>
            <a:ext cx="14815800" cy="2217478"/>
          </a:xfrm>
          <a:custGeom>
            <a:avLst/>
            <a:gdLst/>
            <a:ahLst/>
            <a:cxnLst/>
            <a:rect r="r" b="b" t="t" l="l"/>
            <a:pathLst>
              <a:path h="2217478" w="14815800">
                <a:moveTo>
                  <a:pt x="0" y="0"/>
                </a:moveTo>
                <a:lnTo>
                  <a:pt x="14815800" y="0"/>
                </a:lnTo>
                <a:lnTo>
                  <a:pt x="14815800" y="2217478"/>
                </a:lnTo>
                <a:lnTo>
                  <a:pt x="0" y="2217478"/>
                </a:lnTo>
                <a:lnTo>
                  <a:pt x="0" y="0"/>
                </a:lnTo>
                <a:close/>
              </a:path>
            </a:pathLst>
          </a:custGeom>
          <a:blipFill>
            <a:blip r:embed="rId15"/>
            <a:stretch>
              <a:fillRect l="0" t="0" r="0" b="0"/>
            </a:stretch>
          </a:blipFill>
        </p:spPr>
      </p:sp>
      <p:sp>
        <p:nvSpPr>
          <p:cNvPr name="TextBox 22" id="22"/>
          <p:cNvSpPr txBox="true"/>
          <p:nvPr/>
        </p:nvSpPr>
        <p:spPr>
          <a:xfrm rot="0">
            <a:off x="11428284" y="1200266"/>
            <a:ext cx="1370528" cy="269875"/>
          </a:xfrm>
          <a:prstGeom prst="rect">
            <a:avLst/>
          </a:prstGeom>
        </p:spPr>
        <p:txBody>
          <a:bodyPr anchor="t" rtlCol="false" tIns="0" lIns="0" bIns="0" rIns="0">
            <a:spAutoFit/>
          </a:bodyPr>
          <a:lstStyle/>
          <a:p>
            <a:pPr algn="ctr">
              <a:lnSpc>
                <a:spcPts val="2000"/>
              </a:lnSpc>
            </a:pPr>
            <a:r>
              <a:rPr lang="en-US" sz="2000">
                <a:solidFill>
                  <a:srgbClr val="27194D">
                    <a:alpha val="55686"/>
                  </a:srgbClr>
                </a:solidFill>
                <a:latin typeface="Open Sans"/>
                <a:ea typeface="Open Sans"/>
                <a:cs typeface="Open Sans"/>
                <a:sym typeface="Open Sans"/>
              </a:rPr>
              <a:t>LAYANAN</a:t>
            </a:r>
          </a:p>
        </p:txBody>
      </p:sp>
      <p:sp>
        <p:nvSpPr>
          <p:cNvPr name="TextBox 23" id="23"/>
          <p:cNvSpPr txBox="true"/>
          <p:nvPr/>
        </p:nvSpPr>
        <p:spPr>
          <a:xfrm rot="0">
            <a:off x="1847695" y="1109652"/>
            <a:ext cx="3115460" cy="422485"/>
          </a:xfrm>
          <a:prstGeom prst="rect">
            <a:avLst/>
          </a:prstGeom>
        </p:spPr>
        <p:txBody>
          <a:bodyPr anchor="t" rtlCol="false" tIns="0" lIns="0" bIns="0" rIns="0">
            <a:spAutoFit/>
          </a:bodyPr>
          <a:lstStyle/>
          <a:p>
            <a:pPr algn="l">
              <a:lnSpc>
                <a:spcPts val="3107"/>
              </a:lnSpc>
            </a:pPr>
            <a:r>
              <a:rPr lang="en-US" sz="2799" b="true">
                <a:solidFill>
                  <a:srgbClr val="5D4FCA"/>
                </a:solidFill>
                <a:latin typeface="Roboto Condensed Bold"/>
                <a:ea typeface="Roboto Condensed Bold"/>
                <a:cs typeface="Roboto Condensed Bold"/>
                <a:sym typeface="Roboto Condensed Bold"/>
              </a:rPr>
              <a:t>EKSPLORASI DATA</a:t>
            </a:r>
          </a:p>
        </p:txBody>
      </p:sp>
      <p:sp>
        <p:nvSpPr>
          <p:cNvPr name="TextBox 24" id="24"/>
          <p:cNvSpPr txBox="true"/>
          <p:nvPr/>
        </p:nvSpPr>
        <p:spPr>
          <a:xfrm rot="0">
            <a:off x="9963393" y="1176836"/>
            <a:ext cx="1293441" cy="269875"/>
          </a:xfrm>
          <a:prstGeom prst="rect">
            <a:avLst/>
          </a:prstGeom>
        </p:spPr>
        <p:txBody>
          <a:bodyPr anchor="t" rtlCol="false" tIns="0" lIns="0" bIns="0" rIns="0">
            <a:spAutoFit/>
          </a:bodyPr>
          <a:lstStyle/>
          <a:p>
            <a:pPr algn="ctr">
              <a:lnSpc>
                <a:spcPts val="2000"/>
              </a:lnSpc>
            </a:pPr>
            <a:r>
              <a:rPr lang="en-US" b="true" sz="2000">
                <a:solidFill>
                  <a:srgbClr val="5D4FCA"/>
                </a:solidFill>
                <a:latin typeface="Open Sans Bold"/>
                <a:ea typeface="Open Sans Bold"/>
                <a:cs typeface="Open Sans Bold"/>
                <a:sym typeface="Open Sans Bold"/>
              </a:rPr>
              <a:t>BERANDA</a:t>
            </a:r>
          </a:p>
        </p:txBody>
      </p:sp>
      <p:sp>
        <p:nvSpPr>
          <p:cNvPr name="TextBox 25" id="25"/>
          <p:cNvSpPr txBox="true"/>
          <p:nvPr/>
        </p:nvSpPr>
        <p:spPr>
          <a:xfrm rot="0">
            <a:off x="1977520" y="2081022"/>
            <a:ext cx="7166480" cy="330178"/>
          </a:xfrm>
          <a:prstGeom prst="rect">
            <a:avLst/>
          </a:prstGeom>
        </p:spPr>
        <p:txBody>
          <a:bodyPr anchor="t" rtlCol="false" tIns="0" lIns="0" bIns="0" rIns="0">
            <a:spAutoFit/>
          </a:bodyPr>
          <a:lstStyle/>
          <a:p>
            <a:pPr algn="l">
              <a:lnSpc>
                <a:spcPts val="2499"/>
              </a:lnSpc>
            </a:pPr>
            <a:r>
              <a:rPr lang="en-US" b="true" sz="2499">
                <a:solidFill>
                  <a:srgbClr val="5D4FCA"/>
                </a:solidFill>
                <a:latin typeface="Open Sans Bold"/>
                <a:ea typeface="Open Sans Bold"/>
                <a:cs typeface="Open Sans Bold"/>
                <a:sym typeface="Open Sans Bold"/>
              </a:rPr>
              <a:t>SHORTING DATA (PENDIDIKAN TERAKHIR)</a:t>
            </a:r>
          </a:p>
        </p:txBody>
      </p:sp>
      <p:sp>
        <p:nvSpPr>
          <p:cNvPr name="TextBox 26" id="26"/>
          <p:cNvSpPr txBox="true"/>
          <p:nvPr/>
        </p:nvSpPr>
        <p:spPr>
          <a:xfrm rot="0">
            <a:off x="13459412" y="1200310"/>
            <a:ext cx="3140283" cy="269831"/>
          </a:xfrm>
          <a:prstGeom prst="rect">
            <a:avLst/>
          </a:prstGeom>
        </p:spPr>
        <p:txBody>
          <a:bodyPr anchor="t" rtlCol="false" tIns="0" lIns="0" bIns="0" rIns="0">
            <a:spAutoFit/>
          </a:bodyPr>
          <a:lstStyle/>
          <a:p>
            <a:pPr algn="l">
              <a:lnSpc>
                <a:spcPts val="2000"/>
              </a:lnSpc>
              <a:spcBef>
                <a:spcPct val="0"/>
              </a:spcBef>
            </a:pPr>
            <a:r>
              <a:rPr lang="en-US" b="true" sz="2000">
                <a:solidFill>
                  <a:srgbClr val="FFF8E9"/>
                </a:solidFill>
                <a:latin typeface="Open Sans Bold"/>
                <a:ea typeface="Open Sans Bold"/>
                <a:cs typeface="Open Sans Bold"/>
                <a:sym typeface="Open Sans Bold"/>
              </a:rPr>
              <a:t>EKSPLORASI TABEL</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FF8E9"/>
        </a:solidFill>
      </p:bgPr>
    </p:bg>
    <p:spTree>
      <p:nvGrpSpPr>
        <p:cNvPr id="1" name=""/>
        <p:cNvGrpSpPr/>
        <p:nvPr/>
      </p:nvGrpSpPr>
      <p:grpSpPr>
        <a:xfrm>
          <a:off x="0" y="0"/>
          <a:ext cx="0" cy="0"/>
          <a:chOff x="0" y="0"/>
          <a:chExt cx="0" cy="0"/>
        </a:xfrm>
      </p:grpSpPr>
      <p:sp>
        <p:nvSpPr>
          <p:cNvPr name="Freeform 2" id="2"/>
          <p:cNvSpPr/>
          <p:nvPr/>
        </p:nvSpPr>
        <p:spPr>
          <a:xfrm flipH="false" flipV="false" rot="-5687936">
            <a:off x="15336566" y="-1307732"/>
            <a:ext cx="3845468" cy="4114800"/>
          </a:xfrm>
          <a:custGeom>
            <a:avLst/>
            <a:gdLst/>
            <a:ahLst/>
            <a:cxnLst/>
            <a:rect r="r" b="b" t="t" l="l"/>
            <a:pathLst>
              <a:path h="4114800" w="3845468">
                <a:moveTo>
                  <a:pt x="0" y="0"/>
                </a:moveTo>
                <a:lnTo>
                  <a:pt x="3845468" y="0"/>
                </a:lnTo>
                <a:lnTo>
                  <a:pt x="3845468"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3138009" y="1035414"/>
            <a:ext cx="4121291" cy="571004"/>
            <a:chOff x="0" y="0"/>
            <a:chExt cx="1370603" cy="189897"/>
          </a:xfrm>
        </p:grpSpPr>
        <p:sp>
          <p:nvSpPr>
            <p:cNvPr name="Freeform 4" id="4"/>
            <p:cNvSpPr/>
            <p:nvPr/>
          </p:nvSpPr>
          <p:spPr>
            <a:xfrm flipH="false" flipV="false" rot="0">
              <a:off x="0" y="0"/>
              <a:ext cx="1370603" cy="189897"/>
            </a:xfrm>
            <a:custGeom>
              <a:avLst/>
              <a:gdLst/>
              <a:ahLst/>
              <a:cxnLst/>
              <a:rect r="r" b="b" t="t" l="l"/>
              <a:pathLst>
                <a:path h="189897" w="1370603">
                  <a:moveTo>
                    <a:pt x="94948" y="0"/>
                  </a:moveTo>
                  <a:lnTo>
                    <a:pt x="1275655" y="0"/>
                  </a:lnTo>
                  <a:cubicBezTo>
                    <a:pt x="1300837" y="0"/>
                    <a:pt x="1324987" y="10003"/>
                    <a:pt x="1342794" y="27810"/>
                  </a:cubicBezTo>
                  <a:cubicBezTo>
                    <a:pt x="1360600" y="45616"/>
                    <a:pt x="1370603" y="69767"/>
                    <a:pt x="1370603" y="94948"/>
                  </a:cubicBezTo>
                  <a:lnTo>
                    <a:pt x="1370603" y="94948"/>
                  </a:lnTo>
                  <a:cubicBezTo>
                    <a:pt x="1370603" y="147387"/>
                    <a:pt x="1328094" y="189897"/>
                    <a:pt x="1275655" y="189897"/>
                  </a:cubicBezTo>
                  <a:lnTo>
                    <a:pt x="94948" y="189897"/>
                  </a:lnTo>
                  <a:cubicBezTo>
                    <a:pt x="42510" y="189897"/>
                    <a:pt x="0" y="147387"/>
                    <a:pt x="0" y="94948"/>
                  </a:cubicBezTo>
                  <a:lnTo>
                    <a:pt x="0" y="94948"/>
                  </a:lnTo>
                  <a:cubicBezTo>
                    <a:pt x="0" y="42510"/>
                    <a:pt x="42510" y="0"/>
                    <a:pt x="94948" y="0"/>
                  </a:cubicBezTo>
                  <a:close/>
                </a:path>
              </a:pathLst>
            </a:custGeom>
            <a:solidFill>
              <a:srgbClr val="FAA607"/>
            </a:solidFill>
            <a:ln cap="rnd">
              <a:noFill/>
              <a:prstDash val="solid"/>
              <a:round/>
            </a:ln>
          </p:spPr>
        </p:sp>
        <p:sp>
          <p:nvSpPr>
            <p:cNvPr name="TextBox 5" id="5"/>
            <p:cNvSpPr txBox="true"/>
            <p:nvPr/>
          </p:nvSpPr>
          <p:spPr>
            <a:xfrm>
              <a:off x="0" y="-57150"/>
              <a:ext cx="1370603" cy="247047"/>
            </a:xfrm>
            <a:prstGeom prst="rect">
              <a:avLst/>
            </a:prstGeom>
          </p:spPr>
          <p:txBody>
            <a:bodyPr anchor="ctr" rtlCol="false" tIns="50800" lIns="50800" bIns="50800" rIns="50800"/>
            <a:lstStyle/>
            <a:p>
              <a:pPr algn="ctr" marL="0" indent="0" lvl="0">
                <a:lnSpc>
                  <a:spcPts val="2824"/>
                </a:lnSpc>
                <a:spcBef>
                  <a:spcPct val="0"/>
                </a:spcBef>
              </a:pPr>
            </a:p>
          </p:txBody>
        </p:sp>
      </p:grpSp>
      <p:sp>
        <p:nvSpPr>
          <p:cNvPr name="Freeform 6" id="6"/>
          <p:cNvSpPr/>
          <p:nvPr/>
        </p:nvSpPr>
        <p:spPr>
          <a:xfrm flipH="false" flipV="false" rot="0">
            <a:off x="16815378" y="1166754"/>
            <a:ext cx="296763" cy="308325"/>
          </a:xfrm>
          <a:custGeom>
            <a:avLst/>
            <a:gdLst/>
            <a:ahLst/>
            <a:cxnLst/>
            <a:rect r="r" b="b" t="t" l="l"/>
            <a:pathLst>
              <a:path h="308325" w="296763">
                <a:moveTo>
                  <a:pt x="0" y="0"/>
                </a:moveTo>
                <a:lnTo>
                  <a:pt x="296763" y="0"/>
                </a:lnTo>
                <a:lnTo>
                  <a:pt x="296763" y="308325"/>
                </a:lnTo>
                <a:lnTo>
                  <a:pt x="0" y="30832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2145208">
            <a:off x="12619779" y="3716346"/>
            <a:ext cx="8984724" cy="4018622"/>
          </a:xfrm>
          <a:custGeom>
            <a:avLst/>
            <a:gdLst/>
            <a:ahLst/>
            <a:cxnLst/>
            <a:rect r="r" b="b" t="t" l="l"/>
            <a:pathLst>
              <a:path h="4018622" w="8984724">
                <a:moveTo>
                  <a:pt x="0" y="0"/>
                </a:moveTo>
                <a:lnTo>
                  <a:pt x="8984725" y="0"/>
                </a:lnTo>
                <a:lnTo>
                  <a:pt x="8984725" y="4018622"/>
                </a:lnTo>
                <a:lnTo>
                  <a:pt x="0" y="401862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2145208">
            <a:off x="-3139890" y="3134189"/>
            <a:ext cx="8984724" cy="4018622"/>
          </a:xfrm>
          <a:custGeom>
            <a:avLst/>
            <a:gdLst/>
            <a:ahLst/>
            <a:cxnLst/>
            <a:rect r="r" b="b" t="t" l="l"/>
            <a:pathLst>
              <a:path h="4018622" w="8984724">
                <a:moveTo>
                  <a:pt x="0" y="0"/>
                </a:moveTo>
                <a:lnTo>
                  <a:pt x="8984725" y="0"/>
                </a:lnTo>
                <a:lnTo>
                  <a:pt x="8984725" y="4018622"/>
                </a:lnTo>
                <a:lnTo>
                  <a:pt x="0" y="401862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1028700" y="1049653"/>
            <a:ext cx="647545" cy="495666"/>
          </a:xfrm>
          <a:custGeom>
            <a:avLst/>
            <a:gdLst/>
            <a:ahLst/>
            <a:cxnLst/>
            <a:rect r="r" b="b" t="t" l="l"/>
            <a:pathLst>
              <a:path h="495666" w="647545">
                <a:moveTo>
                  <a:pt x="0" y="0"/>
                </a:moveTo>
                <a:lnTo>
                  <a:pt x="647545" y="0"/>
                </a:lnTo>
                <a:lnTo>
                  <a:pt x="647545" y="495666"/>
                </a:lnTo>
                <a:lnTo>
                  <a:pt x="0" y="49566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6034560">
            <a:off x="-1502391" y="7200900"/>
            <a:ext cx="3845468" cy="4114800"/>
          </a:xfrm>
          <a:custGeom>
            <a:avLst/>
            <a:gdLst/>
            <a:ahLst/>
            <a:cxnLst/>
            <a:rect r="r" b="b" t="t" l="l"/>
            <a:pathLst>
              <a:path h="4114800" w="3845468">
                <a:moveTo>
                  <a:pt x="0" y="0"/>
                </a:moveTo>
                <a:lnTo>
                  <a:pt x="3845468" y="0"/>
                </a:lnTo>
                <a:lnTo>
                  <a:pt x="384546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1048382">
            <a:off x="7772191" y="1942195"/>
            <a:ext cx="1034860" cy="383329"/>
          </a:xfrm>
          <a:custGeom>
            <a:avLst/>
            <a:gdLst/>
            <a:ahLst/>
            <a:cxnLst/>
            <a:rect r="r" b="b" t="t" l="l"/>
            <a:pathLst>
              <a:path h="383329" w="1034860">
                <a:moveTo>
                  <a:pt x="0" y="0"/>
                </a:moveTo>
                <a:lnTo>
                  <a:pt x="1034860" y="0"/>
                </a:lnTo>
                <a:lnTo>
                  <a:pt x="1034860" y="383330"/>
                </a:lnTo>
                <a:lnTo>
                  <a:pt x="0" y="38333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2" id="12"/>
          <p:cNvSpPr/>
          <p:nvPr/>
        </p:nvSpPr>
        <p:spPr>
          <a:xfrm flipH="false" flipV="false" rot="0">
            <a:off x="2127658" y="2837782"/>
            <a:ext cx="15131642" cy="2837183"/>
          </a:xfrm>
          <a:custGeom>
            <a:avLst/>
            <a:gdLst/>
            <a:ahLst/>
            <a:cxnLst/>
            <a:rect r="r" b="b" t="t" l="l"/>
            <a:pathLst>
              <a:path h="2837183" w="15131642">
                <a:moveTo>
                  <a:pt x="0" y="0"/>
                </a:moveTo>
                <a:lnTo>
                  <a:pt x="15131642" y="0"/>
                </a:lnTo>
                <a:lnTo>
                  <a:pt x="15131642" y="2837183"/>
                </a:lnTo>
                <a:lnTo>
                  <a:pt x="0" y="2837183"/>
                </a:lnTo>
                <a:lnTo>
                  <a:pt x="0" y="0"/>
                </a:lnTo>
                <a:close/>
              </a:path>
            </a:pathLst>
          </a:custGeom>
          <a:blipFill>
            <a:blip r:embed="rId14"/>
            <a:stretch>
              <a:fillRect l="0" t="0" r="0" b="0"/>
            </a:stretch>
          </a:blipFill>
        </p:spPr>
      </p:sp>
      <p:grpSp>
        <p:nvGrpSpPr>
          <p:cNvPr name="Group 13" id="13"/>
          <p:cNvGrpSpPr/>
          <p:nvPr/>
        </p:nvGrpSpPr>
        <p:grpSpPr>
          <a:xfrm rot="0">
            <a:off x="1676245" y="2033397"/>
            <a:ext cx="6589085" cy="377803"/>
            <a:chOff x="0" y="0"/>
            <a:chExt cx="8785446" cy="503737"/>
          </a:xfrm>
        </p:grpSpPr>
        <p:grpSp>
          <p:nvGrpSpPr>
            <p:cNvPr name="Group 14" id="14"/>
            <p:cNvGrpSpPr/>
            <p:nvPr/>
          </p:nvGrpSpPr>
          <p:grpSpPr>
            <a:xfrm rot="0">
              <a:off x="0" y="76200"/>
              <a:ext cx="289415" cy="289415"/>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A607"/>
              </a:solidFill>
            </p:spPr>
          </p:sp>
          <p:sp>
            <p:nvSpPr>
              <p:cNvPr name="TextBox 16" id="16"/>
              <p:cNvSpPr txBox="true"/>
              <p:nvPr/>
            </p:nvSpPr>
            <p:spPr>
              <a:xfrm>
                <a:off x="76200" y="104775"/>
                <a:ext cx="660400" cy="631825"/>
              </a:xfrm>
              <a:prstGeom prst="rect">
                <a:avLst/>
              </a:prstGeom>
            </p:spPr>
            <p:txBody>
              <a:bodyPr anchor="ctr" rtlCol="false" tIns="50800" lIns="50800" bIns="50800" rIns="50800"/>
              <a:lstStyle/>
              <a:p>
                <a:pPr algn="ctr">
                  <a:lnSpc>
                    <a:spcPts val="2000"/>
                  </a:lnSpc>
                </a:pPr>
              </a:p>
            </p:txBody>
          </p:sp>
        </p:grpSp>
        <p:sp>
          <p:nvSpPr>
            <p:cNvPr name="TextBox 17" id="17"/>
            <p:cNvSpPr txBox="true"/>
            <p:nvPr/>
          </p:nvSpPr>
          <p:spPr>
            <a:xfrm rot="0">
              <a:off x="401700" y="47625"/>
              <a:ext cx="8383746" cy="456112"/>
            </a:xfrm>
            <a:prstGeom prst="rect">
              <a:avLst/>
            </a:prstGeom>
          </p:spPr>
          <p:txBody>
            <a:bodyPr anchor="t" rtlCol="false" tIns="0" lIns="0" bIns="0" rIns="0">
              <a:spAutoFit/>
            </a:bodyPr>
            <a:lstStyle/>
            <a:p>
              <a:pPr algn="l">
                <a:lnSpc>
                  <a:spcPts val="2499"/>
                </a:lnSpc>
              </a:pPr>
              <a:r>
                <a:rPr lang="en-US" b="true" sz="2499">
                  <a:solidFill>
                    <a:srgbClr val="5D4FCA"/>
                  </a:solidFill>
                  <a:latin typeface="Open Sans Bold"/>
                  <a:ea typeface="Open Sans Bold"/>
                  <a:cs typeface="Open Sans Bold"/>
                  <a:sym typeface="Open Sans Bold"/>
                </a:rPr>
                <a:t>SHORTING DATA (KELOMPOK UMUR)</a:t>
              </a:r>
            </a:p>
          </p:txBody>
        </p:sp>
      </p:grpSp>
      <p:grpSp>
        <p:nvGrpSpPr>
          <p:cNvPr name="Group 18" id="18"/>
          <p:cNvGrpSpPr/>
          <p:nvPr/>
        </p:nvGrpSpPr>
        <p:grpSpPr>
          <a:xfrm rot="0">
            <a:off x="1847695" y="5998815"/>
            <a:ext cx="217061" cy="217061"/>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A607"/>
            </a:solidFill>
          </p:spPr>
        </p:sp>
        <p:sp>
          <p:nvSpPr>
            <p:cNvPr name="TextBox 20" id="20"/>
            <p:cNvSpPr txBox="true"/>
            <p:nvPr/>
          </p:nvSpPr>
          <p:spPr>
            <a:xfrm>
              <a:off x="76200" y="104775"/>
              <a:ext cx="660400" cy="631825"/>
            </a:xfrm>
            <a:prstGeom prst="rect">
              <a:avLst/>
            </a:prstGeom>
          </p:spPr>
          <p:txBody>
            <a:bodyPr anchor="ctr" rtlCol="false" tIns="50800" lIns="50800" bIns="50800" rIns="50800"/>
            <a:lstStyle/>
            <a:p>
              <a:pPr algn="ctr">
                <a:lnSpc>
                  <a:spcPts val="2000"/>
                </a:lnSpc>
              </a:pPr>
            </a:p>
          </p:txBody>
        </p:sp>
      </p:grpSp>
      <p:sp>
        <p:nvSpPr>
          <p:cNvPr name="Freeform 21" id="21"/>
          <p:cNvSpPr/>
          <p:nvPr/>
        </p:nvSpPr>
        <p:spPr>
          <a:xfrm flipH="false" flipV="false" rot="0">
            <a:off x="2148970" y="6681418"/>
            <a:ext cx="11523681" cy="2666419"/>
          </a:xfrm>
          <a:custGeom>
            <a:avLst/>
            <a:gdLst/>
            <a:ahLst/>
            <a:cxnLst/>
            <a:rect r="r" b="b" t="t" l="l"/>
            <a:pathLst>
              <a:path h="2666419" w="11523681">
                <a:moveTo>
                  <a:pt x="0" y="0"/>
                </a:moveTo>
                <a:lnTo>
                  <a:pt x="11523681" y="0"/>
                </a:lnTo>
                <a:lnTo>
                  <a:pt x="11523681" y="2666419"/>
                </a:lnTo>
                <a:lnTo>
                  <a:pt x="0" y="2666419"/>
                </a:lnTo>
                <a:lnTo>
                  <a:pt x="0" y="0"/>
                </a:lnTo>
                <a:close/>
              </a:path>
            </a:pathLst>
          </a:custGeom>
          <a:blipFill>
            <a:blip r:embed="rId15"/>
            <a:stretch>
              <a:fillRect l="0" t="0" r="0" b="0"/>
            </a:stretch>
          </a:blipFill>
        </p:spPr>
      </p:sp>
      <p:sp>
        <p:nvSpPr>
          <p:cNvPr name="TextBox 22" id="22"/>
          <p:cNvSpPr txBox="true"/>
          <p:nvPr/>
        </p:nvSpPr>
        <p:spPr>
          <a:xfrm rot="0">
            <a:off x="11428284" y="1200266"/>
            <a:ext cx="1370528" cy="269875"/>
          </a:xfrm>
          <a:prstGeom prst="rect">
            <a:avLst/>
          </a:prstGeom>
        </p:spPr>
        <p:txBody>
          <a:bodyPr anchor="t" rtlCol="false" tIns="0" lIns="0" bIns="0" rIns="0">
            <a:spAutoFit/>
          </a:bodyPr>
          <a:lstStyle/>
          <a:p>
            <a:pPr algn="ctr">
              <a:lnSpc>
                <a:spcPts val="2000"/>
              </a:lnSpc>
            </a:pPr>
            <a:r>
              <a:rPr lang="en-US" sz="2000">
                <a:solidFill>
                  <a:srgbClr val="27194D">
                    <a:alpha val="55686"/>
                  </a:srgbClr>
                </a:solidFill>
                <a:latin typeface="Open Sans"/>
                <a:ea typeface="Open Sans"/>
                <a:cs typeface="Open Sans"/>
                <a:sym typeface="Open Sans"/>
              </a:rPr>
              <a:t>LAYANAN</a:t>
            </a:r>
          </a:p>
        </p:txBody>
      </p:sp>
      <p:sp>
        <p:nvSpPr>
          <p:cNvPr name="TextBox 23" id="23"/>
          <p:cNvSpPr txBox="true"/>
          <p:nvPr/>
        </p:nvSpPr>
        <p:spPr>
          <a:xfrm rot="0">
            <a:off x="1847695" y="1109652"/>
            <a:ext cx="3115460" cy="422485"/>
          </a:xfrm>
          <a:prstGeom prst="rect">
            <a:avLst/>
          </a:prstGeom>
        </p:spPr>
        <p:txBody>
          <a:bodyPr anchor="t" rtlCol="false" tIns="0" lIns="0" bIns="0" rIns="0">
            <a:spAutoFit/>
          </a:bodyPr>
          <a:lstStyle/>
          <a:p>
            <a:pPr algn="l">
              <a:lnSpc>
                <a:spcPts val="3107"/>
              </a:lnSpc>
            </a:pPr>
            <a:r>
              <a:rPr lang="en-US" sz="2799" b="true">
                <a:solidFill>
                  <a:srgbClr val="5D4FCA"/>
                </a:solidFill>
                <a:latin typeface="Roboto Condensed Bold"/>
                <a:ea typeface="Roboto Condensed Bold"/>
                <a:cs typeface="Roboto Condensed Bold"/>
                <a:sym typeface="Roboto Condensed Bold"/>
              </a:rPr>
              <a:t>EKSPLORASI DATA</a:t>
            </a:r>
          </a:p>
        </p:txBody>
      </p:sp>
      <p:sp>
        <p:nvSpPr>
          <p:cNvPr name="TextBox 24" id="24"/>
          <p:cNvSpPr txBox="true"/>
          <p:nvPr/>
        </p:nvSpPr>
        <p:spPr>
          <a:xfrm rot="0">
            <a:off x="9963393" y="1176836"/>
            <a:ext cx="1293441" cy="269875"/>
          </a:xfrm>
          <a:prstGeom prst="rect">
            <a:avLst/>
          </a:prstGeom>
        </p:spPr>
        <p:txBody>
          <a:bodyPr anchor="t" rtlCol="false" tIns="0" lIns="0" bIns="0" rIns="0">
            <a:spAutoFit/>
          </a:bodyPr>
          <a:lstStyle/>
          <a:p>
            <a:pPr algn="ctr">
              <a:lnSpc>
                <a:spcPts val="2000"/>
              </a:lnSpc>
            </a:pPr>
            <a:r>
              <a:rPr lang="en-US" b="true" sz="2000">
                <a:solidFill>
                  <a:srgbClr val="5D4FCA"/>
                </a:solidFill>
                <a:latin typeface="Open Sans Bold"/>
                <a:ea typeface="Open Sans Bold"/>
                <a:cs typeface="Open Sans Bold"/>
                <a:sym typeface="Open Sans Bold"/>
              </a:rPr>
              <a:t>BERANDA</a:t>
            </a:r>
          </a:p>
        </p:txBody>
      </p:sp>
      <p:sp>
        <p:nvSpPr>
          <p:cNvPr name="TextBox 25" id="25"/>
          <p:cNvSpPr txBox="true"/>
          <p:nvPr/>
        </p:nvSpPr>
        <p:spPr>
          <a:xfrm rot="0">
            <a:off x="13459412" y="1200310"/>
            <a:ext cx="3140283" cy="269831"/>
          </a:xfrm>
          <a:prstGeom prst="rect">
            <a:avLst/>
          </a:prstGeom>
        </p:spPr>
        <p:txBody>
          <a:bodyPr anchor="t" rtlCol="false" tIns="0" lIns="0" bIns="0" rIns="0">
            <a:spAutoFit/>
          </a:bodyPr>
          <a:lstStyle/>
          <a:p>
            <a:pPr algn="l">
              <a:lnSpc>
                <a:spcPts val="2000"/>
              </a:lnSpc>
              <a:spcBef>
                <a:spcPct val="0"/>
              </a:spcBef>
            </a:pPr>
            <a:r>
              <a:rPr lang="en-US" b="true" sz="2000">
                <a:solidFill>
                  <a:srgbClr val="FFF8E9"/>
                </a:solidFill>
                <a:latin typeface="Open Sans Bold"/>
                <a:ea typeface="Open Sans Bold"/>
                <a:cs typeface="Open Sans Bold"/>
                <a:sym typeface="Open Sans Bold"/>
              </a:rPr>
              <a:t>EKSPLORASI TABEL</a:t>
            </a:r>
          </a:p>
        </p:txBody>
      </p:sp>
      <p:sp>
        <p:nvSpPr>
          <p:cNvPr name="TextBox 26" id="26"/>
          <p:cNvSpPr txBox="true"/>
          <p:nvPr/>
        </p:nvSpPr>
        <p:spPr>
          <a:xfrm rot="0">
            <a:off x="2148970" y="5989290"/>
            <a:ext cx="6691755" cy="330178"/>
          </a:xfrm>
          <a:prstGeom prst="rect">
            <a:avLst/>
          </a:prstGeom>
        </p:spPr>
        <p:txBody>
          <a:bodyPr anchor="t" rtlCol="false" tIns="0" lIns="0" bIns="0" rIns="0">
            <a:spAutoFit/>
          </a:bodyPr>
          <a:lstStyle/>
          <a:p>
            <a:pPr algn="l">
              <a:lnSpc>
                <a:spcPts val="2499"/>
              </a:lnSpc>
            </a:pPr>
            <a:r>
              <a:rPr lang="en-US" b="true" sz="2499">
                <a:solidFill>
                  <a:srgbClr val="5D4FCA"/>
                </a:solidFill>
                <a:latin typeface="Open Sans Bold"/>
                <a:ea typeface="Open Sans Bold"/>
                <a:cs typeface="Open Sans Bold"/>
                <a:sym typeface="Open Sans Bold"/>
              </a:rPr>
              <a:t>AGGREGATING DATA (KELOMPOK UMUR)</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FF8E9"/>
        </a:solidFill>
      </p:bgPr>
    </p:bg>
    <p:spTree>
      <p:nvGrpSpPr>
        <p:cNvPr id="1" name=""/>
        <p:cNvGrpSpPr/>
        <p:nvPr/>
      </p:nvGrpSpPr>
      <p:grpSpPr>
        <a:xfrm>
          <a:off x="0" y="0"/>
          <a:ext cx="0" cy="0"/>
          <a:chOff x="0" y="0"/>
          <a:chExt cx="0" cy="0"/>
        </a:xfrm>
      </p:grpSpPr>
      <p:sp>
        <p:nvSpPr>
          <p:cNvPr name="Freeform 2" id="2"/>
          <p:cNvSpPr/>
          <p:nvPr/>
        </p:nvSpPr>
        <p:spPr>
          <a:xfrm flipH="false" flipV="false" rot="-5687936">
            <a:off x="15336566" y="-1307732"/>
            <a:ext cx="3845468" cy="4114800"/>
          </a:xfrm>
          <a:custGeom>
            <a:avLst/>
            <a:gdLst/>
            <a:ahLst/>
            <a:cxnLst/>
            <a:rect r="r" b="b" t="t" l="l"/>
            <a:pathLst>
              <a:path h="4114800" w="3845468">
                <a:moveTo>
                  <a:pt x="0" y="0"/>
                </a:moveTo>
                <a:lnTo>
                  <a:pt x="3845468" y="0"/>
                </a:lnTo>
                <a:lnTo>
                  <a:pt x="3845468"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3138009" y="1035414"/>
            <a:ext cx="4121291" cy="571004"/>
            <a:chOff x="0" y="0"/>
            <a:chExt cx="1370603" cy="189897"/>
          </a:xfrm>
        </p:grpSpPr>
        <p:sp>
          <p:nvSpPr>
            <p:cNvPr name="Freeform 4" id="4"/>
            <p:cNvSpPr/>
            <p:nvPr/>
          </p:nvSpPr>
          <p:spPr>
            <a:xfrm flipH="false" flipV="false" rot="0">
              <a:off x="0" y="0"/>
              <a:ext cx="1370603" cy="189897"/>
            </a:xfrm>
            <a:custGeom>
              <a:avLst/>
              <a:gdLst/>
              <a:ahLst/>
              <a:cxnLst/>
              <a:rect r="r" b="b" t="t" l="l"/>
              <a:pathLst>
                <a:path h="189897" w="1370603">
                  <a:moveTo>
                    <a:pt x="94948" y="0"/>
                  </a:moveTo>
                  <a:lnTo>
                    <a:pt x="1275655" y="0"/>
                  </a:lnTo>
                  <a:cubicBezTo>
                    <a:pt x="1300837" y="0"/>
                    <a:pt x="1324987" y="10003"/>
                    <a:pt x="1342794" y="27810"/>
                  </a:cubicBezTo>
                  <a:cubicBezTo>
                    <a:pt x="1360600" y="45616"/>
                    <a:pt x="1370603" y="69767"/>
                    <a:pt x="1370603" y="94948"/>
                  </a:cubicBezTo>
                  <a:lnTo>
                    <a:pt x="1370603" y="94948"/>
                  </a:lnTo>
                  <a:cubicBezTo>
                    <a:pt x="1370603" y="147387"/>
                    <a:pt x="1328094" y="189897"/>
                    <a:pt x="1275655" y="189897"/>
                  </a:cubicBezTo>
                  <a:lnTo>
                    <a:pt x="94948" y="189897"/>
                  </a:lnTo>
                  <a:cubicBezTo>
                    <a:pt x="42510" y="189897"/>
                    <a:pt x="0" y="147387"/>
                    <a:pt x="0" y="94948"/>
                  </a:cubicBezTo>
                  <a:lnTo>
                    <a:pt x="0" y="94948"/>
                  </a:lnTo>
                  <a:cubicBezTo>
                    <a:pt x="0" y="42510"/>
                    <a:pt x="42510" y="0"/>
                    <a:pt x="94948" y="0"/>
                  </a:cubicBezTo>
                  <a:close/>
                </a:path>
              </a:pathLst>
            </a:custGeom>
            <a:solidFill>
              <a:srgbClr val="FAA607"/>
            </a:solidFill>
            <a:ln cap="rnd">
              <a:noFill/>
              <a:prstDash val="solid"/>
              <a:round/>
            </a:ln>
          </p:spPr>
        </p:sp>
        <p:sp>
          <p:nvSpPr>
            <p:cNvPr name="TextBox 5" id="5"/>
            <p:cNvSpPr txBox="true"/>
            <p:nvPr/>
          </p:nvSpPr>
          <p:spPr>
            <a:xfrm>
              <a:off x="0" y="-57150"/>
              <a:ext cx="1370603" cy="247047"/>
            </a:xfrm>
            <a:prstGeom prst="rect">
              <a:avLst/>
            </a:prstGeom>
          </p:spPr>
          <p:txBody>
            <a:bodyPr anchor="ctr" rtlCol="false" tIns="50800" lIns="50800" bIns="50800" rIns="50800"/>
            <a:lstStyle/>
            <a:p>
              <a:pPr algn="ctr" marL="0" indent="0" lvl="0">
                <a:lnSpc>
                  <a:spcPts val="2824"/>
                </a:lnSpc>
                <a:spcBef>
                  <a:spcPct val="0"/>
                </a:spcBef>
              </a:pPr>
            </a:p>
          </p:txBody>
        </p:sp>
      </p:grpSp>
      <p:sp>
        <p:nvSpPr>
          <p:cNvPr name="Freeform 6" id="6"/>
          <p:cNvSpPr/>
          <p:nvPr/>
        </p:nvSpPr>
        <p:spPr>
          <a:xfrm flipH="false" flipV="false" rot="0">
            <a:off x="16815378" y="1166754"/>
            <a:ext cx="296763" cy="308325"/>
          </a:xfrm>
          <a:custGeom>
            <a:avLst/>
            <a:gdLst/>
            <a:ahLst/>
            <a:cxnLst/>
            <a:rect r="r" b="b" t="t" l="l"/>
            <a:pathLst>
              <a:path h="308325" w="296763">
                <a:moveTo>
                  <a:pt x="0" y="0"/>
                </a:moveTo>
                <a:lnTo>
                  <a:pt x="296763" y="0"/>
                </a:lnTo>
                <a:lnTo>
                  <a:pt x="296763" y="308325"/>
                </a:lnTo>
                <a:lnTo>
                  <a:pt x="0" y="30832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2145208">
            <a:off x="12619779" y="3716346"/>
            <a:ext cx="8984724" cy="4018622"/>
          </a:xfrm>
          <a:custGeom>
            <a:avLst/>
            <a:gdLst/>
            <a:ahLst/>
            <a:cxnLst/>
            <a:rect r="r" b="b" t="t" l="l"/>
            <a:pathLst>
              <a:path h="4018622" w="8984724">
                <a:moveTo>
                  <a:pt x="0" y="0"/>
                </a:moveTo>
                <a:lnTo>
                  <a:pt x="8984725" y="0"/>
                </a:lnTo>
                <a:lnTo>
                  <a:pt x="8984725" y="4018622"/>
                </a:lnTo>
                <a:lnTo>
                  <a:pt x="0" y="401862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2145208">
            <a:off x="-3139890" y="3134189"/>
            <a:ext cx="8984724" cy="4018622"/>
          </a:xfrm>
          <a:custGeom>
            <a:avLst/>
            <a:gdLst/>
            <a:ahLst/>
            <a:cxnLst/>
            <a:rect r="r" b="b" t="t" l="l"/>
            <a:pathLst>
              <a:path h="4018622" w="8984724">
                <a:moveTo>
                  <a:pt x="0" y="0"/>
                </a:moveTo>
                <a:lnTo>
                  <a:pt x="8984725" y="0"/>
                </a:lnTo>
                <a:lnTo>
                  <a:pt x="8984725" y="4018622"/>
                </a:lnTo>
                <a:lnTo>
                  <a:pt x="0" y="401862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1028700" y="1049653"/>
            <a:ext cx="647545" cy="495666"/>
          </a:xfrm>
          <a:custGeom>
            <a:avLst/>
            <a:gdLst/>
            <a:ahLst/>
            <a:cxnLst/>
            <a:rect r="r" b="b" t="t" l="l"/>
            <a:pathLst>
              <a:path h="495666" w="647545">
                <a:moveTo>
                  <a:pt x="0" y="0"/>
                </a:moveTo>
                <a:lnTo>
                  <a:pt x="647545" y="0"/>
                </a:lnTo>
                <a:lnTo>
                  <a:pt x="647545" y="495666"/>
                </a:lnTo>
                <a:lnTo>
                  <a:pt x="0" y="49566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6034560">
            <a:off x="-1502391" y="7200900"/>
            <a:ext cx="3845468" cy="4114800"/>
          </a:xfrm>
          <a:custGeom>
            <a:avLst/>
            <a:gdLst/>
            <a:ahLst/>
            <a:cxnLst/>
            <a:rect r="r" b="b" t="t" l="l"/>
            <a:pathLst>
              <a:path h="4114800" w="3845468">
                <a:moveTo>
                  <a:pt x="0" y="0"/>
                </a:moveTo>
                <a:lnTo>
                  <a:pt x="3845468" y="0"/>
                </a:lnTo>
                <a:lnTo>
                  <a:pt x="384546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1048382">
            <a:off x="7772191" y="1942195"/>
            <a:ext cx="1034860" cy="383329"/>
          </a:xfrm>
          <a:custGeom>
            <a:avLst/>
            <a:gdLst/>
            <a:ahLst/>
            <a:cxnLst/>
            <a:rect r="r" b="b" t="t" l="l"/>
            <a:pathLst>
              <a:path h="383329" w="1034860">
                <a:moveTo>
                  <a:pt x="0" y="0"/>
                </a:moveTo>
                <a:lnTo>
                  <a:pt x="1034860" y="0"/>
                </a:lnTo>
                <a:lnTo>
                  <a:pt x="1034860" y="383330"/>
                </a:lnTo>
                <a:lnTo>
                  <a:pt x="0" y="38333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nvGrpSpPr>
          <p:cNvPr name="Group 12" id="12"/>
          <p:cNvGrpSpPr/>
          <p:nvPr/>
        </p:nvGrpSpPr>
        <p:grpSpPr>
          <a:xfrm rot="0">
            <a:off x="1668613" y="6106657"/>
            <a:ext cx="6589085" cy="377803"/>
            <a:chOff x="0" y="0"/>
            <a:chExt cx="8785446" cy="503737"/>
          </a:xfrm>
        </p:grpSpPr>
        <p:grpSp>
          <p:nvGrpSpPr>
            <p:cNvPr name="Group 13" id="13"/>
            <p:cNvGrpSpPr/>
            <p:nvPr/>
          </p:nvGrpSpPr>
          <p:grpSpPr>
            <a:xfrm rot="0">
              <a:off x="0" y="76200"/>
              <a:ext cx="289415" cy="289415"/>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A607"/>
              </a:solidFill>
            </p:spPr>
          </p:sp>
          <p:sp>
            <p:nvSpPr>
              <p:cNvPr name="TextBox 15" id="15"/>
              <p:cNvSpPr txBox="true"/>
              <p:nvPr/>
            </p:nvSpPr>
            <p:spPr>
              <a:xfrm>
                <a:off x="76200" y="104775"/>
                <a:ext cx="660400" cy="631825"/>
              </a:xfrm>
              <a:prstGeom prst="rect">
                <a:avLst/>
              </a:prstGeom>
            </p:spPr>
            <p:txBody>
              <a:bodyPr anchor="ctr" rtlCol="false" tIns="50800" lIns="50800" bIns="50800" rIns="50800"/>
              <a:lstStyle/>
              <a:p>
                <a:pPr algn="ctr">
                  <a:lnSpc>
                    <a:spcPts val="2000"/>
                  </a:lnSpc>
                </a:pPr>
              </a:p>
            </p:txBody>
          </p:sp>
        </p:grpSp>
        <p:sp>
          <p:nvSpPr>
            <p:cNvPr name="TextBox 16" id="16"/>
            <p:cNvSpPr txBox="true"/>
            <p:nvPr/>
          </p:nvSpPr>
          <p:spPr>
            <a:xfrm rot="0">
              <a:off x="401700" y="47625"/>
              <a:ext cx="8383746" cy="456112"/>
            </a:xfrm>
            <a:prstGeom prst="rect">
              <a:avLst/>
            </a:prstGeom>
          </p:spPr>
          <p:txBody>
            <a:bodyPr anchor="t" rtlCol="false" tIns="0" lIns="0" bIns="0" rIns="0">
              <a:spAutoFit/>
            </a:bodyPr>
            <a:lstStyle/>
            <a:p>
              <a:pPr algn="l">
                <a:lnSpc>
                  <a:spcPts val="2499"/>
                </a:lnSpc>
              </a:pPr>
              <a:r>
                <a:rPr lang="en-US" b="true" sz="2499">
                  <a:solidFill>
                    <a:srgbClr val="5D4FCA"/>
                  </a:solidFill>
                  <a:latin typeface="Open Sans Bold"/>
                  <a:ea typeface="Open Sans Bold"/>
                  <a:cs typeface="Open Sans Bold"/>
                  <a:sym typeface="Open Sans Bold"/>
                </a:rPr>
                <a:t>AGGREGATING DATA (JENIS KELAMIN)</a:t>
              </a:r>
            </a:p>
          </p:txBody>
        </p:sp>
      </p:grpSp>
      <p:grpSp>
        <p:nvGrpSpPr>
          <p:cNvPr name="Group 17" id="17"/>
          <p:cNvGrpSpPr/>
          <p:nvPr/>
        </p:nvGrpSpPr>
        <p:grpSpPr>
          <a:xfrm rot="0">
            <a:off x="1676245" y="2090547"/>
            <a:ext cx="217061" cy="217061"/>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A607"/>
            </a:solidFill>
          </p:spPr>
        </p:sp>
        <p:sp>
          <p:nvSpPr>
            <p:cNvPr name="TextBox 19" id="19"/>
            <p:cNvSpPr txBox="true"/>
            <p:nvPr/>
          </p:nvSpPr>
          <p:spPr>
            <a:xfrm>
              <a:off x="76200" y="104775"/>
              <a:ext cx="660400" cy="631825"/>
            </a:xfrm>
            <a:prstGeom prst="rect">
              <a:avLst/>
            </a:prstGeom>
          </p:spPr>
          <p:txBody>
            <a:bodyPr anchor="ctr" rtlCol="false" tIns="50800" lIns="50800" bIns="50800" rIns="50800"/>
            <a:lstStyle/>
            <a:p>
              <a:pPr algn="ctr">
                <a:lnSpc>
                  <a:spcPts val="2000"/>
                </a:lnSpc>
              </a:pPr>
            </a:p>
          </p:txBody>
        </p:sp>
      </p:grpSp>
      <p:sp>
        <p:nvSpPr>
          <p:cNvPr name="Freeform 20" id="20"/>
          <p:cNvSpPr/>
          <p:nvPr/>
        </p:nvSpPr>
        <p:spPr>
          <a:xfrm flipH="false" flipV="false" rot="0">
            <a:off x="2017623" y="2837782"/>
            <a:ext cx="14946136" cy="2809495"/>
          </a:xfrm>
          <a:custGeom>
            <a:avLst/>
            <a:gdLst/>
            <a:ahLst/>
            <a:cxnLst/>
            <a:rect r="r" b="b" t="t" l="l"/>
            <a:pathLst>
              <a:path h="2809495" w="14946136">
                <a:moveTo>
                  <a:pt x="0" y="0"/>
                </a:moveTo>
                <a:lnTo>
                  <a:pt x="14946137" y="0"/>
                </a:lnTo>
                <a:lnTo>
                  <a:pt x="14946137" y="2809495"/>
                </a:lnTo>
                <a:lnTo>
                  <a:pt x="0" y="2809495"/>
                </a:lnTo>
                <a:lnTo>
                  <a:pt x="0" y="0"/>
                </a:lnTo>
                <a:close/>
              </a:path>
            </a:pathLst>
          </a:custGeom>
          <a:blipFill>
            <a:blip r:embed="rId14"/>
            <a:stretch>
              <a:fillRect l="0" t="0" r="0" b="0"/>
            </a:stretch>
          </a:blipFill>
        </p:spPr>
      </p:sp>
      <p:sp>
        <p:nvSpPr>
          <p:cNvPr name="Freeform 21" id="21"/>
          <p:cNvSpPr/>
          <p:nvPr/>
        </p:nvSpPr>
        <p:spPr>
          <a:xfrm flipH="false" flipV="false" rot="0">
            <a:off x="2017623" y="6844345"/>
            <a:ext cx="5111276" cy="3136827"/>
          </a:xfrm>
          <a:custGeom>
            <a:avLst/>
            <a:gdLst/>
            <a:ahLst/>
            <a:cxnLst/>
            <a:rect r="r" b="b" t="t" l="l"/>
            <a:pathLst>
              <a:path h="3136827" w="5111276">
                <a:moveTo>
                  <a:pt x="0" y="0"/>
                </a:moveTo>
                <a:lnTo>
                  <a:pt x="5111277" y="0"/>
                </a:lnTo>
                <a:lnTo>
                  <a:pt x="5111277" y="3136827"/>
                </a:lnTo>
                <a:lnTo>
                  <a:pt x="0" y="3136827"/>
                </a:lnTo>
                <a:lnTo>
                  <a:pt x="0" y="0"/>
                </a:lnTo>
                <a:close/>
              </a:path>
            </a:pathLst>
          </a:custGeom>
          <a:blipFill>
            <a:blip r:embed="rId15"/>
            <a:stretch>
              <a:fillRect l="0" t="0" r="0" b="0"/>
            </a:stretch>
          </a:blipFill>
        </p:spPr>
      </p:sp>
      <p:sp>
        <p:nvSpPr>
          <p:cNvPr name="TextBox 22" id="22"/>
          <p:cNvSpPr txBox="true"/>
          <p:nvPr/>
        </p:nvSpPr>
        <p:spPr>
          <a:xfrm rot="0">
            <a:off x="11428284" y="1200266"/>
            <a:ext cx="1370528" cy="269875"/>
          </a:xfrm>
          <a:prstGeom prst="rect">
            <a:avLst/>
          </a:prstGeom>
        </p:spPr>
        <p:txBody>
          <a:bodyPr anchor="t" rtlCol="false" tIns="0" lIns="0" bIns="0" rIns="0">
            <a:spAutoFit/>
          </a:bodyPr>
          <a:lstStyle/>
          <a:p>
            <a:pPr algn="ctr">
              <a:lnSpc>
                <a:spcPts val="2000"/>
              </a:lnSpc>
            </a:pPr>
            <a:r>
              <a:rPr lang="en-US" sz="2000">
                <a:solidFill>
                  <a:srgbClr val="27194D">
                    <a:alpha val="55686"/>
                  </a:srgbClr>
                </a:solidFill>
                <a:latin typeface="Open Sans"/>
                <a:ea typeface="Open Sans"/>
                <a:cs typeface="Open Sans"/>
                <a:sym typeface="Open Sans"/>
              </a:rPr>
              <a:t>LAYANAN</a:t>
            </a:r>
          </a:p>
        </p:txBody>
      </p:sp>
      <p:sp>
        <p:nvSpPr>
          <p:cNvPr name="TextBox 23" id="23"/>
          <p:cNvSpPr txBox="true"/>
          <p:nvPr/>
        </p:nvSpPr>
        <p:spPr>
          <a:xfrm rot="0">
            <a:off x="1847695" y="1109652"/>
            <a:ext cx="3115460" cy="422485"/>
          </a:xfrm>
          <a:prstGeom prst="rect">
            <a:avLst/>
          </a:prstGeom>
        </p:spPr>
        <p:txBody>
          <a:bodyPr anchor="t" rtlCol="false" tIns="0" lIns="0" bIns="0" rIns="0">
            <a:spAutoFit/>
          </a:bodyPr>
          <a:lstStyle/>
          <a:p>
            <a:pPr algn="l">
              <a:lnSpc>
                <a:spcPts val="3107"/>
              </a:lnSpc>
            </a:pPr>
            <a:r>
              <a:rPr lang="en-US" sz="2799" b="true">
                <a:solidFill>
                  <a:srgbClr val="5D4FCA"/>
                </a:solidFill>
                <a:latin typeface="Roboto Condensed Bold"/>
                <a:ea typeface="Roboto Condensed Bold"/>
                <a:cs typeface="Roboto Condensed Bold"/>
                <a:sym typeface="Roboto Condensed Bold"/>
              </a:rPr>
              <a:t>EKSPLORASI DATA</a:t>
            </a:r>
          </a:p>
        </p:txBody>
      </p:sp>
      <p:sp>
        <p:nvSpPr>
          <p:cNvPr name="TextBox 24" id="24"/>
          <p:cNvSpPr txBox="true"/>
          <p:nvPr/>
        </p:nvSpPr>
        <p:spPr>
          <a:xfrm rot="0">
            <a:off x="9963393" y="1176836"/>
            <a:ext cx="1293441" cy="269875"/>
          </a:xfrm>
          <a:prstGeom prst="rect">
            <a:avLst/>
          </a:prstGeom>
        </p:spPr>
        <p:txBody>
          <a:bodyPr anchor="t" rtlCol="false" tIns="0" lIns="0" bIns="0" rIns="0">
            <a:spAutoFit/>
          </a:bodyPr>
          <a:lstStyle/>
          <a:p>
            <a:pPr algn="ctr">
              <a:lnSpc>
                <a:spcPts val="2000"/>
              </a:lnSpc>
            </a:pPr>
            <a:r>
              <a:rPr lang="en-US" b="true" sz="2000">
                <a:solidFill>
                  <a:srgbClr val="5D4FCA"/>
                </a:solidFill>
                <a:latin typeface="Open Sans Bold"/>
                <a:ea typeface="Open Sans Bold"/>
                <a:cs typeface="Open Sans Bold"/>
                <a:sym typeface="Open Sans Bold"/>
              </a:rPr>
              <a:t>BERANDA</a:t>
            </a:r>
          </a:p>
        </p:txBody>
      </p:sp>
      <p:sp>
        <p:nvSpPr>
          <p:cNvPr name="TextBox 25" id="25"/>
          <p:cNvSpPr txBox="true"/>
          <p:nvPr/>
        </p:nvSpPr>
        <p:spPr>
          <a:xfrm rot="0">
            <a:off x="1977520" y="2081022"/>
            <a:ext cx="6287810" cy="330178"/>
          </a:xfrm>
          <a:prstGeom prst="rect">
            <a:avLst/>
          </a:prstGeom>
        </p:spPr>
        <p:txBody>
          <a:bodyPr anchor="t" rtlCol="false" tIns="0" lIns="0" bIns="0" rIns="0">
            <a:spAutoFit/>
          </a:bodyPr>
          <a:lstStyle/>
          <a:p>
            <a:pPr algn="l">
              <a:lnSpc>
                <a:spcPts val="2499"/>
              </a:lnSpc>
            </a:pPr>
            <a:r>
              <a:rPr lang="en-US" b="true" sz="2499">
                <a:solidFill>
                  <a:srgbClr val="5D4FCA"/>
                </a:solidFill>
                <a:latin typeface="Open Sans Bold"/>
                <a:ea typeface="Open Sans Bold"/>
                <a:cs typeface="Open Sans Bold"/>
                <a:sym typeface="Open Sans Bold"/>
              </a:rPr>
              <a:t>SHORTING DATA (JENIS KELAMIN)</a:t>
            </a:r>
          </a:p>
        </p:txBody>
      </p:sp>
      <p:sp>
        <p:nvSpPr>
          <p:cNvPr name="TextBox 26" id="26"/>
          <p:cNvSpPr txBox="true"/>
          <p:nvPr/>
        </p:nvSpPr>
        <p:spPr>
          <a:xfrm rot="0">
            <a:off x="13459412" y="1200310"/>
            <a:ext cx="3140283" cy="269831"/>
          </a:xfrm>
          <a:prstGeom prst="rect">
            <a:avLst/>
          </a:prstGeom>
        </p:spPr>
        <p:txBody>
          <a:bodyPr anchor="t" rtlCol="false" tIns="0" lIns="0" bIns="0" rIns="0">
            <a:spAutoFit/>
          </a:bodyPr>
          <a:lstStyle/>
          <a:p>
            <a:pPr algn="l">
              <a:lnSpc>
                <a:spcPts val="2000"/>
              </a:lnSpc>
              <a:spcBef>
                <a:spcPct val="0"/>
              </a:spcBef>
            </a:pPr>
            <a:r>
              <a:rPr lang="en-US" b="true" sz="2000">
                <a:solidFill>
                  <a:srgbClr val="FFF8E9"/>
                </a:solidFill>
                <a:latin typeface="Open Sans Bold"/>
                <a:ea typeface="Open Sans Bold"/>
                <a:cs typeface="Open Sans Bold"/>
                <a:sym typeface="Open Sans Bold"/>
              </a:rPr>
              <a:t>EKSPLORASI TABEL</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FF8E9"/>
        </a:solidFill>
      </p:bgPr>
    </p:bg>
    <p:spTree>
      <p:nvGrpSpPr>
        <p:cNvPr id="1" name=""/>
        <p:cNvGrpSpPr/>
        <p:nvPr/>
      </p:nvGrpSpPr>
      <p:grpSpPr>
        <a:xfrm>
          <a:off x="0" y="0"/>
          <a:ext cx="0" cy="0"/>
          <a:chOff x="0" y="0"/>
          <a:chExt cx="0" cy="0"/>
        </a:xfrm>
      </p:grpSpPr>
      <p:grpSp>
        <p:nvGrpSpPr>
          <p:cNvPr name="Group 2" id="2"/>
          <p:cNvGrpSpPr/>
          <p:nvPr/>
        </p:nvGrpSpPr>
        <p:grpSpPr>
          <a:xfrm rot="0">
            <a:off x="13138009" y="1035414"/>
            <a:ext cx="4121291" cy="571004"/>
            <a:chOff x="0" y="0"/>
            <a:chExt cx="1370603" cy="189897"/>
          </a:xfrm>
        </p:grpSpPr>
        <p:sp>
          <p:nvSpPr>
            <p:cNvPr name="Freeform 3" id="3"/>
            <p:cNvSpPr/>
            <p:nvPr/>
          </p:nvSpPr>
          <p:spPr>
            <a:xfrm flipH="false" flipV="false" rot="0">
              <a:off x="0" y="0"/>
              <a:ext cx="1370603" cy="189897"/>
            </a:xfrm>
            <a:custGeom>
              <a:avLst/>
              <a:gdLst/>
              <a:ahLst/>
              <a:cxnLst/>
              <a:rect r="r" b="b" t="t" l="l"/>
              <a:pathLst>
                <a:path h="189897" w="1370603">
                  <a:moveTo>
                    <a:pt x="94948" y="0"/>
                  </a:moveTo>
                  <a:lnTo>
                    <a:pt x="1275655" y="0"/>
                  </a:lnTo>
                  <a:cubicBezTo>
                    <a:pt x="1300837" y="0"/>
                    <a:pt x="1324987" y="10003"/>
                    <a:pt x="1342794" y="27810"/>
                  </a:cubicBezTo>
                  <a:cubicBezTo>
                    <a:pt x="1360600" y="45616"/>
                    <a:pt x="1370603" y="69767"/>
                    <a:pt x="1370603" y="94948"/>
                  </a:cubicBezTo>
                  <a:lnTo>
                    <a:pt x="1370603" y="94948"/>
                  </a:lnTo>
                  <a:cubicBezTo>
                    <a:pt x="1370603" y="147387"/>
                    <a:pt x="1328094" y="189897"/>
                    <a:pt x="1275655" y="189897"/>
                  </a:cubicBezTo>
                  <a:lnTo>
                    <a:pt x="94948" y="189897"/>
                  </a:lnTo>
                  <a:cubicBezTo>
                    <a:pt x="42510" y="189897"/>
                    <a:pt x="0" y="147387"/>
                    <a:pt x="0" y="94948"/>
                  </a:cubicBezTo>
                  <a:lnTo>
                    <a:pt x="0" y="94948"/>
                  </a:lnTo>
                  <a:cubicBezTo>
                    <a:pt x="0" y="42510"/>
                    <a:pt x="42510" y="0"/>
                    <a:pt x="94948" y="0"/>
                  </a:cubicBezTo>
                  <a:close/>
                </a:path>
              </a:pathLst>
            </a:custGeom>
            <a:solidFill>
              <a:srgbClr val="FAA607"/>
            </a:solidFill>
            <a:ln cap="rnd">
              <a:noFill/>
              <a:prstDash val="solid"/>
              <a:round/>
            </a:ln>
          </p:spPr>
        </p:sp>
        <p:sp>
          <p:nvSpPr>
            <p:cNvPr name="TextBox 4" id="4"/>
            <p:cNvSpPr txBox="true"/>
            <p:nvPr/>
          </p:nvSpPr>
          <p:spPr>
            <a:xfrm>
              <a:off x="0" y="-57150"/>
              <a:ext cx="1370603" cy="247047"/>
            </a:xfrm>
            <a:prstGeom prst="rect">
              <a:avLst/>
            </a:prstGeom>
          </p:spPr>
          <p:txBody>
            <a:bodyPr anchor="ctr" rtlCol="false" tIns="50800" lIns="50800" bIns="50800" rIns="50800"/>
            <a:lstStyle/>
            <a:p>
              <a:pPr algn="ctr" marL="0" indent="0" lvl="0">
                <a:lnSpc>
                  <a:spcPts val="2824"/>
                </a:lnSpc>
                <a:spcBef>
                  <a:spcPct val="0"/>
                </a:spcBef>
              </a:pPr>
            </a:p>
          </p:txBody>
        </p:sp>
      </p:grpSp>
      <p:sp>
        <p:nvSpPr>
          <p:cNvPr name="Freeform 5" id="5"/>
          <p:cNvSpPr/>
          <p:nvPr/>
        </p:nvSpPr>
        <p:spPr>
          <a:xfrm flipH="false" flipV="false" rot="0">
            <a:off x="16815378" y="1166754"/>
            <a:ext cx="296763" cy="308325"/>
          </a:xfrm>
          <a:custGeom>
            <a:avLst/>
            <a:gdLst/>
            <a:ahLst/>
            <a:cxnLst/>
            <a:rect r="r" b="b" t="t" l="l"/>
            <a:pathLst>
              <a:path h="308325" w="296763">
                <a:moveTo>
                  <a:pt x="0" y="0"/>
                </a:moveTo>
                <a:lnTo>
                  <a:pt x="296763" y="0"/>
                </a:lnTo>
                <a:lnTo>
                  <a:pt x="296763" y="308325"/>
                </a:lnTo>
                <a:lnTo>
                  <a:pt x="0" y="30832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2145208">
            <a:off x="-1908576" y="445835"/>
            <a:ext cx="8984724" cy="4018622"/>
          </a:xfrm>
          <a:custGeom>
            <a:avLst/>
            <a:gdLst/>
            <a:ahLst/>
            <a:cxnLst/>
            <a:rect r="r" b="b" t="t" l="l"/>
            <a:pathLst>
              <a:path h="4018622" w="8984724">
                <a:moveTo>
                  <a:pt x="0" y="0"/>
                </a:moveTo>
                <a:lnTo>
                  <a:pt x="8984724" y="0"/>
                </a:lnTo>
                <a:lnTo>
                  <a:pt x="8984724" y="4018622"/>
                </a:lnTo>
                <a:lnTo>
                  <a:pt x="0" y="401862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2145208">
            <a:off x="12148525" y="4221640"/>
            <a:ext cx="8984724" cy="4018622"/>
          </a:xfrm>
          <a:custGeom>
            <a:avLst/>
            <a:gdLst/>
            <a:ahLst/>
            <a:cxnLst/>
            <a:rect r="r" b="b" t="t" l="l"/>
            <a:pathLst>
              <a:path h="4018622" w="8984724">
                <a:moveTo>
                  <a:pt x="0" y="0"/>
                </a:moveTo>
                <a:lnTo>
                  <a:pt x="8984724" y="0"/>
                </a:lnTo>
                <a:lnTo>
                  <a:pt x="8984724" y="4018622"/>
                </a:lnTo>
                <a:lnTo>
                  <a:pt x="0" y="401862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028700" y="2458569"/>
            <a:ext cx="5054516" cy="5041879"/>
          </a:xfrm>
          <a:custGeom>
            <a:avLst/>
            <a:gdLst/>
            <a:ahLst/>
            <a:cxnLst/>
            <a:rect r="r" b="b" t="t" l="l"/>
            <a:pathLst>
              <a:path h="5041879" w="5054516">
                <a:moveTo>
                  <a:pt x="0" y="0"/>
                </a:moveTo>
                <a:lnTo>
                  <a:pt x="5054516" y="0"/>
                </a:lnTo>
                <a:lnTo>
                  <a:pt x="5054516" y="5041879"/>
                </a:lnTo>
                <a:lnTo>
                  <a:pt x="0" y="504187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1028700" y="1049653"/>
            <a:ext cx="647545" cy="495666"/>
          </a:xfrm>
          <a:custGeom>
            <a:avLst/>
            <a:gdLst/>
            <a:ahLst/>
            <a:cxnLst/>
            <a:rect r="r" b="b" t="t" l="l"/>
            <a:pathLst>
              <a:path h="495666" w="647545">
                <a:moveTo>
                  <a:pt x="0" y="0"/>
                </a:moveTo>
                <a:lnTo>
                  <a:pt x="647545" y="0"/>
                </a:lnTo>
                <a:lnTo>
                  <a:pt x="647545" y="495666"/>
                </a:lnTo>
                <a:lnTo>
                  <a:pt x="0" y="49566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737715">
            <a:off x="15592676" y="7359466"/>
            <a:ext cx="3845468" cy="4114800"/>
          </a:xfrm>
          <a:custGeom>
            <a:avLst/>
            <a:gdLst/>
            <a:ahLst/>
            <a:cxnLst/>
            <a:rect r="r" b="b" t="t" l="l"/>
            <a:pathLst>
              <a:path h="4114800" w="3845468">
                <a:moveTo>
                  <a:pt x="0" y="0"/>
                </a:moveTo>
                <a:lnTo>
                  <a:pt x="3845467" y="0"/>
                </a:lnTo>
                <a:lnTo>
                  <a:pt x="3845467"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6034560">
            <a:off x="-1502391" y="7200900"/>
            <a:ext cx="3845468" cy="4114800"/>
          </a:xfrm>
          <a:custGeom>
            <a:avLst/>
            <a:gdLst/>
            <a:ahLst/>
            <a:cxnLst/>
            <a:rect r="r" b="b" t="t" l="l"/>
            <a:pathLst>
              <a:path h="4114800" w="3845468">
                <a:moveTo>
                  <a:pt x="0" y="0"/>
                </a:moveTo>
                <a:lnTo>
                  <a:pt x="3845468" y="0"/>
                </a:lnTo>
                <a:lnTo>
                  <a:pt x="3845468"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2" id="12"/>
          <p:cNvSpPr/>
          <p:nvPr/>
        </p:nvSpPr>
        <p:spPr>
          <a:xfrm flipH="false" flipV="false" rot="-1342151">
            <a:off x="7403138" y="1649866"/>
            <a:ext cx="626952" cy="392130"/>
          </a:xfrm>
          <a:custGeom>
            <a:avLst/>
            <a:gdLst/>
            <a:ahLst/>
            <a:cxnLst/>
            <a:rect r="r" b="b" t="t" l="l"/>
            <a:pathLst>
              <a:path h="392130" w="626952">
                <a:moveTo>
                  <a:pt x="0" y="0"/>
                </a:moveTo>
                <a:lnTo>
                  <a:pt x="626953" y="0"/>
                </a:lnTo>
                <a:lnTo>
                  <a:pt x="626953" y="392130"/>
                </a:lnTo>
                <a:lnTo>
                  <a:pt x="0" y="39213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3" id="13"/>
          <p:cNvSpPr/>
          <p:nvPr/>
        </p:nvSpPr>
        <p:spPr>
          <a:xfrm flipH="false" flipV="false" rot="6902289">
            <a:off x="16690589" y="8888367"/>
            <a:ext cx="1034860" cy="383329"/>
          </a:xfrm>
          <a:custGeom>
            <a:avLst/>
            <a:gdLst/>
            <a:ahLst/>
            <a:cxnLst/>
            <a:rect r="r" b="b" t="t" l="l"/>
            <a:pathLst>
              <a:path h="383329" w="1034860">
                <a:moveTo>
                  <a:pt x="0" y="0"/>
                </a:moveTo>
                <a:lnTo>
                  <a:pt x="1034860" y="0"/>
                </a:lnTo>
                <a:lnTo>
                  <a:pt x="1034860" y="383330"/>
                </a:lnTo>
                <a:lnTo>
                  <a:pt x="0" y="383330"/>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14" id="14"/>
          <p:cNvSpPr txBox="true"/>
          <p:nvPr/>
        </p:nvSpPr>
        <p:spPr>
          <a:xfrm rot="0">
            <a:off x="11428284" y="1200266"/>
            <a:ext cx="1370528" cy="269875"/>
          </a:xfrm>
          <a:prstGeom prst="rect">
            <a:avLst/>
          </a:prstGeom>
        </p:spPr>
        <p:txBody>
          <a:bodyPr anchor="t" rtlCol="false" tIns="0" lIns="0" bIns="0" rIns="0">
            <a:spAutoFit/>
          </a:bodyPr>
          <a:lstStyle/>
          <a:p>
            <a:pPr algn="ctr">
              <a:lnSpc>
                <a:spcPts val="2000"/>
              </a:lnSpc>
            </a:pPr>
            <a:r>
              <a:rPr lang="en-US" sz="2000">
                <a:solidFill>
                  <a:srgbClr val="27194D">
                    <a:alpha val="55686"/>
                  </a:srgbClr>
                </a:solidFill>
                <a:latin typeface="Open Sans"/>
                <a:ea typeface="Open Sans"/>
                <a:cs typeface="Open Sans"/>
                <a:sym typeface="Open Sans"/>
              </a:rPr>
              <a:t>LAYANAN</a:t>
            </a:r>
          </a:p>
        </p:txBody>
      </p:sp>
      <p:sp>
        <p:nvSpPr>
          <p:cNvPr name="TextBox 15" id="15"/>
          <p:cNvSpPr txBox="true"/>
          <p:nvPr/>
        </p:nvSpPr>
        <p:spPr>
          <a:xfrm rot="0">
            <a:off x="9810993" y="1200266"/>
            <a:ext cx="1293441" cy="269875"/>
          </a:xfrm>
          <a:prstGeom prst="rect">
            <a:avLst/>
          </a:prstGeom>
        </p:spPr>
        <p:txBody>
          <a:bodyPr anchor="t" rtlCol="false" tIns="0" lIns="0" bIns="0" rIns="0">
            <a:spAutoFit/>
          </a:bodyPr>
          <a:lstStyle/>
          <a:p>
            <a:pPr algn="ctr">
              <a:lnSpc>
                <a:spcPts val="2000"/>
              </a:lnSpc>
            </a:pPr>
            <a:r>
              <a:rPr lang="en-US" b="true" sz="2000">
                <a:solidFill>
                  <a:srgbClr val="5D4FCA"/>
                </a:solidFill>
                <a:latin typeface="Open Sans Bold"/>
                <a:ea typeface="Open Sans Bold"/>
                <a:cs typeface="Open Sans Bold"/>
                <a:sym typeface="Open Sans Bold"/>
              </a:rPr>
              <a:t>BERANDA</a:t>
            </a:r>
          </a:p>
        </p:txBody>
      </p:sp>
      <p:sp>
        <p:nvSpPr>
          <p:cNvPr name="TextBox 16" id="16"/>
          <p:cNvSpPr txBox="true"/>
          <p:nvPr/>
        </p:nvSpPr>
        <p:spPr>
          <a:xfrm rot="0">
            <a:off x="1847695" y="1109652"/>
            <a:ext cx="3115460" cy="422485"/>
          </a:xfrm>
          <a:prstGeom prst="rect">
            <a:avLst/>
          </a:prstGeom>
        </p:spPr>
        <p:txBody>
          <a:bodyPr anchor="t" rtlCol="false" tIns="0" lIns="0" bIns="0" rIns="0">
            <a:spAutoFit/>
          </a:bodyPr>
          <a:lstStyle/>
          <a:p>
            <a:pPr algn="l">
              <a:lnSpc>
                <a:spcPts val="3107"/>
              </a:lnSpc>
            </a:pPr>
            <a:r>
              <a:rPr lang="en-US" sz="2799" b="true">
                <a:solidFill>
                  <a:srgbClr val="5D4FCA"/>
                </a:solidFill>
                <a:latin typeface="Roboto Condensed Bold"/>
                <a:ea typeface="Roboto Condensed Bold"/>
                <a:cs typeface="Roboto Condensed Bold"/>
                <a:sym typeface="Roboto Condensed Bold"/>
              </a:rPr>
              <a:t>EKSPLORASI DATA</a:t>
            </a:r>
          </a:p>
        </p:txBody>
      </p:sp>
      <p:sp>
        <p:nvSpPr>
          <p:cNvPr name="TextBox 17" id="17"/>
          <p:cNvSpPr txBox="true"/>
          <p:nvPr/>
        </p:nvSpPr>
        <p:spPr>
          <a:xfrm rot="0">
            <a:off x="1543392" y="2217561"/>
            <a:ext cx="744481" cy="650748"/>
          </a:xfrm>
          <a:prstGeom prst="rect">
            <a:avLst/>
          </a:prstGeom>
        </p:spPr>
        <p:txBody>
          <a:bodyPr anchor="t" rtlCol="false" tIns="0" lIns="0" bIns="0" rIns="0">
            <a:spAutoFit/>
          </a:bodyPr>
          <a:lstStyle/>
          <a:p>
            <a:pPr algn="ctr">
              <a:lnSpc>
                <a:spcPts val="5166"/>
              </a:lnSpc>
            </a:pPr>
            <a:r>
              <a:rPr lang="en-US" b="true" sz="4200">
                <a:solidFill>
                  <a:srgbClr val="FFF8E9"/>
                </a:solidFill>
                <a:latin typeface="Roboto Condensed Bold"/>
                <a:ea typeface="Roboto Condensed Bold"/>
                <a:cs typeface="Roboto Condensed Bold"/>
                <a:sym typeface="Roboto Condensed Bold"/>
              </a:rPr>
              <a:t>01</a:t>
            </a:r>
          </a:p>
        </p:txBody>
      </p:sp>
      <p:sp>
        <p:nvSpPr>
          <p:cNvPr name="TextBox 18" id="18"/>
          <p:cNvSpPr txBox="true"/>
          <p:nvPr/>
        </p:nvSpPr>
        <p:spPr>
          <a:xfrm rot="0">
            <a:off x="6494182" y="2485903"/>
            <a:ext cx="11098276" cy="632395"/>
          </a:xfrm>
          <a:prstGeom prst="rect">
            <a:avLst/>
          </a:prstGeom>
        </p:spPr>
        <p:txBody>
          <a:bodyPr anchor="t" rtlCol="false" tIns="0" lIns="0" bIns="0" rIns="0">
            <a:spAutoFit/>
          </a:bodyPr>
          <a:lstStyle/>
          <a:p>
            <a:pPr algn="l">
              <a:lnSpc>
                <a:spcPts val="4979"/>
              </a:lnSpc>
            </a:pPr>
            <a:r>
              <a:rPr lang="en-US" sz="4048" b="true">
                <a:solidFill>
                  <a:srgbClr val="27194D"/>
                </a:solidFill>
                <a:latin typeface="Roboto Condensed Bold"/>
                <a:ea typeface="Roboto Condensed Bold"/>
                <a:cs typeface="Roboto Condensed Bold"/>
                <a:sym typeface="Roboto Condensed Bold"/>
              </a:rPr>
              <a:t>PENGECEKAN MISSING VALUES DAN DUPLICATES</a:t>
            </a:r>
          </a:p>
        </p:txBody>
      </p:sp>
      <p:sp>
        <p:nvSpPr>
          <p:cNvPr name="TextBox 19" id="19"/>
          <p:cNvSpPr txBox="true"/>
          <p:nvPr/>
        </p:nvSpPr>
        <p:spPr>
          <a:xfrm rot="0">
            <a:off x="6494182" y="3512588"/>
            <a:ext cx="10469578" cy="2174655"/>
          </a:xfrm>
          <a:prstGeom prst="rect">
            <a:avLst/>
          </a:prstGeom>
        </p:spPr>
        <p:txBody>
          <a:bodyPr anchor="t" rtlCol="false" tIns="0" lIns="0" bIns="0" rIns="0">
            <a:spAutoFit/>
          </a:bodyPr>
          <a:lstStyle/>
          <a:p>
            <a:pPr algn="just" marL="0" indent="0" lvl="0">
              <a:lnSpc>
                <a:spcPts val="3499"/>
              </a:lnSpc>
            </a:pPr>
            <a:r>
              <a:rPr lang="en-US" sz="2499">
                <a:solidFill>
                  <a:srgbClr val="000000"/>
                </a:solidFill>
                <a:latin typeface="Open Sans"/>
                <a:ea typeface="Open Sans"/>
                <a:cs typeface="Open Sans"/>
                <a:sym typeface="Open Sans"/>
              </a:rPr>
              <a:t>Pengecekan missing values dilakukan untuk memastikan kelengkapan data, jika ditemukan ada nilai yang kosong pada setiap kolomnya, maka akan dilakukan proses imputasi maupun pembersihan data. Untuk pengecekan duplicates digunakan untuk menghitung jumlah baris yang nilainya sama lebih dari sekali</a:t>
            </a:r>
          </a:p>
        </p:txBody>
      </p:sp>
      <p:grpSp>
        <p:nvGrpSpPr>
          <p:cNvPr name="Group 20" id="20"/>
          <p:cNvGrpSpPr/>
          <p:nvPr/>
        </p:nvGrpSpPr>
        <p:grpSpPr>
          <a:xfrm rot="0">
            <a:off x="7832846" y="6125393"/>
            <a:ext cx="7232902" cy="2924772"/>
            <a:chOff x="0" y="0"/>
            <a:chExt cx="9643870" cy="3899696"/>
          </a:xfrm>
        </p:grpSpPr>
        <p:grpSp>
          <p:nvGrpSpPr>
            <p:cNvPr name="Group 21" id="21"/>
            <p:cNvGrpSpPr/>
            <p:nvPr/>
          </p:nvGrpSpPr>
          <p:grpSpPr>
            <a:xfrm rot="0">
              <a:off x="0" y="0"/>
              <a:ext cx="9643870" cy="3899696"/>
              <a:chOff x="0" y="0"/>
              <a:chExt cx="2057867" cy="832141"/>
            </a:xfrm>
          </p:grpSpPr>
          <p:sp>
            <p:nvSpPr>
              <p:cNvPr name="Freeform 22" id="22"/>
              <p:cNvSpPr/>
              <p:nvPr/>
            </p:nvSpPr>
            <p:spPr>
              <a:xfrm flipH="false" flipV="false" rot="0">
                <a:off x="0" y="0"/>
                <a:ext cx="2057867" cy="832141"/>
              </a:xfrm>
              <a:custGeom>
                <a:avLst/>
                <a:gdLst/>
                <a:ahLst/>
                <a:cxnLst/>
                <a:rect r="r" b="b" t="t" l="l"/>
                <a:pathLst>
                  <a:path h="832141" w="2057867">
                    <a:moveTo>
                      <a:pt x="27834" y="0"/>
                    </a:moveTo>
                    <a:lnTo>
                      <a:pt x="2030033" y="0"/>
                    </a:lnTo>
                    <a:cubicBezTo>
                      <a:pt x="2045406" y="0"/>
                      <a:pt x="2057867" y="12462"/>
                      <a:pt x="2057867" y="27834"/>
                    </a:cubicBezTo>
                    <a:lnTo>
                      <a:pt x="2057867" y="804307"/>
                    </a:lnTo>
                    <a:cubicBezTo>
                      <a:pt x="2057867" y="819679"/>
                      <a:pt x="2045406" y="832141"/>
                      <a:pt x="2030033" y="832141"/>
                    </a:cubicBezTo>
                    <a:lnTo>
                      <a:pt x="27834" y="832141"/>
                    </a:lnTo>
                    <a:cubicBezTo>
                      <a:pt x="12462" y="832141"/>
                      <a:pt x="0" y="819679"/>
                      <a:pt x="0" y="804307"/>
                    </a:cubicBezTo>
                    <a:lnTo>
                      <a:pt x="0" y="27834"/>
                    </a:lnTo>
                    <a:cubicBezTo>
                      <a:pt x="0" y="12462"/>
                      <a:pt x="12462" y="0"/>
                      <a:pt x="27834" y="0"/>
                    </a:cubicBezTo>
                    <a:close/>
                  </a:path>
                </a:pathLst>
              </a:custGeom>
              <a:solidFill>
                <a:srgbClr val="FAA607"/>
              </a:solidFill>
            </p:spPr>
          </p:sp>
          <p:sp>
            <p:nvSpPr>
              <p:cNvPr name="TextBox 23" id="23"/>
              <p:cNvSpPr txBox="true"/>
              <p:nvPr/>
            </p:nvSpPr>
            <p:spPr>
              <a:xfrm>
                <a:off x="0" y="28575"/>
                <a:ext cx="2057867" cy="803566"/>
              </a:xfrm>
              <a:prstGeom prst="rect">
                <a:avLst/>
              </a:prstGeom>
            </p:spPr>
            <p:txBody>
              <a:bodyPr anchor="ctr" rtlCol="false" tIns="47019" lIns="47019" bIns="47019" rIns="47019"/>
              <a:lstStyle/>
              <a:p>
                <a:pPr algn="ctr">
                  <a:lnSpc>
                    <a:spcPts val="2000"/>
                  </a:lnSpc>
                </a:pPr>
              </a:p>
            </p:txBody>
          </p:sp>
        </p:grpSp>
        <p:sp>
          <p:nvSpPr>
            <p:cNvPr name="TextBox 24" id="24"/>
            <p:cNvSpPr txBox="true"/>
            <p:nvPr/>
          </p:nvSpPr>
          <p:spPr>
            <a:xfrm rot="0">
              <a:off x="538677" y="375512"/>
              <a:ext cx="8474571" cy="2915655"/>
            </a:xfrm>
            <a:prstGeom prst="rect">
              <a:avLst/>
            </a:prstGeom>
          </p:spPr>
          <p:txBody>
            <a:bodyPr anchor="t" rtlCol="false" tIns="0" lIns="0" bIns="0" rIns="0">
              <a:spAutoFit/>
            </a:bodyPr>
            <a:lstStyle/>
            <a:p>
              <a:pPr algn="just" marL="0" indent="0" lvl="0">
                <a:lnSpc>
                  <a:spcPts val="3499"/>
                </a:lnSpc>
              </a:pPr>
              <a:r>
                <a:rPr lang="en-US" b="true" sz="2499">
                  <a:solidFill>
                    <a:srgbClr val="FFF8E9"/>
                  </a:solidFill>
                  <a:latin typeface="Open Sans Bold"/>
                  <a:ea typeface="Open Sans Bold"/>
                  <a:cs typeface="Open Sans Bold"/>
                  <a:sym typeface="Open Sans Bold"/>
                </a:rPr>
                <a:t>B</a:t>
              </a:r>
              <a:r>
                <a:rPr lang="en-US" b="true" sz="2499">
                  <a:solidFill>
                    <a:srgbClr val="FFF8E9"/>
                  </a:solidFill>
                  <a:latin typeface="Open Sans Bold"/>
                  <a:ea typeface="Open Sans Bold"/>
                  <a:cs typeface="Open Sans Bold"/>
                  <a:sym typeface="Open Sans Bold"/>
                </a:rPr>
                <a:t>erdasarkan output, tidak ditemukan missing values dan duplicates pada data, hal tersebut karena data sebelumnya sudah dilakukan proses cleaning</a:t>
              </a:r>
            </a:p>
          </p:txBody>
        </p:sp>
      </p:gr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FF8E9"/>
        </a:solidFill>
      </p:bgPr>
    </p:bg>
    <p:spTree>
      <p:nvGrpSpPr>
        <p:cNvPr id="1" name=""/>
        <p:cNvGrpSpPr/>
        <p:nvPr/>
      </p:nvGrpSpPr>
      <p:grpSpPr>
        <a:xfrm>
          <a:off x="0" y="0"/>
          <a:ext cx="0" cy="0"/>
          <a:chOff x="0" y="0"/>
          <a:chExt cx="0" cy="0"/>
        </a:xfrm>
      </p:grpSpPr>
      <p:sp>
        <p:nvSpPr>
          <p:cNvPr name="Freeform 2" id="2"/>
          <p:cNvSpPr/>
          <p:nvPr/>
        </p:nvSpPr>
        <p:spPr>
          <a:xfrm flipH="false" flipV="false" rot="-5687936">
            <a:off x="15336566" y="-1307732"/>
            <a:ext cx="3845468" cy="4114800"/>
          </a:xfrm>
          <a:custGeom>
            <a:avLst/>
            <a:gdLst/>
            <a:ahLst/>
            <a:cxnLst/>
            <a:rect r="r" b="b" t="t" l="l"/>
            <a:pathLst>
              <a:path h="4114800" w="3845468">
                <a:moveTo>
                  <a:pt x="0" y="0"/>
                </a:moveTo>
                <a:lnTo>
                  <a:pt x="3845468" y="0"/>
                </a:lnTo>
                <a:lnTo>
                  <a:pt x="3845468"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3138009" y="1035414"/>
            <a:ext cx="4121291" cy="571004"/>
            <a:chOff x="0" y="0"/>
            <a:chExt cx="1370603" cy="189897"/>
          </a:xfrm>
        </p:grpSpPr>
        <p:sp>
          <p:nvSpPr>
            <p:cNvPr name="Freeform 4" id="4"/>
            <p:cNvSpPr/>
            <p:nvPr/>
          </p:nvSpPr>
          <p:spPr>
            <a:xfrm flipH="false" flipV="false" rot="0">
              <a:off x="0" y="0"/>
              <a:ext cx="1370603" cy="189897"/>
            </a:xfrm>
            <a:custGeom>
              <a:avLst/>
              <a:gdLst/>
              <a:ahLst/>
              <a:cxnLst/>
              <a:rect r="r" b="b" t="t" l="l"/>
              <a:pathLst>
                <a:path h="189897" w="1370603">
                  <a:moveTo>
                    <a:pt x="94948" y="0"/>
                  </a:moveTo>
                  <a:lnTo>
                    <a:pt x="1275655" y="0"/>
                  </a:lnTo>
                  <a:cubicBezTo>
                    <a:pt x="1300837" y="0"/>
                    <a:pt x="1324987" y="10003"/>
                    <a:pt x="1342794" y="27810"/>
                  </a:cubicBezTo>
                  <a:cubicBezTo>
                    <a:pt x="1360600" y="45616"/>
                    <a:pt x="1370603" y="69767"/>
                    <a:pt x="1370603" y="94948"/>
                  </a:cubicBezTo>
                  <a:lnTo>
                    <a:pt x="1370603" y="94948"/>
                  </a:lnTo>
                  <a:cubicBezTo>
                    <a:pt x="1370603" y="147387"/>
                    <a:pt x="1328094" y="189897"/>
                    <a:pt x="1275655" y="189897"/>
                  </a:cubicBezTo>
                  <a:lnTo>
                    <a:pt x="94948" y="189897"/>
                  </a:lnTo>
                  <a:cubicBezTo>
                    <a:pt x="42510" y="189897"/>
                    <a:pt x="0" y="147387"/>
                    <a:pt x="0" y="94948"/>
                  </a:cubicBezTo>
                  <a:lnTo>
                    <a:pt x="0" y="94948"/>
                  </a:lnTo>
                  <a:cubicBezTo>
                    <a:pt x="0" y="42510"/>
                    <a:pt x="42510" y="0"/>
                    <a:pt x="94948" y="0"/>
                  </a:cubicBezTo>
                  <a:close/>
                </a:path>
              </a:pathLst>
            </a:custGeom>
            <a:solidFill>
              <a:srgbClr val="FAA607"/>
            </a:solidFill>
            <a:ln cap="rnd">
              <a:noFill/>
              <a:prstDash val="solid"/>
              <a:round/>
            </a:ln>
          </p:spPr>
        </p:sp>
        <p:sp>
          <p:nvSpPr>
            <p:cNvPr name="TextBox 5" id="5"/>
            <p:cNvSpPr txBox="true"/>
            <p:nvPr/>
          </p:nvSpPr>
          <p:spPr>
            <a:xfrm>
              <a:off x="0" y="-57150"/>
              <a:ext cx="1370603" cy="247047"/>
            </a:xfrm>
            <a:prstGeom prst="rect">
              <a:avLst/>
            </a:prstGeom>
          </p:spPr>
          <p:txBody>
            <a:bodyPr anchor="ctr" rtlCol="false" tIns="50800" lIns="50800" bIns="50800" rIns="50800"/>
            <a:lstStyle/>
            <a:p>
              <a:pPr algn="ctr" marL="0" indent="0" lvl="0">
                <a:lnSpc>
                  <a:spcPts val="2824"/>
                </a:lnSpc>
                <a:spcBef>
                  <a:spcPct val="0"/>
                </a:spcBef>
              </a:pPr>
            </a:p>
          </p:txBody>
        </p:sp>
      </p:grpSp>
      <p:sp>
        <p:nvSpPr>
          <p:cNvPr name="Freeform 6" id="6"/>
          <p:cNvSpPr/>
          <p:nvPr/>
        </p:nvSpPr>
        <p:spPr>
          <a:xfrm flipH="false" flipV="false" rot="0">
            <a:off x="16815378" y="1166754"/>
            <a:ext cx="296763" cy="308325"/>
          </a:xfrm>
          <a:custGeom>
            <a:avLst/>
            <a:gdLst/>
            <a:ahLst/>
            <a:cxnLst/>
            <a:rect r="r" b="b" t="t" l="l"/>
            <a:pathLst>
              <a:path h="308325" w="296763">
                <a:moveTo>
                  <a:pt x="0" y="0"/>
                </a:moveTo>
                <a:lnTo>
                  <a:pt x="296763" y="0"/>
                </a:lnTo>
                <a:lnTo>
                  <a:pt x="296763" y="308325"/>
                </a:lnTo>
                <a:lnTo>
                  <a:pt x="0" y="30832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2145208">
            <a:off x="12619779" y="3716346"/>
            <a:ext cx="8984724" cy="4018622"/>
          </a:xfrm>
          <a:custGeom>
            <a:avLst/>
            <a:gdLst/>
            <a:ahLst/>
            <a:cxnLst/>
            <a:rect r="r" b="b" t="t" l="l"/>
            <a:pathLst>
              <a:path h="4018622" w="8984724">
                <a:moveTo>
                  <a:pt x="0" y="0"/>
                </a:moveTo>
                <a:lnTo>
                  <a:pt x="8984725" y="0"/>
                </a:lnTo>
                <a:lnTo>
                  <a:pt x="8984725" y="4018622"/>
                </a:lnTo>
                <a:lnTo>
                  <a:pt x="0" y="401862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3110176" y="2152709"/>
            <a:ext cx="4819763" cy="4837906"/>
          </a:xfrm>
          <a:custGeom>
            <a:avLst/>
            <a:gdLst/>
            <a:ahLst/>
            <a:cxnLst/>
            <a:rect r="r" b="b" t="t" l="l"/>
            <a:pathLst>
              <a:path h="4837906" w="4819763">
                <a:moveTo>
                  <a:pt x="0" y="0"/>
                </a:moveTo>
                <a:lnTo>
                  <a:pt x="4819764" y="0"/>
                </a:lnTo>
                <a:lnTo>
                  <a:pt x="4819764" y="4837905"/>
                </a:lnTo>
                <a:lnTo>
                  <a:pt x="0" y="483790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2145208">
            <a:off x="-3139890" y="3134189"/>
            <a:ext cx="8984724" cy="4018622"/>
          </a:xfrm>
          <a:custGeom>
            <a:avLst/>
            <a:gdLst/>
            <a:ahLst/>
            <a:cxnLst/>
            <a:rect r="r" b="b" t="t" l="l"/>
            <a:pathLst>
              <a:path h="4018622" w="8984724">
                <a:moveTo>
                  <a:pt x="0" y="0"/>
                </a:moveTo>
                <a:lnTo>
                  <a:pt x="8984725" y="0"/>
                </a:lnTo>
                <a:lnTo>
                  <a:pt x="8984725" y="4018622"/>
                </a:lnTo>
                <a:lnTo>
                  <a:pt x="0" y="401862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1028700" y="1049653"/>
            <a:ext cx="647545" cy="495666"/>
          </a:xfrm>
          <a:custGeom>
            <a:avLst/>
            <a:gdLst/>
            <a:ahLst/>
            <a:cxnLst/>
            <a:rect r="r" b="b" t="t" l="l"/>
            <a:pathLst>
              <a:path h="495666" w="647545">
                <a:moveTo>
                  <a:pt x="0" y="0"/>
                </a:moveTo>
                <a:lnTo>
                  <a:pt x="647545" y="0"/>
                </a:lnTo>
                <a:lnTo>
                  <a:pt x="647545" y="495666"/>
                </a:lnTo>
                <a:lnTo>
                  <a:pt x="0" y="49566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6034560">
            <a:off x="-1502391" y="7200900"/>
            <a:ext cx="3845468" cy="4114800"/>
          </a:xfrm>
          <a:custGeom>
            <a:avLst/>
            <a:gdLst/>
            <a:ahLst/>
            <a:cxnLst/>
            <a:rect r="r" b="b" t="t" l="l"/>
            <a:pathLst>
              <a:path h="4114800" w="3845468">
                <a:moveTo>
                  <a:pt x="0" y="0"/>
                </a:moveTo>
                <a:lnTo>
                  <a:pt x="3845468" y="0"/>
                </a:lnTo>
                <a:lnTo>
                  <a:pt x="3845468"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2" id="12"/>
          <p:cNvSpPr/>
          <p:nvPr/>
        </p:nvSpPr>
        <p:spPr>
          <a:xfrm flipH="false" flipV="false" rot="8394526">
            <a:off x="9779733" y="8761623"/>
            <a:ext cx="626952" cy="392130"/>
          </a:xfrm>
          <a:custGeom>
            <a:avLst/>
            <a:gdLst/>
            <a:ahLst/>
            <a:cxnLst/>
            <a:rect r="r" b="b" t="t" l="l"/>
            <a:pathLst>
              <a:path h="392130" w="626952">
                <a:moveTo>
                  <a:pt x="0" y="0"/>
                </a:moveTo>
                <a:lnTo>
                  <a:pt x="626952" y="0"/>
                </a:lnTo>
                <a:lnTo>
                  <a:pt x="626952" y="392130"/>
                </a:lnTo>
                <a:lnTo>
                  <a:pt x="0" y="39213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3" id="13"/>
          <p:cNvSpPr/>
          <p:nvPr/>
        </p:nvSpPr>
        <p:spPr>
          <a:xfrm flipH="false" flipV="false" rot="-1048382">
            <a:off x="7772191" y="1942195"/>
            <a:ext cx="1034860" cy="383329"/>
          </a:xfrm>
          <a:custGeom>
            <a:avLst/>
            <a:gdLst/>
            <a:ahLst/>
            <a:cxnLst/>
            <a:rect r="r" b="b" t="t" l="l"/>
            <a:pathLst>
              <a:path h="383329" w="1034860">
                <a:moveTo>
                  <a:pt x="0" y="0"/>
                </a:moveTo>
                <a:lnTo>
                  <a:pt x="1034860" y="0"/>
                </a:lnTo>
                <a:lnTo>
                  <a:pt x="1034860" y="383330"/>
                </a:lnTo>
                <a:lnTo>
                  <a:pt x="0" y="383330"/>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grpSp>
        <p:nvGrpSpPr>
          <p:cNvPr name="Group 14" id="14"/>
          <p:cNvGrpSpPr/>
          <p:nvPr/>
        </p:nvGrpSpPr>
        <p:grpSpPr>
          <a:xfrm rot="0">
            <a:off x="6511245" y="5499534"/>
            <a:ext cx="226122" cy="226122"/>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A607"/>
            </a:solidFill>
          </p:spPr>
        </p:sp>
        <p:sp>
          <p:nvSpPr>
            <p:cNvPr name="TextBox 16" id="16"/>
            <p:cNvSpPr txBox="true"/>
            <p:nvPr/>
          </p:nvSpPr>
          <p:spPr>
            <a:xfrm>
              <a:off x="76200" y="104775"/>
              <a:ext cx="660400" cy="631825"/>
            </a:xfrm>
            <a:prstGeom prst="rect">
              <a:avLst/>
            </a:prstGeom>
          </p:spPr>
          <p:txBody>
            <a:bodyPr anchor="ctr" rtlCol="false" tIns="50800" lIns="50800" bIns="50800" rIns="50800"/>
            <a:lstStyle/>
            <a:p>
              <a:pPr algn="ctr">
                <a:lnSpc>
                  <a:spcPts val="2000"/>
                </a:lnSpc>
              </a:pPr>
            </a:p>
          </p:txBody>
        </p:sp>
      </p:grpSp>
      <p:sp>
        <p:nvSpPr>
          <p:cNvPr name="Freeform 17" id="17"/>
          <p:cNvSpPr/>
          <p:nvPr/>
        </p:nvSpPr>
        <p:spPr>
          <a:xfrm flipH="false" flipV="false" rot="0">
            <a:off x="7934487" y="5042196"/>
            <a:ext cx="4864326" cy="3896836"/>
          </a:xfrm>
          <a:custGeom>
            <a:avLst/>
            <a:gdLst/>
            <a:ahLst/>
            <a:cxnLst/>
            <a:rect r="r" b="b" t="t" l="l"/>
            <a:pathLst>
              <a:path h="3896836" w="4864326">
                <a:moveTo>
                  <a:pt x="0" y="0"/>
                </a:moveTo>
                <a:lnTo>
                  <a:pt x="4864325" y="0"/>
                </a:lnTo>
                <a:lnTo>
                  <a:pt x="4864325" y="3896836"/>
                </a:lnTo>
                <a:lnTo>
                  <a:pt x="0" y="3896836"/>
                </a:lnTo>
                <a:lnTo>
                  <a:pt x="0" y="0"/>
                </a:lnTo>
                <a:close/>
              </a:path>
            </a:pathLst>
          </a:custGeom>
          <a:blipFill>
            <a:blip r:embed="rId18"/>
            <a:stretch>
              <a:fillRect l="0" t="0" r="0" b="0"/>
            </a:stretch>
          </a:blipFill>
        </p:spPr>
      </p:sp>
      <p:sp>
        <p:nvSpPr>
          <p:cNvPr name="Freeform 18" id="18"/>
          <p:cNvSpPr/>
          <p:nvPr/>
        </p:nvSpPr>
        <p:spPr>
          <a:xfrm flipH="false" flipV="false" rot="0">
            <a:off x="1847695" y="5042196"/>
            <a:ext cx="5231481" cy="3937187"/>
          </a:xfrm>
          <a:custGeom>
            <a:avLst/>
            <a:gdLst/>
            <a:ahLst/>
            <a:cxnLst/>
            <a:rect r="r" b="b" t="t" l="l"/>
            <a:pathLst>
              <a:path h="3937187" w="5231481">
                <a:moveTo>
                  <a:pt x="0" y="0"/>
                </a:moveTo>
                <a:lnTo>
                  <a:pt x="5231481" y="0"/>
                </a:lnTo>
                <a:lnTo>
                  <a:pt x="5231481" y="3937188"/>
                </a:lnTo>
                <a:lnTo>
                  <a:pt x="0" y="3937188"/>
                </a:lnTo>
                <a:lnTo>
                  <a:pt x="0" y="0"/>
                </a:lnTo>
                <a:close/>
              </a:path>
            </a:pathLst>
          </a:custGeom>
          <a:blipFill>
            <a:blip r:embed="rId19"/>
            <a:stretch>
              <a:fillRect l="0" t="0" r="0" b="0"/>
            </a:stretch>
          </a:blipFill>
        </p:spPr>
      </p:sp>
      <p:sp>
        <p:nvSpPr>
          <p:cNvPr name="TextBox 19" id="19"/>
          <p:cNvSpPr txBox="true"/>
          <p:nvPr/>
        </p:nvSpPr>
        <p:spPr>
          <a:xfrm rot="0">
            <a:off x="11428284" y="1200266"/>
            <a:ext cx="1370528" cy="269875"/>
          </a:xfrm>
          <a:prstGeom prst="rect">
            <a:avLst/>
          </a:prstGeom>
        </p:spPr>
        <p:txBody>
          <a:bodyPr anchor="t" rtlCol="false" tIns="0" lIns="0" bIns="0" rIns="0">
            <a:spAutoFit/>
          </a:bodyPr>
          <a:lstStyle/>
          <a:p>
            <a:pPr algn="ctr">
              <a:lnSpc>
                <a:spcPts val="2000"/>
              </a:lnSpc>
            </a:pPr>
            <a:r>
              <a:rPr lang="en-US" sz="2000">
                <a:solidFill>
                  <a:srgbClr val="27194D">
                    <a:alpha val="55686"/>
                  </a:srgbClr>
                </a:solidFill>
                <a:latin typeface="Open Sans"/>
                <a:ea typeface="Open Sans"/>
                <a:cs typeface="Open Sans"/>
                <a:sym typeface="Open Sans"/>
              </a:rPr>
              <a:t>LAYANAN</a:t>
            </a:r>
          </a:p>
        </p:txBody>
      </p:sp>
      <p:sp>
        <p:nvSpPr>
          <p:cNvPr name="TextBox 20" id="20"/>
          <p:cNvSpPr txBox="true"/>
          <p:nvPr/>
        </p:nvSpPr>
        <p:spPr>
          <a:xfrm rot="0">
            <a:off x="1700536" y="2661019"/>
            <a:ext cx="12609262" cy="715899"/>
          </a:xfrm>
          <a:prstGeom prst="rect">
            <a:avLst/>
          </a:prstGeom>
        </p:spPr>
        <p:txBody>
          <a:bodyPr anchor="t" rtlCol="false" tIns="0" lIns="0" bIns="0" rIns="0">
            <a:spAutoFit/>
          </a:bodyPr>
          <a:lstStyle/>
          <a:p>
            <a:pPr algn="l">
              <a:lnSpc>
                <a:spcPts val="5658"/>
              </a:lnSpc>
            </a:pPr>
            <a:r>
              <a:rPr lang="en-US" sz="4600" b="true">
                <a:solidFill>
                  <a:srgbClr val="27194D"/>
                </a:solidFill>
                <a:latin typeface="Roboto Condensed Bold"/>
                <a:ea typeface="Roboto Condensed Bold"/>
                <a:cs typeface="Roboto Condensed Bold"/>
                <a:sym typeface="Roboto Condensed Bold"/>
              </a:rPr>
              <a:t>PENGECEKAN OUTLIER</a:t>
            </a:r>
          </a:p>
        </p:txBody>
      </p:sp>
      <p:sp>
        <p:nvSpPr>
          <p:cNvPr name="TextBox 21" id="21"/>
          <p:cNvSpPr txBox="true"/>
          <p:nvPr/>
        </p:nvSpPr>
        <p:spPr>
          <a:xfrm rot="0">
            <a:off x="1700536" y="3460521"/>
            <a:ext cx="11098276" cy="1298443"/>
          </a:xfrm>
          <a:prstGeom prst="rect">
            <a:avLst/>
          </a:prstGeom>
        </p:spPr>
        <p:txBody>
          <a:bodyPr anchor="t" rtlCol="false" tIns="0" lIns="0" bIns="0" rIns="0">
            <a:spAutoFit/>
          </a:bodyPr>
          <a:lstStyle/>
          <a:p>
            <a:pPr algn="just" marL="0" indent="0" lvl="0">
              <a:lnSpc>
                <a:spcPts val="3499"/>
              </a:lnSpc>
            </a:pPr>
            <a:r>
              <a:rPr lang="en-US" sz="2499">
                <a:solidFill>
                  <a:srgbClr val="000000"/>
                </a:solidFill>
                <a:latin typeface="Open Sans"/>
                <a:ea typeface="Open Sans"/>
                <a:cs typeface="Open Sans"/>
                <a:sym typeface="Open Sans"/>
              </a:rPr>
              <a:t>Outlier atau nilai pencilan perlu dideteksi dalam proses eksplorasi data, sebab nilai yang menyimpang jauh dari sebaran data dapat memengaruhi hasil analisis dan berpotensi menghasilkan kesimpulan yang tidak akurat. </a:t>
            </a:r>
          </a:p>
        </p:txBody>
      </p:sp>
      <p:sp>
        <p:nvSpPr>
          <p:cNvPr name="TextBox 22" id="22"/>
          <p:cNvSpPr txBox="true"/>
          <p:nvPr/>
        </p:nvSpPr>
        <p:spPr>
          <a:xfrm rot="0">
            <a:off x="1847695" y="1109652"/>
            <a:ext cx="3115460" cy="422485"/>
          </a:xfrm>
          <a:prstGeom prst="rect">
            <a:avLst/>
          </a:prstGeom>
        </p:spPr>
        <p:txBody>
          <a:bodyPr anchor="t" rtlCol="false" tIns="0" lIns="0" bIns="0" rIns="0">
            <a:spAutoFit/>
          </a:bodyPr>
          <a:lstStyle/>
          <a:p>
            <a:pPr algn="l">
              <a:lnSpc>
                <a:spcPts val="3107"/>
              </a:lnSpc>
            </a:pPr>
            <a:r>
              <a:rPr lang="en-US" sz="2799" b="true">
                <a:solidFill>
                  <a:srgbClr val="5D4FCA"/>
                </a:solidFill>
                <a:latin typeface="Roboto Condensed Bold"/>
                <a:ea typeface="Roboto Condensed Bold"/>
                <a:cs typeface="Roboto Condensed Bold"/>
                <a:sym typeface="Roboto Condensed Bold"/>
              </a:rPr>
              <a:t>EKSPLORASI DATA</a:t>
            </a:r>
          </a:p>
        </p:txBody>
      </p:sp>
      <p:sp>
        <p:nvSpPr>
          <p:cNvPr name="TextBox 23" id="23"/>
          <p:cNvSpPr txBox="true"/>
          <p:nvPr/>
        </p:nvSpPr>
        <p:spPr>
          <a:xfrm rot="0">
            <a:off x="9963393" y="1176836"/>
            <a:ext cx="1293441" cy="269875"/>
          </a:xfrm>
          <a:prstGeom prst="rect">
            <a:avLst/>
          </a:prstGeom>
        </p:spPr>
        <p:txBody>
          <a:bodyPr anchor="t" rtlCol="false" tIns="0" lIns="0" bIns="0" rIns="0">
            <a:spAutoFit/>
          </a:bodyPr>
          <a:lstStyle/>
          <a:p>
            <a:pPr algn="ctr">
              <a:lnSpc>
                <a:spcPts val="2000"/>
              </a:lnSpc>
            </a:pPr>
            <a:r>
              <a:rPr lang="en-US" b="true" sz="2000">
                <a:solidFill>
                  <a:srgbClr val="5D4FCA"/>
                </a:solidFill>
                <a:latin typeface="Open Sans Bold"/>
                <a:ea typeface="Open Sans Bold"/>
                <a:cs typeface="Open Sans Bold"/>
                <a:sym typeface="Open Sans Bold"/>
              </a:rPr>
              <a:t>BERANDA</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FF8E9"/>
        </a:solidFill>
      </p:bgPr>
    </p:bg>
    <p:spTree>
      <p:nvGrpSpPr>
        <p:cNvPr id="1" name=""/>
        <p:cNvGrpSpPr/>
        <p:nvPr/>
      </p:nvGrpSpPr>
      <p:grpSpPr>
        <a:xfrm>
          <a:off x="0" y="0"/>
          <a:ext cx="0" cy="0"/>
          <a:chOff x="0" y="0"/>
          <a:chExt cx="0" cy="0"/>
        </a:xfrm>
      </p:grpSpPr>
      <p:sp>
        <p:nvSpPr>
          <p:cNvPr name="Freeform 2" id="2"/>
          <p:cNvSpPr/>
          <p:nvPr/>
        </p:nvSpPr>
        <p:spPr>
          <a:xfrm flipH="false" flipV="false" rot="-5687936">
            <a:off x="15336566" y="-1307732"/>
            <a:ext cx="3845468" cy="4114800"/>
          </a:xfrm>
          <a:custGeom>
            <a:avLst/>
            <a:gdLst/>
            <a:ahLst/>
            <a:cxnLst/>
            <a:rect r="r" b="b" t="t" l="l"/>
            <a:pathLst>
              <a:path h="4114800" w="3845468">
                <a:moveTo>
                  <a:pt x="0" y="0"/>
                </a:moveTo>
                <a:lnTo>
                  <a:pt x="3845468" y="0"/>
                </a:lnTo>
                <a:lnTo>
                  <a:pt x="3845468"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3138009" y="1035414"/>
            <a:ext cx="4121291" cy="571004"/>
            <a:chOff x="0" y="0"/>
            <a:chExt cx="1370603" cy="189897"/>
          </a:xfrm>
        </p:grpSpPr>
        <p:sp>
          <p:nvSpPr>
            <p:cNvPr name="Freeform 4" id="4"/>
            <p:cNvSpPr/>
            <p:nvPr/>
          </p:nvSpPr>
          <p:spPr>
            <a:xfrm flipH="false" flipV="false" rot="0">
              <a:off x="0" y="0"/>
              <a:ext cx="1370603" cy="189897"/>
            </a:xfrm>
            <a:custGeom>
              <a:avLst/>
              <a:gdLst/>
              <a:ahLst/>
              <a:cxnLst/>
              <a:rect r="r" b="b" t="t" l="l"/>
              <a:pathLst>
                <a:path h="189897" w="1370603">
                  <a:moveTo>
                    <a:pt x="94948" y="0"/>
                  </a:moveTo>
                  <a:lnTo>
                    <a:pt x="1275655" y="0"/>
                  </a:lnTo>
                  <a:cubicBezTo>
                    <a:pt x="1300837" y="0"/>
                    <a:pt x="1324987" y="10003"/>
                    <a:pt x="1342794" y="27810"/>
                  </a:cubicBezTo>
                  <a:cubicBezTo>
                    <a:pt x="1360600" y="45616"/>
                    <a:pt x="1370603" y="69767"/>
                    <a:pt x="1370603" y="94948"/>
                  </a:cubicBezTo>
                  <a:lnTo>
                    <a:pt x="1370603" y="94948"/>
                  </a:lnTo>
                  <a:cubicBezTo>
                    <a:pt x="1370603" y="147387"/>
                    <a:pt x="1328094" y="189897"/>
                    <a:pt x="1275655" y="189897"/>
                  </a:cubicBezTo>
                  <a:lnTo>
                    <a:pt x="94948" y="189897"/>
                  </a:lnTo>
                  <a:cubicBezTo>
                    <a:pt x="42510" y="189897"/>
                    <a:pt x="0" y="147387"/>
                    <a:pt x="0" y="94948"/>
                  </a:cubicBezTo>
                  <a:lnTo>
                    <a:pt x="0" y="94948"/>
                  </a:lnTo>
                  <a:cubicBezTo>
                    <a:pt x="0" y="42510"/>
                    <a:pt x="42510" y="0"/>
                    <a:pt x="94948" y="0"/>
                  </a:cubicBezTo>
                  <a:close/>
                </a:path>
              </a:pathLst>
            </a:custGeom>
            <a:solidFill>
              <a:srgbClr val="FAA607"/>
            </a:solidFill>
            <a:ln cap="rnd">
              <a:noFill/>
              <a:prstDash val="solid"/>
              <a:round/>
            </a:ln>
          </p:spPr>
        </p:sp>
        <p:sp>
          <p:nvSpPr>
            <p:cNvPr name="TextBox 5" id="5"/>
            <p:cNvSpPr txBox="true"/>
            <p:nvPr/>
          </p:nvSpPr>
          <p:spPr>
            <a:xfrm>
              <a:off x="0" y="-57150"/>
              <a:ext cx="1370603" cy="247047"/>
            </a:xfrm>
            <a:prstGeom prst="rect">
              <a:avLst/>
            </a:prstGeom>
          </p:spPr>
          <p:txBody>
            <a:bodyPr anchor="ctr" rtlCol="false" tIns="50800" lIns="50800" bIns="50800" rIns="50800"/>
            <a:lstStyle/>
            <a:p>
              <a:pPr algn="ctr" marL="0" indent="0" lvl="0">
                <a:lnSpc>
                  <a:spcPts val="2824"/>
                </a:lnSpc>
                <a:spcBef>
                  <a:spcPct val="0"/>
                </a:spcBef>
              </a:pPr>
            </a:p>
          </p:txBody>
        </p:sp>
      </p:grpSp>
      <p:sp>
        <p:nvSpPr>
          <p:cNvPr name="Freeform 6" id="6"/>
          <p:cNvSpPr/>
          <p:nvPr/>
        </p:nvSpPr>
        <p:spPr>
          <a:xfrm flipH="false" flipV="false" rot="0">
            <a:off x="16815378" y="1166754"/>
            <a:ext cx="296763" cy="308325"/>
          </a:xfrm>
          <a:custGeom>
            <a:avLst/>
            <a:gdLst/>
            <a:ahLst/>
            <a:cxnLst/>
            <a:rect r="r" b="b" t="t" l="l"/>
            <a:pathLst>
              <a:path h="308325" w="296763">
                <a:moveTo>
                  <a:pt x="0" y="0"/>
                </a:moveTo>
                <a:lnTo>
                  <a:pt x="296763" y="0"/>
                </a:lnTo>
                <a:lnTo>
                  <a:pt x="296763" y="308325"/>
                </a:lnTo>
                <a:lnTo>
                  <a:pt x="0" y="30832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2145208">
            <a:off x="12619779" y="3716346"/>
            <a:ext cx="8984724" cy="4018622"/>
          </a:xfrm>
          <a:custGeom>
            <a:avLst/>
            <a:gdLst/>
            <a:ahLst/>
            <a:cxnLst/>
            <a:rect r="r" b="b" t="t" l="l"/>
            <a:pathLst>
              <a:path h="4018622" w="8984724">
                <a:moveTo>
                  <a:pt x="0" y="0"/>
                </a:moveTo>
                <a:lnTo>
                  <a:pt x="8984725" y="0"/>
                </a:lnTo>
                <a:lnTo>
                  <a:pt x="8984725" y="4018622"/>
                </a:lnTo>
                <a:lnTo>
                  <a:pt x="0" y="401862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3110176" y="2152709"/>
            <a:ext cx="4819763" cy="4837906"/>
          </a:xfrm>
          <a:custGeom>
            <a:avLst/>
            <a:gdLst/>
            <a:ahLst/>
            <a:cxnLst/>
            <a:rect r="r" b="b" t="t" l="l"/>
            <a:pathLst>
              <a:path h="4837906" w="4819763">
                <a:moveTo>
                  <a:pt x="0" y="0"/>
                </a:moveTo>
                <a:lnTo>
                  <a:pt x="4819764" y="0"/>
                </a:lnTo>
                <a:lnTo>
                  <a:pt x="4819764" y="4837905"/>
                </a:lnTo>
                <a:lnTo>
                  <a:pt x="0" y="483790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2145208">
            <a:off x="-3139890" y="3134189"/>
            <a:ext cx="8984724" cy="4018622"/>
          </a:xfrm>
          <a:custGeom>
            <a:avLst/>
            <a:gdLst/>
            <a:ahLst/>
            <a:cxnLst/>
            <a:rect r="r" b="b" t="t" l="l"/>
            <a:pathLst>
              <a:path h="4018622" w="8984724">
                <a:moveTo>
                  <a:pt x="0" y="0"/>
                </a:moveTo>
                <a:lnTo>
                  <a:pt x="8984725" y="0"/>
                </a:lnTo>
                <a:lnTo>
                  <a:pt x="8984725" y="4018622"/>
                </a:lnTo>
                <a:lnTo>
                  <a:pt x="0" y="401862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1028700" y="1049653"/>
            <a:ext cx="647545" cy="495666"/>
          </a:xfrm>
          <a:custGeom>
            <a:avLst/>
            <a:gdLst/>
            <a:ahLst/>
            <a:cxnLst/>
            <a:rect r="r" b="b" t="t" l="l"/>
            <a:pathLst>
              <a:path h="495666" w="647545">
                <a:moveTo>
                  <a:pt x="0" y="0"/>
                </a:moveTo>
                <a:lnTo>
                  <a:pt x="647545" y="0"/>
                </a:lnTo>
                <a:lnTo>
                  <a:pt x="647545" y="495666"/>
                </a:lnTo>
                <a:lnTo>
                  <a:pt x="0" y="49566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6034560">
            <a:off x="-1502391" y="7200900"/>
            <a:ext cx="3845468" cy="4114800"/>
          </a:xfrm>
          <a:custGeom>
            <a:avLst/>
            <a:gdLst/>
            <a:ahLst/>
            <a:cxnLst/>
            <a:rect r="r" b="b" t="t" l="l"/>
            <a:pathLst>
              <a:path h="4114800" w="3845468">
                <a:moveTo>
                  <a:pt x="0" y="0"/>
                </a:moveTo>
                <a:lnTo>
                  <a:pt x="3845468" y="0"/>
                </a:lnTo>
                <a:lnTo>
                  <a:pt x="3845468"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2" id="12"/>
          <p:cNvSpPr/>
          <p:nvPr/>
        </p:nvSpPr>
        <p:spPr>
          <a:xfrm flipH="false" flipV="false" rot="8394526">
            <a:off x="9779733" y="8761623"/>
            <a:ext cx="626952" cy="392130"/>
          </a:xfrm>
          <a:custGeom>
            <a:avLst/>
            <a:gdLst/>
            <a:ahLst/>
            <a:cxnLst/>
            <a:rect r="r" b="b" t="t" l="l"/>
            <a:pathLst>
              <a:path h="392130" w="626952">
                <a:moveTo>
                  <a:pt x="0" y="0"/>
                </a:moveTo>
                <a:lnTo>
                  <a:pt x="626952" y="0"/>
                </a:lnTo>
                <a:lnTo>
                  <a:pt x="626952" y="392130"/>
                </a:lnTo>
                <a:lnTo>
                  <a:pt x="0" y="39213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3" id="13"/>
          <p:cNvSpPr/>
          <p:nvPr/>
        </p:nvSpPr>
        <p:spPr>
          <a:xfrm flipH="false" flipV="false" rot="-1048382">
            <a:off x="7772191" y="1942195"/>
            <a:ext cx="1034860" cy="383329"/>
          </a:xfrm>
          <a:custGeom>
            <a:avLst/>
            <a:gdLst/>
            <a:ahLst/>
            <a:cxnLst/>
            <a:rect r="r" b="b" t="t" l="l"/>
            <a:pathLst>
              <a:path h="383329" w="1034860">
                <a:moveTo>
                  <a:pt x="0" y="0"/>
                </a:moveTo>
                <a:lnTo>
                  <a:pt x="1034860" y="0"/>
                </a:lnTo>
                <a:lnTo>
                  <a:pt x="1034860" y="383330"/>
                </a:lnTo>
                <a:lnTo>
                  <a:pt x="0" y="383330"/>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4" id="14"/>
          <p:cNvSpPr/>
          <p:nvPr/>
        </p:nvSpPr>
        <p:spPr>
          <a:xfrm flipH="false" flipV="false" rot="0">
            <a:off x="1676245" y="5442841"/>
            <a:ext cx="10125678" cy="4118099"/>
          </a:xfrm>
          <a:custGeom>
            <a:avLst/>
            <a:gdLst/>
            <a:ahLst/>
            <a:cxnLst/>
            <a:rect r="r" b="b" t="t" l="l"/>
            <a:pathLst>
              <a:path h="4118099" w="10125678">
                <a:moveTo>
                  <a:pt x="0" y="0"/>
                </a:moveTo>
                <a:lnTo>
                  <a:pt x="10125678" y="0"/>
                </a:lnTo>
                <a:lnTo>
                  <a:pt x="10125678" y="4118099"/>
                </a:lnTo>
                <a:lnTo>
                  <a:pt x="0" y="4118099"/>
                </a:lnTo>
                <a:lnTo>
                  <a:pt x="0" y="0"/>
                </a:lnTo>
                <a:close/>
              </a:path>
            </a:pathLst>
          </a:custGeom>
          <a:blipFill>
            <a:blip r:embed="rId18"/>
            <a:stretch>
              <a:fillRect l="0" t="0" r="0" b="0"/>
            </a:stretch>
          </a:blipFill>
        </p:spPr>
      </p:sp>
      <p:sp>
        <p:nvSpPr>
          <p:cNvPr name="TextBox 15" id="15"/>
          <p:cNvSpPr txBox="true"/>
          <p:nvPr/>
        </p:nvSpPr>
        <p:spPr>
          <a:xfrm rot="0">
            <a:off x="11428284" y="1200266"/>
            <a:ext cx="1370528" cy="269875"/>
          </a:xfrm>
          <a:prstGeom prst="rect">
            <a:avLst/>
          </a:prstGeom>
        </p:spPr>
        <p:txBody>
          <a:bodyPr anchor="t" rtlCol="false" tIns="0" lIns="0" bIns="0" rIns="0">
            <a:spAutoFit/>
          </a:bodyPr>
          <a:lstStyle/>
          <a:p>
            <a:pPr algn="ctr">
              <a:lnSpc>
                <a:spcPts val="2000"/>
              </a:lnSpc>
            </a:pPr>
            <a:r>
              <a:rPr lang="en-US" sz="2000">
                <a:solidFill>
                  <a:srgbClr val="27194D">
                    <a:alpha val="55686"/>
                  </a:srgbClr>
                </a:solidFill>
                <a:latin typeface="Open Sans"/>
                <a:ea typeface="Open Sans"/>
                <a:cs typeface="Open Sans"/>
                <a:sym typeface="Open Sans"/>
              </a:rPr>
              <a:t>LAYANAN</a:t>
            </a:r>
          </a:p>
        </p:txBody>
      </p:sp>
      <p:sp>
        <p:nvSpPr>
          <p:cNvPr name="TextBox 16" id="16"/>
          <p:cNvSpPr txBox="true"/>
          <p:nvPr/>
        </p:nvSpPr>
        <p:spPr>
          <a:xfrm rot="0">
            <a:off x="1847695" y="1109652"/>
            <a:ext cx="3115460" cy="422485"/>
          </a:xfrm>
          <a:prstGeom prst="rect">
            <a:avLst/>
          </a:prstGeom>
        </p:spPr>
        <p:txBody>
          <a:bodyPr anchor="t" rtlCol="false" tIns="0" lIns="0" bIns="0" rIns="0">
            <a:spAutoFit/>
          </a:bodyPr>
          <a:lstStyle/>
          <a:p>
            <a:pPr algn="l">
              <a:lnSpc>
                <a:spcPts val="3107"/>
              </a:lnSpc>
            </a:pPr>
            <a:r>
              <a:rPr lang="en-US" sz="2799" b="true">
                <a:solidFill>
                  <a:srgbClr val="5D4FCA"/>
                </a:solidFill>
                <a:latin typeface="Roboto Condensed Bold"/>
                <a:ea typeface="Roboto Condensed Bold"/>
                <a:cs typeface="Roboto Condensed Bold"/>
                <a:sym typeface="Roboto Condensed Bold"/>
              </a:rPr>
              <a:t>EKSPLORASI DATA</a:t>
            </a:r>
          </a:p>
        </p:txBody>
      </p:sp>
      <p:sp>
        <p:nvSpPr>
          <p:cNvPr name="TextBox 17" id="17"/>
          <p:cNvSpPr txBox="true"/>
          <p:nvPr/>
        </p:nvSpPr>
        <p:spPr>
          <a:xfrm rot="0">
            <a:off x="9963393" y="1176836"/>
            <a:ext cx="1293441" cy="269875"/>
          </a:xfrm>
          <a:prstGeom prst="rect">
            <a:avLst/>
          </a:prstGeom>
        </p:spPr>
        <p:txBody>
          <a:bodyPr anchor="t" rtlCol="false" tIns="0" lIns="0" bIns="0" rIns="0">
            <a:spAutoFit/>
          </a:bodyPr>
          <a:lstStyle/>
          <a:p>
            <a:pPr algn="ctr">
              <a:lnSpc>
                <a:spcPts val="2000"/>
              </a:lnSpc>
            </a:pPr>
            <a:r>
              <a:rPr lang="en-US" b="true" sz="2000">
                <a:solidFill>
                  <a:srgbClr val="5D4FCA"/>
                </a:solidFill>
                <a:latin typeface="Open Sans Bold"/>
                <a:ea typeface="Open Sans Bold"/>
                <a:cs typeface="Open Sans Bold"/>
                <a:sym typeface="Open Sans Bold"/>
              </a:rPr>
              <a:t>BERANDA</a:t>
            </a:r>
          </a:p>
        </p:txBody>
      </p:sp>
      <p:sp>
        <p:nvSpPr>
          <p:cNvPr name="TextBox 18" id="18"/>
          <p:cNvSpPr txBox="true"/>
          <p:nvPr/>
        </p:nvSpPr>
        <p:spPr>
          <a:xfrm rot="0">
            <a:off x="1676245" y="2452993"/>
            <a:ext cx="7365746" cy="715899"/>
          </a:xfrm>
          <a:prstGeom prst="rect">
            <a:avLst/>
          </a:prstGeom>
        </p:spPr>
        <p:txBody>
          <a:bodyPr anchor="t" rtlCol="false" tIns="0" lIns="0" bIns="0" rIns="0">
            <a:spAutoFit/>
          </a:bodyPr>
          <a:lstStyle/>
          <a:p>
            <a:pPr algn="l">
              <a:lnSpc>
                <a:spcPts val="5658"/>
              </a:lnSpc>
            </a:pPr>
            <a:r>
              <a:rPr lang="en-US" sz="4600" b="true">
                <a:solidFill>
                  <a:srgbClr val="27194D"/>
                </a:solidFill>
                <a:latin typeface="Roboto Condensed Bold"/>
                <a:ea typeface="Roboto Condensed Bold"/>
                <a:cs typeface="Roboto Condensed Bold"/>
                <a:sym typeface="Roboto Condensed Bold"/>
              </a:rPr>
              <a:t>MENGIDENTIFIKASI KORELASI</a:t>
            </a:r>
          </a:p>
        </p:txBody>
      </p:sp>
      <p:sp>
        <p:nvSpPr>
          <p:cNvPr name="TextBox 19" id="19"/>
          <p:cNvSpPr txBox="true"/>
          <p:nvPr/>
        </p:nvSpPr>
        <p:spPr>
          <a:xfrm rot="0">
            <a:off x="1676245" y="3353867"/>
            <a:ext cx="10386263" cy="1736549"/>
          </a:xfrm>
          <a:prstGeom prst="rect">
            <a:avLst/>
          </a:prstGeom>
        </p:spPr>
        <p:txBody>
          <a:bodyPr anchor="t" rtlCol="false" tIns="0" lIns="0" bIns="0" rIns="0">
            <a:spAutoFit/>
          </a:bodyPr>
          <a:lstStyle/>
          <a:p>
            <a:pPr algn="just" marL="0" indent="0" lvl="0">
              <a:lnSpc>
                <a:spcPts val="3499"/>
              </a:lnSpc>
            </a:pPr>
            <a:r>
              <a:rPr lang="en-US" sz="2499">
                <a:solidFill>
                  <a:srgbClr val="000000"/>
                </a:solidFill>
                <a:latin typeface="Open Sans"/>
                <a:ea typeface="Open Sans"/>
                <a:cs typeface="Open Sans"/>
                <a:sym typeface="Open Sans"/>
              </a:rPr>
              <a:t>Korelasi merupakan ukuran statistik yang digunakan untuk mengetahui hubungan antara variabel (positif, negatif, atau tidak ada hubungannya. Korelasi biasanya juga digunakan untuk memahami pola hubungan antar variabel.</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FF8E9"/>
        </a:solidFill>
      </p:bgPr>
    </p:bg>
    <p:spTree>
      <p:nvGrpSpPr>
        <p:cNvPr id="1" name=""/>
        <p:cNvGrpSpPr/>
        <p:nvPr/>
      </p:nvGrpSpPr>
      <p:grpSpPr>
        <a:xfrm>
          <a:off x="0" y="0"/>
          <a:ext cx="0" cy="0"/>
          <a:chOff x="0" y="0"/>
          <a:chExt cx="0" cy="0"/>
        </a:xfrm>
      </p:grpSpPr>
      <p:sp>
        <p:nvSpPr>
          <p:cNvPr name="Freeform 2" id="2"/>
          <p:cNvSpPr/>
          <p:nvPr/>
        </p:nvSpPr>
        <p:spPr>
          <a:xfrm flipH="false" flipV="false" rot="-5687936">
            <a:off x="15336566" y="-1307732"/>
            <a:ext cx="3845468" cy="4114800"/>
          </a:xfrm>
          <a:custGeom>
            <a:avLst/>
            <a:gdLst/>
            <a:ahLst/>
            <a:cxnLst/>
            <a:rect r="r" b="b" t="t" l="l"/>
            <a:pathLst>
              <a:path h="4114800" w="3845468">
                <a:moveTo>
                  <a:pt x="0" y="0"/>
                </a:moveTo>
                <a:lnTo>
                  <a:pt x="3845468" y="0"/>
                </a:lnTo>
                <a:lnTo>
                  <a:pt x="3845468"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3138009" y="1035414"/>
            <a:ext cx="4121291" cy="571004"/>
            <a:chOff x="0" y="0"/>
            <a:chExt cx="1370603" cy="189897"/>
          </a:xfrm>
        </p:grpSpPr>
        <p:sp>
          <p:nvSpPr>
            <p:cNvPr name="Freeform 4" id="4"/>
            <p:cNvSpPr/>
            <p:nvPr/>
          </p:nvSpPr>
          <p:spPr>
            <a:xfrm flipH="false" flipV="false" rot="0">
              <a:off x="0" y="0"/>
              <a:ext cx="1370603" cy="189897"/>
            </a:xfrm>
            <a:custGeom>
              <a:avLst/>
              <a:gdLst/>
              <a:ahLst/>
              <a:cxnLst/>
              <a:rect r="r" b="b" t="t" l="l"/>
              <a:pathLst>
                <a:path h="189897" w="1370603">
                  <a:moveTo>
                    <a:pt x="94948" y="0"/>
                  </a:moveTo>
                  <a:lnTo>
                    <a:pt x="1275655" y="0"/>
                  </a:lnTo>
                  <a:cubicBezTo>
                    <a:pt x="1300837" y="0"/>
                    <a:pt x="1324987" y="10003"/>
                    <a:pt x="1342794" y="27810"/>
                  </a:cubicBezTo>
                  <a:cubicBezTo>
                    <a:pt x="1360600" y="45616"/>
                    <a:pt x="1370603" y="69767"/>
                    <a:pt x="1370603" y="94948"/>
                  </a:cubicBezTo>
                  <a:lnTo>
                    <a:pt x="1370603" y="94948"/>
                  </a:lnTo>
                  <a:cubicBezTo>
                    <a:pt x="1370603" y="147387"/>
                    <a:pt x="1328094" y="189897"/>
                    <a:pt x="1275655" y="189897"/>
                  </a:cubicBezTo>
                  <a:lnTo>
                    <a:pt x="94948" y="189897"/>
                  </a:lnTo>
                  <a:cubicBezTo>
                    <a:pt x="42510" y="189897"/>
                    <a:pt x="0" y="147387"/>
                    <a:pt x="0" y="94948"/>
                  </a:cubicBezTo>
                  <a:lnTo>
                    <a:pt x="0" y="94948"/>
                  </a:lnTo>
                  <a:cubicBezTo>
                    <a:pt x="0" y="42510"/>
                    <a:pt x="42510" y="0"/>
                    <a:pt x="94948" y="0"/>
                  </a:cubicBezTo>
                  <a:close/>
                </a:path>
              </a:pathLst>
            </a:custGeom>
            <a:solidFill>
              <a:srgbClr val="FAA607"/>
            </a:solidFill>
            <a:ln cap="rnd">
              <a:noFill/>
              <a:prstDash val="solid"/>
              <a:round/>
            </a:ln>
          </p:spPr>
        </p:sp>
        <p:sp>
          <p:nvSpPr>
            <p:cNvPr name="TextBox 5" id="5"/>
            <p:cNvSpPr txBox="true"/>
            <p:nvPr/>
          </p:nvSpPr>
          <p:spPr>
            <a:xfrm>
              <a:off x="0" y="-57150"/>
              <a:ext cx="1370603" cy="247047"/>
            </a:xfrm>
            <a:prstGeom prst="rect">
              <a:avLst/>
            </a:prstGeom>
          </p:spPr>
          <p:txBody>
            <a:bodyPr anchor="ctr" rtlCol="false" tIns="50800" lIns="50800" bIns="50800" rIns="50800"/>
            <a:lstStyle/>
            <a:p>
              <a:pPr algn="ctr" marL="0" indent="0" lvl="0">
                <a:lnSpc>
                  <a:spcPts val="2824"/>
                </a:lnSpc>
                <a:spcBef>
                  <a:spcPct val="0"/>
                </a:spcBef>
              </a:pPr>
            </a:p>
          </p:txBody>
        </p:sp>
      </p:grpSp>
      <p:sp>
        <p:nvSpPr>
          <p:cNvPr name="Freeform 6" id="6"/>
          <p:cNvSpPr/>
          <p:nvPr/>
        </p:nvSpPr>
        <p:spPr>
          <a:xfrm flipH="false" flipV="false" rot="0">
            <a:off x="16815378" y="1166754"/>
            <a:ext cx="296763" cy="308325"/>
          </a:xfrm>
          <a:custGeom>
            <a:avLst/>
            <a:gdLst/>
            <a:ahLst/>
            <a:cxnLst/>
            <a:rect r="r" b="b" t="t" l="l"/>
            <a:pathLst>
              <a:path h="308325" w="296763">
                <a:moveTo>
                  <a:pt x="0" y="0"/>
                </a:moveTo>
                <a:lnTo>
                  <a:pt x="296763" y="0"/>
                </a:lnTo>
                <a:lnTo>
                  <a:pt x="296763" y="308325"/>
                </a:lnTo>
                <a:lnTo>
                  <a:pt x="0" y="30832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2145208">
            <a:off x="12619779" y="3716346"/>
            <a:ext cx="8984724" cy="4018622"/>
          </a:xfrm>
          <a:custGeom>
            <a:avLst/>
            <a:gdLst/>
            <a:ahLst/>
            <a:cxnLst/>
            <a:rect r="r" b="b" t="t" l="l"/>
            <a:pathLst>
              <a:path h="4018622" w="8984724">
                <a:moveTo>
                  <a:pt x="0" y="0"/>
                </a:moveTo>
                <a:lnTo>
                  <a:pt x="8984725" y="0"/>
                </a:lnTo>
                <a:lnTo>
                  <a:pt x="8984725" y="4018622"/>
                </a:lnTo>
                <a:lnTo>
                  <a:pt x="0" y="401862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2145208">
            <a:off x="-3139890" y="3134189"/>
            <a:ext cx="8984724" cy="4018622"/>
          </a:xfrm>
          <a:custGeom>
            <a:avLst/>
            <a:gdLst/>
            <a:ahLst/>
            <a:cxnLst/>
            <a:rect r="r" b="b" t="t" l="l"/>
            <a:pathLst>
              <a:path h="4018622" w="8984724">
                <a:moveTo>
                  <a:pt x="0" y="0"/>
                </a:moveTo>
                <a:lnTo>
                  <a:pt x="8984725" y="0"/>
                </a:lnTo>
                <a:lnTo>
                  <a:pt x="8984725" y="4018622"/>
                </a:lnTo>
                <a:lnTo>
                  <a:pt x="0" y="401862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1028700" y="1049653"/>
            <a:ext cx="647545" cy="495666"/>
          </a:xfrm>
          <a:custGeom>
            <a:avLst/>
            <a:gdLst/>
            <a:ahLst/>
            <a:cxnLst/>
            <a:rect r="r" b="b" t="t" l="l"/>
            <a:pathLst>
              <a:path h="495666" w="647545">
                <a:moveTo>
                  <a:pt x="0" y="0"/>
                </a:moveTo>
                <a:lnTo>
                  <a:pt x="647545" y="0"/>
                </a:lnTo>
                <a:lnTo>
                  <a:pt x="647545" y="495666"/>
                </a:lnTo>
                <a:lnTo>
                  <a:pt x="0" y="49566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6034560">
            <a:off x="-1502391" y="7200900"/>
            <a:ext cx="3845468" cy="4114800"/>
          </a:xfrm>
          <a:custGeom>
            <a:avLst/>
            <a:gdLst/>
            <a:ahLst/>
            <a:cxnLst/>
            <a:rect r="r" b="b" t="t" l="l"/>
            <a:pathLst>
              <a:path h="4114800" w="3845468">
                <a:moveTo>
                  <a:pt x="0" y="0"/>
                </a:moveTo>
                <a:lnTo>
                  <a:pt x="3845468" y="0"/>
                </a:lnTo>
                <a:lnTo>
                  <a:pt x="384546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8394526">
            <a:off x="9779733" y="8761623"/>
            <a:ext cx="626952" cy="392130"/>
          </a:xfrm>
          <a:custGeom>
            <a:avLst/>
            <a:gdLst/>
            <a:ahLst/>
            <a:cxnLst/>
            <a:rect r="r" b="b" t="t" l="l"/>
            <a:pathLst>
              <a:path h="392130" w="626952">
                <a:moveTo>
                  <a:pt x="0" y="0"/>
                </a:moveTo>
                <a:lnTo>
                  <a:pt x="626952" y="0"/>
                </a:lnTo>
                <a:lnTo>
                  <a:pt x="626952" y="392130"/>
                </a:lnTo>
                <a:lnTo>
                  <a:pt x="0" y="39213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2" id="12"/>
          <p:cNvSpPr/>
          <p:nvPr/>
        </p:nvSpPr>
        <p:spPr>
          <a:xfrm flipH="false" flipV="false" rot="-1048382">
            <a:off x="7772191" y="1942195"/>
            <a:ext cx="1034860" cy="383329"/>
          </a:xfrm>
          <a:custGeom>
            <a:avLst/>
            <a:gdLst/>
            <a:ahLst/>
            <a:cxnLst/>
            <a:rect r="r" b="b" t="t" l="l"/>
            <a:pathLst>
              <a:path h="383329" w="1034860">
                <a:moveTo>
                  <a:pt x="0" y="0"/>
                </a:moveTo>
                <a:lnTo>
                  <a:pt x="1034860" y="0"/>
                </a:lnTo>
                <a:lnTo>
                  <a:pt x="1034860" y="383330"/>
                </a:lnTo>
                <a:lnTo>
                  <a:pt x="0" y="38333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3" id="13"/>
          <p:cNvSpPr/>
          <p:nvPr/>
        </p:nvSpPr>
        <p:spPr>
          <a:xfrm flipH="false" flipV="false" rot="0">
            <a:off x="1676245" y="3359392"/>
            <a:ext cx="12939628" cy="3052205"/>
          </a:xfrm>
          <a:custGeom>
            <a:avLst/>
            <a:gdLst/>
            <a:ahLst/>
            <a:cxnLst/>
            <a:rect r="r" b="b" t="t" l="l"/>
            <a:pathLst>
              <a:path h="3052205" w="12939628">
                <a:moveTo>
                  <a:pt x="0" y="0"/>
                </a:moveTo>
                <a:lnTo>
                  <a:pt x="12939628" y="0"/>
                </a:lnTo>
                <a:lnTo>
                  <a:pt x="12939628" y="3052205"/>
                </a:lnTo>
                <a:lnTo>
                  <a:pt x="0" y="3052205"/>
                </a:lnTo>
                <a:lnTo>
                  <a:pt x="0" y="0"/>
                </a:lnTo>
                <a:close/>
              </a:path>
            </a:pathLst>
          </a:custGeom>
          <a:blipFill>
            <a:blip r:embed="rId16"/>
            <a:stretch>
              <a:fillRect l="0" t="0" r="0" b="0"/>
            </a:stretch>
          </a:blipFill>
        </p:spPr>
      </p:sp>
      <p:sp>
        <p:nvSpPr>
          <p:cNvPr name="Freeform 14" id="14"/>
          <p:cNvSpPr/>
          <p:nvPr/>
        </p:nvSpPr>
        <p:spPr>
          <a:xfrm flipH="false" flipV="false" rot="0">
            <a:off x="1676245" y="6678297"/>
            <a:ext cx="8220396" cy="3178235"/>
          </a:xfrm>
          <a:custGeom>
            <a:avLst/>
            <a:gdLst/>
            <a:ahLst/>
            <a:cxnLst/>
            <a:rect r="r" b="b" t="t" l="l"/>
            <a:pathLst>
              <a:path h="3178235" w="8220396">
                <a:moveTo>
                  <a:pt x="0" y="0"/>
                </a:moveTo>
                <a:lnTo>
                  <a:pt x="8220396" y="0"/>
                </a:lnTo>
                <a:lnTo>
                  <a:pt x="8220396" y="3178234"/>
                </a:lnTo>
                <a:lnTo>
                  <a:pt x="0" y="3178234"/>
                </a:lnTo>
                <a:lnTo>
                  <a:pt x="0" y="0"/>
                </a:lnTo>
                <a:close/>
              </a:path>
            </a:pathLst>
          </a:custGeom>
          <a:blipFill>
            <a:blip r:embed="rId17"/>
            <a:stretch>
              <a:fillRect l="0" t="0" r="0" b="0"/>
            </a:stretch>
          </a:blipFill>
        </p:spPr>
      </p:sp>
      <p:sp>
        <p:nvSpPr>
          <p:cNvPr name="TextBox 15" id="15"/>
          <p:cNvSpPr txBox="true"/>
          <p:nvPr/>
        </p:nvSpPr>
        <p:spPr>
          <a:xfrm rot="0">
            <a:off x="11428284" y="1200266"/>
            <a:ext cx="1370528" cy="269875"/>
          </a:xfrm>
          <a:prstGeom prst="rect">
            <a:avLst/>
          </a:prstGeom>
        </p:spPr>
        <p:txBody>
          <a:bodyPr anchor="t" rtlCol="false" tIns="0" lIns="0" bIns="0" rIns="0">
            <a:spAutoFit/>
          </a:bodyPr>
          <a:lstStyle/>
          <a:p>
            <a:pPr algn="ctr">
              <a:lnSpc>
                <a:spcPts val="2000"/>
              </a:lnSpc>
            </a:pPr>
            <a:r>
              <a:rPr lang="en-US" sz="2000">
                <a:solidFill>
                  <a:srgbClr val="27194D">
                    <a:alpha val="55686"/>
                  </a:srgbClr>
                </a:solidFill>
                <a:latin typeface="Open Sans"/>
                <a:ea typeface="Open Sans"/>
                <a:cs typeface="Open Sans"/>
                <a:sym typeface="Open Sans"/>
              </a:rPr>
              <a:t>LAYANAN</a:t>
            </a:r>
          </a:p>
        </p:txBody>
      </p:sp>
      <p:sp>
        <p:nvSpPr>
          <p:cNvPr name="TextBox 16" id="16"/>
          <p:cNvSpPr txBox="true"/>
          <p:nvPr/>
        </p:nvSpPr>
        <p:spPr>
          <a:xfrm rot="0">
            <a:off x="1847695" y="1109652"/>
            <a:ext cx="3115460" cy="422485"/>
          </a:xfrm>
          <a:prstGeom prst="rect">
            <a:avLst/>
          </a:prstGeom>
        </p:spPr>
        <p:txBody>
          <a:bodyPr anchor="t" rtlCol="false" tIns="0" lIns="0" bIns="0" rIns="0">
            <a:spAutoFit/>
          </a:bodyPr>
          <a:lstStyle/>
          <a:p>
            <a:pPr algn="l">
              <a:lnSpc>
                <a:spcPts val="3107"/>
              </a:lnSpc>
            </a:pPr>
            <a:r>
              <a:rPr lang="en-US" sz="2799" b="true">
                <a:solidFill>
                  <a:srgbClr val="5D4FCA"/>
                </a:solidFill>
                <a:latin typeface="Roboto Condensed Bold"/>
                <a:ea typeface="Roboto Condensed Bold"/>
                <a:cs typeface="Roboto Condensed Bold"/>
                <a:sym typeface="Roboto Condensed Bold"/>
              </a:rPr>
              <a:t>EKSPLORASI DATA</a:t>
            </a:r>
          </a:p>
        </p:txBody>
      </p:sp>
      <p:sp>
        <p:nvSpPr>
          <p:cNvPr name="TextBox 17" id="17"/>
          <p:cNvSpPr txBox="true"/>
          <p:nvPr/>
        </p:nvSpPr>
        <p:spPr>
          <a:xfrm rot="0">
            <a:off x="9963393" y="1176836"/>
            <a:ext cx="1293441" cy="269875"/>
          </a:xfrm>
          <a:prstGeom prst="rect">
            <a:avLst/>
          </a:prstGeom>
        </p:spPr>
        <p:txBody>
          <a:bodyPr anchor="t" rtlCol="false" tIns="0" lIns="0" bIns="0" rIns="0">
            <a:spAutoFit/>
          </a:bodyPr>
          <a:lstStyle/>
          <a:p>
            <a:pPr algn="ctr">
              <a:lnSpc>
                <a:spcPts val="2000"/>
              </a:lnSpc>
            </a:pPr>
            <a:r>
              <a:rPr lang="en-US" b="true" sz="2000">
                <a:solidFill>
                  <a:srgbClr val="5D4FCA"/>
                </a:solidFill>
                <a:latin typeface="Open Sans Bold"/>
                <a:ea typeface="Open Sans Bold"/>
                <a:cs typeface="Open Sans Bold"/>
                <a:sym typeface="Open Sans Bold"/>
              </a:rPr>
              <a:t>BERANDA</a:t>
            </a:r>
          </a:p>
        </p:txBody>
      </p:sp>
      <p:sp>
        <p:nvSpPr>
          <p:cNvPr name="TextBox 18" id="18"/>
          <p:cNvSpPr txBox="true"/>
          <p:nvPr/>
        </p:nvSpPr>
        <p:spPr>
          <a:xfrm rot="0">
            <a:off x="1676245" y="2452993"/>
            <a:ext cx="7365746" cy="715899"/>
          </a:xfrm>
          <a:prstGeom prst="rect">
            <a:avLst/>
          </a:prstGeom>
        </p:spPr>
        <p:txBody>
          <a:bodyPr anchor="t" rtlCol="false" tIns="0" lIns="0" bIns="0" rIns="0">
            <a:spAutoFit/>
          </a:bodyPr>
          <a:lstStyle/>
          <a:p>
            <a:pPr algn="l">
              <a:lnSpc>
                <a:spcPts val="5658"/>
              </a:lnSpc>
            </a:pPr>
            <a:r>
              <a:rPr lang="en-US" sz="4600" b="true">
                <a:solidFill>
                  <a:srgbClr val="27194D"/>
                </a:solidFill>
                <a:latin typeface="Roboto Condensed Bold"/>
                <a:ea typeface="Roboto Condensed Bold"/>
                <a:cs typeface="Roboto Condensed Bold"/>
                <a:sym typeface="Roboto Condensed Bold"/>
              </a:rPr>
              <a:t>MENGIDENTIFIKASI KORELASI</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FFF8E9"/>
        </a:solidFill>
      </p:bgPr>
    </p:bg>
    <p:spTree>
      <p:nvGrpSpPr>
        <p:cNvPr id="1" name=""/>
        <p:cNvGrpSpPr/>
        <p:nvPr/>
      </p:nvGrpSpPr>
      <p:grpSpPr>
        <a:xfrm>
          <a:off x="0" y="0"/>
          <a:ext cx="0" cy="0"/>
          <a:chOff x="0" y="0"/>
          <a:chExt cx="0" cy="0"/>
        </a:xfrm>
      </p:grpSpPr>
      <p:grpSp>
        <p:nvGrpSpPr>
          <p:cNvPr name="Group 2" id="2"/>
          <p:cNvGrpSpPr/>
          <p:nvPr/>
        </p:nvGrpSpPr>
        <p:grpSpPr>
          <a:xfrm rot="0">
            <a:off x="13138009" y="1035414"/>
            <a:ext cx="4121291" cy="571004"/>
            <a:chOff x="0" y="0"/>
            <a:chExt cx="1370603" cy="189897"/>
          </a:xfrm>
        </p:grpSpPr>
        <p:sp>
          <p:nvSpPr>
            <p:cNvPr name="Freeform 3" id="3"/>
            <p:cNvSpPr/>
            <p:nvPr/>
          </p:nvSpPr>
          <p:spPr>
            <a:xfrm flipH="false" flipV="false" rot="0">
              <a:off x="0" y="0"/>
              <a:ext cx="1370603" cy="189897"/>
            </a:xfrm>
            <a:custGeom>
              <a:avLst/>
              <a:gdLst/>
              <a:ahLst/>
              <a:cxnLst/>
              <a:rect r="r" b="b" t="t" l="l"/>
              <a:pathLst>
                <a:path h="189897" w="1370603">
                  <a:moveTo>
                    <a:pt x="94948" y="0"/>
                  </a:moveTo>
                  <a:lnTo>
                    <a:pt x="1275655" y="0"/>
                  </a:lnTo>
                  <a:cubicBezTo>
                    <a:pt x="1300837" y="0"/>
                    <a:pt x="1324987" y="10003"/>
                    <a:pt x="1342794" y="27810"/>
                  </a:cubicBezTo>
                  <a:cubicBezTo>
                    <a:pt x="1360600" y="45616"/>
                    <a:pt x="1370603" y="69767"/>
                    <a:pt x="1370603" y="94948"/>
                  </a:cubicBezTo>
                  <a:lnTo>
                    <a:pt x="1370603" y="94948"/>
                  </a:lnTo>
                  <a:cubicBezTo>
                    <a:pt x="1370603" y="147387"/>
                    <a:pt x="1328094" y="189897"/>
                    <a:pt x="1275655" y="189897"/>
                  </a:cubicBezTo>
                  <a:lnTo>
                    <a:pt x="94948" y="189897"/>
                  </a:lnTo>
                  <a:cubicBezTo>
                    <a:pt x="42510" y="189897"/>
                    <a:pt x="0" y="147387"/>
                    <a:pt x="0" y="94948"/>
                  </a:cubicBezTo>
                  <a:lnTo>
                    <a:pt x="0" y="94948"/>
                  </a:lnTo>
                  <a:cubicBezTo>
                    <a:pt x="0" y="42510"/>
                    <a:pt x="42510" y="0"/>
                    <a:pt x="94948" y="0"/>
                  </a:cubicBezTo>
                  <a:close/>
                </a:path>
              </a:pathLst>
            </a:custGeom>
            <a:solidFill>
              <a:srgbClr val="FAA607"/>
            </a:solidFill>
            <a:ln cap="rnd">
              <a:noFill/>
              <a:prstDash val="solid"/>
              <a:round/>
            </a:ln>
          </p:spPr>
        </p:sp>
        <p:sp>
          <p:nvSpPr>
            <p:cNvPr name="TextBox 4" id="4"/>
            <p:cNvSpPr txBox="true"/>
            <p:nvPr/>
          </p:nvSpPr>
          <p:spPr>
            <a:xfrm>
              <a:off x="0" y="-57150"/>
              <a:ext cx="1370603" cy="247047"/>
            </a:xfrm>
            <a:prstGeom prst="rect">
              <a:avLst/>
            </a:prstGeom>
          </p:spPr>
          <p:txBody>
            <a:bodyPr anchor="ctr" rtlCol="false" tIns="50800" lIns="50800" bIns="50800" rIns="50800"/>
            <a:lstStyle/>
            <a:p>
              <a:pPr algn="ctr" marL="0" indent="0" lvl="0">
                <a:lnSpc>
                  <a:spcPts val="2824"/>
                </a:lnSpc>
                <a:spcBef>
                  <a:spcPct val="0"/>
                </a:spcBef>
              </a:pPr>
            </a:p>
          </p:txBody>
        </p:sp>
      </p:grpSp>
      <p:sp>
        <p:nvSpPr>
          <p:cNvPr name="Freeform 5" id="5"/>
          <p:cNvSpPr/>
          <p:nvPr/>
        </p:nvSpPr>
        <p:spPr>
          <a:xfrm flipH="false" flipV="false" rot="0">
            <a:off x="16815378" y="1166754"/>
            <a:ext cx="296763" cy="308325"/>
          </a:xfrm>
          <a:custGeom>
            <a:avLst/>
            <a:gdLst/>
            <a:ahLst/>
            <a:cxnLst/>
            <a:rect r="r" b="b" t="t" l="l"/>
            <a:pathLst>
              <a:path h="308325" w="296763">
                <a:moveTo>
                  <a:pt x="0" y="0"/>
                </a:moveTo>
                <a:lnTo>
                  <a:pt x="296763" y="0"/>
                </a:lnTo>
                <a:lnTo>
                  <a:pt x="296763" y="308325"/>
                </a:lnTo>
                <a:lnTo>
                  <a:pt x="0" y="30832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2145208">
            <a:off x="-4074482" y="2541597"/>
            <a:ext cx="14525775" cy="6496983"/>
          </a:xfrm>
          <a:custGeom>
            <a:avLst/>
            <a:gdLst/>
            <a:ahLst/>
            <a:cxnLst/>
            <a:rect r="r" b="b" t="t" l="l"/>
            <a:pathLst>
              <a:path h="6496983" w="14525775">
                <a:moveTo>
                  <a:pt x="0" y="0"/>
                </a:moveTo>
                <a:lnTo>
                  <a:pt x="14525775" y="0"/>
                </a:lnTo>
                <a:lnTo>
                  <a:pt x="14525775" y="6496983"/>
                </a:lnTo>
                <a:lnTo>
                  <a:pt x="0" y="64969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972617" y="2109683"/>
            <a:ext cx="6561049" cy="6561049"/>
          </a:xfrm>
          <a:custGeom>
            <a:avLst/>
            <a:gdLst/>
            <a:ahLst/>
            <a:cxnLst/>
            <a:rect r="r" b="b" t="t" l="l"/>
            <a:pathLst>
              <a:path h="6561049" w="6561049">
                <a:moveTo>
                  <a:pt x="0" y="0"/>
                </a:moveTo>
                <a:lnTo>
                  <a:pt x="6561049" y="0"/>
                </a:lnTo>
                <a:lnTo>
                  <a:pt x="6561049" y="6561049"/>
                </a:lnTo>
                <a:lnTo>
                  <a:pt x="0" y="656104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2145208">
            <a:off x="12600536" y="5752755"/>
            <a:ext cx="8429684" cy="3770368"/>
          </a:xfrm>
          <a:custGeom>
            <a:avLst/>
            <a:gdLst/>
            <a:ahLst/>
            <a:cxnLst/>
            <a:rect r="r" b="b" t="t" l="l"/>
            <a:pathLst>
              <a:path h="3770368" w="8429684">
                <a:moveTo>
                  <a:pt x="0" y="0"/>
                </a:moveTo>
                <a:lnTo>
                  <a:pt x="8429684" y="0"/>
                </a:lnTo>
                <a:lnTo>
                  <a:pt x="8429684" y="3770368"/>
                </a:lnTo>
                <a:lnTo>
                  <a:pt x="0" y="377036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028700" y="1049653"/>
            <a:ext cx="647545" cy="495666"/>
          </a:xfrm>
          <a:custGeom>
            <a:avLst/>
            <a:gdLst/>
            <a:ahLst/>
            <a:cxnLst/>
            <a:rect r="r" b="b" t="t" l="l"/>
            <a:pathLst>
              <a:path h="495666" w="647545">
                <a:moveTo>
                  <a:pt x="0" y="0"/>
                </a:moveTo>
                <a:lnTo>
                  <a:pt x="647545" y="0"/>
                </a:lnTo>
                <a:lnTo>
                  <a:pt x="647545" y="495666"/>
                </a:lnTo>
                <a:lnTo>
                  <a:pt x="0" y="49566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10577904">
            <a:off x="15336566" y="8524547"/>
            <a:ext cx="3845468" cy="4114800"/>
          </a:xfrm>
          <a:custGeom>
            <a:avLst/>
            <a:gdLst/>
            <a:ahLst/>
            <a:cxnLst/>
            <a:rect r="r" b="b" t="t" l="l"/>
            <a:pathLst>
              <a:path h="4114800" w="3845468">
                <a:moveTo>
                  <a:pt x="0" y="0"/>
                </a:moveTo>
                <a:lnTo>
                  <a:pt x="3845468" y="0"/>
                </a:lnTo>
                <a:lnTo>
                  <a:pt x="384546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6034560">
            <a:off x="-1502391" y="7200900"/>
            <a:ext cx="3845468" cy="4114800"/>
          </a:xfrm>
          <a:custGeom>
            <a:avLst/>
            <a:gdLst/>
            <a:ahLst/>
            <a:cxnLst/>
            <a:rect r="r" b="b" t="t" l="l"/>
            <a:pathLst>
              <a:path h="4114800" w="3845468">
                <a:moveTo>
                  <a:pt x="0" y="0"/>
                </a:moveTo>
                <a:lnTo>
                  <a:pt x="3845468" y="0"/>
                </a:lnTo>
                <a:lnTo>
                  <a:pt x="3845468"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2" id="12"/>
          <p:cNvSpPr/>
          <p:nvPr/>
        </p:nvSpPr>
        <p:spPr>
          <a:xfrm flipH="false" flipV="false" rot="4124654">
            <a:off x="16866407" y="3148635"/>
            <a:ext cx="626952" cy="392130"/>
          </a:xfrm>
          <a:custGeom>
            <a:avLst/>
            <a:gdLst/>
            <a:ahLst/>
            <a:cxnLst/>
            <a:rect r="r" b="b" t="t" l="l"/>
            <a:pathLst>
              <a:path h="392130" w="626952">
                <a:moveTo>
                  <a:pt x="0" y="0"/>
                </a:moveTo>
                <a:lnTo>
                  <a:pt x="626952" y="0"/>
                </a:lnTo>
                <a:lnTo>
                  <a:pt x="626952" y="392130"/>
                </a:lnTo>
                <a:lnTo>
                  <a:pt x="0" y="39213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3" id="13"/>
          <p:cNvSpPr/>
          <p:nvPr/>
        </p:nvSpPr>
        <p:spPr>
          <a:xfrm flipH="false" flipV="false" rot="-9344170">
            <a:off x="1659141" y="8782232"/>
            <a:ext cx="626952" cy="392130"/>
          </a:xfrm>
          <a:custGeom>
            <a:avLst/>
            <a:gdLst/>
            <a:ahLst/>
            <a:cxnLst/>
            <a:rect r="r" b="b" t="t" l="l"/>
            <a:pathLst>
              <a:path h="392130" w="626952">
                <a:moveTo>
                  <a:pt x="0" y="0"/>
                </a:moveTo>
                <a:lnTo>
                  <a:pt x="626952" y="0"/>
                </a:lnTo>
                <a:lnTo>
                  <a:pt x="626952" y="392130"/>
                </a:lnTo>
                <a:lnTo>
                  <a:pt x="0" y="392130"/>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4" id="14"/>
          <p:cNvSpPr/>
          <p:nvPr/>
        </p:nvSpPr>
        <p:spPr>
          <a:xfrm flipH="false" flipV="false" rot="-7638806">
            <a:off x="692725" y="3680746"/>
            <a:ext cx="1034860" cy="383329"/>
          </a:xfrm>
          <a:custGeom>
            <a:avLst/>
            <a:gdLst/>
            <a:ahLst/>
            <a:cxnLst/>
            <a:rect r="r" b="b" t="t" l="l"/>
            <a:pathLst>
              <a:path h="383329" w="1034860">
                <a:moveTo>
                  <a:pt x="0" y="0"/>
                </a:moveTo>
                <a:lnTo>
                  <a:pt x="1034860" y="0"/>
                </a:lnTo>
                <a:lnTo>
                  <a:pt x="1034860" y="383329"/>
                </a:lnTo>
                <a:lnTo>
                  <a:pt x="0" y="383329"/>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5" id="15"/>
          <p:cNvSpPr/>
          <p:nvPr/>
        </p:nvSpPr>
        <p:spPr>
          <a:xfrm flipH="false" flipV="false" rot="8999904">
            <a:off x="9220070" y="9006778"/>
            <a:ext cx="1034860" cy="383329"/>
          </a:xfrm>
          <a:custGeom>
            <a:avLst/>
            <a:gdLst/>
            <a:ahLst/>
            <a:cxnLst/>
            <a:rect r="r" b="b" t="t" l="l"/>
            <a:pathLst>
              <a:path h="383329" w="1034860">
                <a:moveTo>
                  <a:pt x="0" y="0"/>
                </a:moveTo>
                <a:lnTo>
                  <a:pt x="1034860" y="0"/>
                </a:lnTo>
                <a:lnTo>
                  <a:pt x="1034860" y="383329"/>
                </a:lnTo>
                <a:lnTo>
                  <a:pt x="0" y="383329"/>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TextBox 16" id="16"/>
          <p:cNvSpPr txBox="true"/>
          <p:nvPr/>
        </p:nvSpPr>
        <p:spPr>
          <a:xfrm rot="0">
            <a:off x="11428284" y="1200266"/>
            <a:ext cx="1370528" cy="269875"/>
          </a:xfrm>
          <a:prstGeom prst="rect">
            <a:avLst/>
          </a:prstGeom>
        </p:spPr>
        <p:txBody>
          <a:bodyPr anchor="t" rtlCol="false" tIns="0" lIns="0" bIns="0" rIns="0">
            <a:spAutoFit/>
          </a:bodyPr>
          <a:lstStyle/>
          <a:p>
            <a:pPr algn="ctr">
              <a:lnSpc>
                <a:spcPts val="2000"/>
              </a:lnSpc>
            </a:pPr>
            <a:r>
              <a:rPr lang="en-US" sz="2000">
                <a:solidFill>
                  <a:srgbClr val="27194D">
                    <a:alpha val="55686"/>
                  </a:srgbClr>
                </a:solidFill>
                <a:latin typeface="Open Sans"/>
                <a:ea typeface="Open Sans"/>
                <a:cs typeface="Open Sans"/>
                <a:sym typeface="Open Sans"/>
              </a:rPr>
              <a:t>LAYANAN</a:t>
            </a:r>
          </a:p>
        </p:txBody>
      </p:sp>
      <p:sp>
        <p:nvSpPr>
          <p:cNvPr name="TextBox 17" id="17"/>
          <p:cNvSpPr txBox="true"/>
          <p:nvPr/>
        </p:nvSpPr>
        <p:spPr>
          <a:xfrm rot="0">
            <a:off x="9810993" y="1200266"/>
            <a:ext cx="1293441" cy="269875"/>
          </a:xfrm>
          <a:prstGeom prst="rect">
            <a:avLst/>
          </a:prstGeom>
        </p:spPr>
        <p:txBody>
          <a:bodyPr anchor="t" rtlCol="false" tIns="0" lIns="0" bIns="0" rIns="0">
            <a:spAutoFit/>
          </a:bodyPr>
          <a:lstStyle/>
          <a:p>
            <a:pPr algn="ctr">
              <a:lnSpc>
                <a:spcPts val="2000"/>
              </a:lnSpc>
            </a:pPr>
            <a:r>
              <a:rPr lang="en-US" b="true" sz="2000">
                <a:solidFill>
                  <a:srgbClr val="5D4FCA"/>
                </a:solidFill>
                <a:latin typeface="Open Sans Bold"/>
                <a:ea typeface="Open Sans Bold"/>
                <a:cs typeface="Open Sans Bold"/>
                <a:sym typeface="Open Sans Bold"/>
              </a:rPr>
              <a:t>BERANDA</a:t>
            </a:r>
          </a:p>
        </p:txBody>
      </p:sp>
      <p:sp>
        <p:nvSpPr>
          <p:cNvPr name="TextBox 18" id="18"/>
          <p:cNvSpPr txBox="true"/>
          <p:nvPr/>
        </p:nvSpPr>
        <p:spPr>
          <a:xfrm rot="0">
            <a:off x="1847695" y="1109652"/>
            <a:ext cx="3115460" cy="422485"/>
          </a:xfrm>
          <a:prstGeom prst="rect">
            <a:avLst/>
          </a:prstGeom>
        </p:spPr>
        <p:txBody>
          <a:bodyPr anchor="t" rtlCol="false" tIns="0" lIns="0" bIns="0" rIns="0">
            <a:spAutoFit/>
          </a:bodyPr>
          <a:lstStyle/>
          <a:p>
            <a:pPr algn="l">
              <a:lnSpc>
                <a:spcPts val="3107"/>
              </a:lnSpc>
            </a:pPr>
            <a:r>
              <a:rPr lang="en-US" sz="2799" b="true">
                <a:solidFill>
                  <a:srgbClr val="5D4FCA"/>
                </a:solidFill>
                <a:latin typeface="Roboto Condensed Bold"/>
                <a:ea typeface="Roboto Condensed Bold"/>
                <a:cs typeface="Roboto Condensed Bold"/>
                <a:sym typeface="Roboto Condensed Bold"/>
              </a:rPr>
              <a:t>EKSPLORASI DATA</a:t>
            </a:r>
          </a:p>
        </p:txBody>
      </p:sp>
      <p:sp>
        <p:nvSpPr>
          <p:cNvPr name="TextBox 19" id="19"/>
          <p:cNvSpPr txBox="true"/>
          <p:nvPr/>
        </p:nvSpPr>
        <p:spPr>
          <a:xfrm rot="0">
            <a:off x="9062840" y="2265570"/>
            <a:ext cx="7365746" cy="715899"/>
          </a:xfrm>
          <a:prstGeom prst="rect">
            <a:avLst/>
          </a:prstGeom>
        </p:spPr>
        <p:txBody>
          <a:bodyPr anchor="t" rtlCol="false" tIns="0" lIns="0" bIns="0" rIns="0">
            <a:spAutoFit/>
          </a:bodyPr>
          <a:lstStyle/>
          <a:p>
            <a:pPr algn="l">
              <a:lnSpc>
                <a:spcPts val="5658"/>
              </a:lnSpc>
            </a:pPr>
            <a:r>
              <a:rPr lang="en-US" sz="4600" b="true">
                <a:solidFill>
                  <a:srgbClr val="27194D"/>
                </a:solidFill>
                <a:latin typeface="Roboto Condensed Bold"/>
                <a:ea typeface="Roboto Condensed Bold"/>
                <a:cs typeface="Roboto Condensed Bold"/>
                <a:sym typeface="Roboto Condensed Bold"/>
              </a:rPr>
              <a:t>VISUALISASI</a:t>
            </a:r>
          </a:p>
        </p:txBody>
      </p:sp>
      <p:sp>
        <p:nvSpPr>
          <p:cNvPr name="TextBox 20" id="20"/>
          <p:cNvSpPr txBox="true"/>
          <p:nvPr/>
        </p:nvSpPr>
        <p:spPr>
          <a:xfrm rot="0">
            <a:off x="9062840" y="3177328"/>
            <a:ext cx="7031054" cy="5398357"/>
          </a:xfrm>
          <a:prstGeom prst="rect">
            <a:avLst/>
          </a:prstGeom>
        </p:spPr>
        <p:txBody>
          <a:bodyPr anchor="t" rtlCol="false" tIns="0" lIns="0" bIns="0" rIns="0">
            <a:spAutoFit/>
          </a:bodyPr>
          <a:lstStyle/>
          <a:p>
            <a:pPr algn="just" marL="0" indent="0" lvl="0">
              <a:lnSpc>
                <a:spcPts val="4339"/>
              </a:lnSpc>
            </a:pPr>
            <a:r>
              <a:rPr lang="en-US" sz="3099">
                <a:solidFill>
                  <a:srgbClr val="000000"/>
                </a:solidFill>
                <a:latin typeface="Open Sans"/>
                <a:ea typeface="Open Sans"/>
                <a:cs typeface="Open Sans"/>
                <a:sym typeface="Open Sans"/>
              </a:rPr>
              <a:t>Visualisasi dalam EDA digunakan untuk memperkuat analisis dengan mengubah data menjadi gambar yang bermakna sehingga dapat menghasilkan pemahaman yang lebih mendalam. Visualisasi dalam EDA umumnya disajikan dalam grafik maupun diagram, visualisasi tersebut dapat menyajikan pola, tren, serta hubungan antar variabel dalam data.</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FFF8E9"/>
        </a:solidFill>
      </p:bgPr>
    </p:bg>
    <p:spTree>
      <p:nvGrpSpPr>
        <p:cNvPr id="1" name=""/>
        <p:cNvGrpSpPr/>
        <p:nvPr/>
      </p:nvGrpSpPr>
      <p:grpSpPr>
        <a:xfrm>
          <a:off x="0" y="0"/>
          <a:ext cx="0" cy="0"/>
          <a:chOff x="0" y="0"/>
          <a:chExt cx="0" cy="0"/>
        </a:xfrm>
      </p:grpSpPr>
      <p:grpSp>
        <p:nvGrpSpPr>
          <p:cNvPr name="Group 2" id="2"/>
          <p:cNvGrpSpPr/>
          <p:nvPr/>
        </p:nvGrpSpPr>
        <p:grpSpPr>
          <a:xfrm rot="0">
            <a:off x="13138009" y="1035414"/>
            <a:ext cx="4121291" cy="571004"/>
            <a:chOff x="0" y="0"/>
            <a:chExt cx="1370603" cy="189897"/>
          </a:xfrm>
        </p:grpSpPr>
        <p:sp>
          <p:nvSpPr>
            <p:cNvPr name="Freeform 3" id="3"/>
            <p:cNvSpPr/>
            <p:nvPr/>
          </p:nvSpPr>
          <p:spPr>
            <a:xfrm flipH="false" flipV="false" rot="0">
              <a:off x="0" y="0"/>
              <a:ext cx="1370603" cy="189897"/>
            </a:xfrm>
            <a:custGeom>
              <a:avLst/>
              <a:gdLst/>
              <a:ahLst/>
              <a:cxnLst/>
              <a:rect r="r" b="b" t="t" l="l"/>
              <a:pathLst>
                <a:path h="189897" w="1370603">
                  <a:moveTo>
                    <a:pt x="94948" y="0"/>
                  </a:moveTo>
                  <a:lnTo>
                    <a:pt x="1275655" y="0"/>
                  </a:lnTo>
                  <a:cubicBezTo>
                    <a:pt x="1300837" y="0"/>
                    <a:pt x="1324987" y="10003"/>
                    <a:pt x="1342794" y="27810"/>
                  </a:cubicBezTo>
                  <a:cubicBezTo>
                    <a:pt x="1360600" y="45616"/>
                    <a:pt x="1370603" y="69767"/>
                    <a:pt x="1370603" y="94948"/>
                  </a:cubicBezTo>
                  <a:lnTo>
                    <a:pt x="1370603" y="94948"/>
                  </a:lnTo>
                  <a:cubicBezTo>
                    <a:pt x="1370603" y="147387"/>
                    <a:pt x="1328094" y="189897"/>
                    <a:pt x="1275655" y="189897"/>
                  </a:cubicBezTo>
                  <a:lnTo>
                    <a:pt x="94948" y="189897"/>
                  </a:lnTo>
                  <a:cubicBezTo>
                    <a:pt x="42510" y="189897"/>
                    <a:pt x="0" y="147387"/>
                    <a:pt x="0" y="94948"/>
                  </a:cubicBezTo>
                  <a:lnTo>
                    <a:pt x="0" y="94948"/>
                  </a:lnTo>
                  <a:cubicBezTo>
                    <a:pt x="0" y="42510"/>
                    <a:pt x="42510" y="0"/>
                    <a:pt x="94948" y="0"/>
                  </a:cubicBezTo>
                  <a:close/>
                </a:path>
              </a:pathLst>
            </a:custGeom>
            <a:solidFill>
              <a:srgbClr val="FAA607"/>
            </a:solidFill>
            <a:ln cap="rnd">
              <a:noFill/>
              <a:prstDash val="solid"/>
              <a:round/>
            </a:ln>
          </p:spPr>
        </p:sp>
        <p:sp>
          <p:nvSpPr>
            <p:cNvPr name="TextBox 4" id="4"/>
            <p:cNvSpPr txBox="true"/>
            <p:nvPr/>
          </p:nvSpPr>
          <p:spPr>
            <a:xfrm>
              <a:off x="0" y="-57150"/>
              <a:ext cx="1370603" cy="247047"/>
            </a:xfrm>
            <a:prstGeom prst="rect">
              <a:avLst/>
            </a:prstGeom>
          </p:spPr>
          <p:txBody>
            <a:bodyPr anchor="ctr" rtlCol="false" tIns="50800" lIns="50800" bIns="50800" rIns="50800"/>
            <a:lstStyle/>
            <a:p>
              <a:pPr algn="ctr" marL="0" indent="0" lvl="0">
                <a:lnSpc>
                  <a:spcPts val="2824"/>
                </a:lnSpc>
                <a:spcBef>
                  <a:spcPct val="0"/>
                </a:spcBef>
              </a:pPr>
            </a:p>
          </p:txBody>
        </p:sp>
      </p:grpSp>
      <p:sp>
        <p:nvSpPr>
          <p:cNvPr name="Freeform 5" id="5"/>
          <p:cNvSpPr/>
          <p:nvPr/>
        </p:nvSpPr>
        <p:spPr>
          <a:xfrm flipH="false" flipV="false" rot="0">
            <a:off x="16815378" y="1166754"/>
            <a:ext cx="296763" cy="308325"/>
          </a:xfrm>
          <a:custGeom>
            <a:avLst/>
            <a:gdLst/>
            <a:ahLst/>
            <a:cxnLst/>
            <a:rect r="r" b="b" t="t" l="l"/>
            <a:pathLst>
              <a:path h="308325" w="296763">
                <a:moveTo>
                  <a:pt x="0" y="0"/>
                </a:moveTo>
                <a:lnTo>
                  <a:pt x="296763" y="0"/>
                </a:lnTo>
                <a:lnTo>
                  <a:pt x="296763" y="308325"/>
                </a:lnTo>
                <a:lnTo>
                  <a:pt x="0" y="30832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2145208">
            <a:off x="-4074482" y="2541597"/>
            <a:ext cx="14525775" cy="6496983"/>
          </a:xfrm>
          <a:custGeom>
            <a:avLst/>
            <a:gdLst/>
            <a:ahLst/>
            <a:cxnLst/>
            <a:rect r="r" b="b" t="t" l="l"/>
            <a:pathLst>
              <a:path h="6496983" w="14525775">
                <a:moveTo>
                  <a:pt x="0" y="0"/>
                </a:moveTo>
                <a:lnTo>
                  <a:pt x="14525775" y="0"/>
                </a:lnTo>
                <a:lnTo>
                  <a:pt x="14525775" y="6496983"/>
                </a:lnTo>
                <a:lnTo>
                  <a:pt x="0" y="64969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2145208">
            <a:off x="12600536" y="5752755"/>
            <a:ext cx="8429684" cy="3770368"/>
          </a:xfrm>
          <a:custGeom>
            <a:avLst/>
            <a:gdLst/>
            <a:ahLst/>
            <a:cxnLst/>
            <a:rect r="r" b="b" t="t" l="l"/>
            <a:pathLst>
              <a:path h="3770368" w="8429684">
                <a:moveTo>
                  <a:pt x="0" y="0"/>
                </a:moveTo>
                <a:lnTo>
                  <a:pt x="8429684" y="0"/>
                </a:lnTo>
                <a:lnTo>
                  <a:pt x="8429684" y="3770368"/>
                </a:lnTo>
                <a:lnTo>
                  <a:pt x="0" y="377036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028700" y="1049653"/>
            <a:ext cx="647545" cy="495666"/>
          </a:xfrm>
          <a:custGeom>
            <a:avLst/>
            <a:gdLst/>
            <a:ahLst/>
            <a:cxnLst/>
            <a:rect r="r" b="b" t="t" l="l"/>
            <a:pathLst>
              <a:path h="495666" w="647545">
                <a:moveTo>
                  <a:pt x="0" y="0"/>
                </a:moveTo>
                <a:lnTo>
                  <a:pt x="647545" y="0"/>
                </a:lnTo>
                <a:lnTo>
                  <a:pt x="647545" y="495666"/>
                </a:lnTo>
                <a:lnTo>
                  <a:pt x="0" y="49566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10577904">
            <a:off x="15336566" y="8524547"/>
            <a:ext cx="3845468" cy="4114800"/>
          </a:xfrm>
          <a:custGeom>
            <a:avLst/>
            <a:gdLst/>
            <a:ahLst/>
            <a:cxnLst/>
            <a:rect r="r" b="b" t="t" l="l"/>
            <a:pathLst>
              <a:path h="4114800" w="3845468">
                <a:moveTo>
                  <a:pt x="0" y="0"/>
                </a:moveTo>
                <a:lnTo>
                  <a:pt x="3845468" y="0"/>
                </a:lnTo>
                <a:lnTo>
                  <a:pt x="3845468"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6034560">
            <a:off x="-1502391" y="7200900"/>
            <a:ext cx="3845468" cy="4114800"/>
          </a:xfrm>
          <a:custGeom>
            <a:avLst/>
            <a:gdLst/>
            <a:ahLst/>
            <a:cxnLst/>
            <a:rect r="r" b="b" t="t" l="l"/>
            <a:pathLst>
              <a:path h="4114800" w="3845468">
                <a:moveTo>
                  <a:pt x="0" y="0"/>
                </a:moveTo>
                <a:lnTo>
                  <a:pt x="3845468" y="0"/>
                </a:lnTo>
                <a:lnTo>
                  <a:pt x="384546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4124654">
            <a:off x="16866407" y="3148635"/>
            <a:ext cx="626952" cy="392130"/>
          </a:xfrm>
          <a:custGeom>
            <a:avLst/>
            <a:gdLst/>
            <a:ahLst/>
            <a:cxnLst/>
            <a:rect r="r" b="b" t="t" l="l"/>
            <a:pathLst>
              <a:path h="392130" w="626952">
                <a:moveTo>
                  <a:pt x="0" y="0"/>
                </a:moveTo>
                <a:lnTo>
                  <a:pt x="626952" y="0"/>
                </a:lnTo>
                <a:lnTo>
                  <a:pt x="626952" y="392130"/>
                </a:lnTo>
                <a:lnTo>
                  <a:pt x="0" y="39213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2" id="12"/>
          <p:cNvSpPr/>
          <p:nvPr/>
        </p:nvSpPr>
        <p:spPr>
          <a:xfrm flipH="false" flipV="false" rot="-9344170">
            <a:off x="1659141" y="8782232"/>
            <a:ext cx="626952" cy="392130"/>
          </a:xfrm>
          <a:custGeom>
            <a:avLst/>
            <a:gdLst/>
            <a:ahLst/>
            <a:cxnLst/>
            <a:rect r="r" b="b" t="t" l="l"/>
            <a:pathLst>
              <a:path h="392130" w="626952">
                <a:moveTo>
                  <a:pt x="0" y="0"/>
                </a:moveTo>
                <a:lnTo>
                  <a:pt x="626952" y="0"/>
                </a:lnTo>
                <a:lnTo>
                  <a:pt x="626952" y="392130"/>
                </a:lnTo>
                <a:lnTo>
                  <a:pt x="0" y="39213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3" id="13"/>
          <p:cNvSpPr/>
          <p:nvPr/>
        </p:nvSpPr>
        <p:spPr>
          <a:xfrm flipH="false" flipV="false" rot="-7638806">
            <a:off x="692725" y="3680746"/>
            <a:ext cx="1034860" cy="383329"/>
          </a:xfrm>
          <a:custGeom>
            <a:avLst/>
            <a:gdLst/>
            <a:ahLst/>
            <a:cxnLst/>
            <a:rect r="r" b="b" t="t" l="l"/>
            <a:pathLst>
              <a:path h="383329" w="1034860">
                <a:moveTo>
                  <a:pt x="0" y="0"/>
                </a:moveTo>
                <a:lnTo>
                  <a:pt x="1034860" y="0"/>
                </a:lnTo>
                <a:lnTo>
                  <a:pt x="1034860" y="383329"/>
                </a:lnTo>
                <a:lnTo>
                  <a:pt x="0" y="383329"/>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4" id="14"/>
          <p:cNvSpPr/>
          <p:nvPr/>
        </p:nvSpPr>
        <p:spPr>
          <a:xfrm flipH="false" flipV="false" rot="8999904">
            <a:off x="9220070" y="9006778"/>
            <a:ext cx="1034860" cy="383329"/>
          </a:xfrm>
          <a:custGeom>
            <a:avLst/>
            <a:gdLst/>
            <a:ahLst/>
            <a:cxnLst/>
            <a:rect r="r" b="b" t="t" l="l"/>
            <a:pathLst>
              <a:path h="383329" w="1034860">
                <a:moveTo>
                  <a:pt x="0" y="0"/>
                </a:moveTo>
                <a:lnTo>
                  <a:pt x="1034860" y="0"/>
                </a:lnTo>
                <a:lnTo>
                  <a:pt x="1034860" y="383329"/>
                </a:lnTo>
                <a:lnTo>
                  <a:pt x="0" y="383329"/>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grpSp>
        <p:nvGrpSpPr>
          <p:cNvPr name="Group 15" id="15"/>
          <p:cNvGrpSpPr/>
          <p:nvPr/>
        </p:nvGrpSpPr>
        <p:grpSpPr>
          <a:xfrm rot="0">
            <a:off x="1972617" y="2222666"/>
            <a:ext cx="6589085" cy="377803"/>
            <a:chOff x="0" y="0"/>
            <a:chExt cx="8785446" cy="503737"/>
          </a:xfrm>
        </p:grpSpPr>
        <p:grpSp>
          <p:nvGrpSpPr>
            <p:cNvPr name="Group 16" id="16"/>
            <p:cNvGrpSpPr/>
            <p:nvPr/>
          </p:nvGrpSpPr>
          <p:grpSpPr>
            <a:xfrm rot="0">
              <a:off x="0" y="76200"/>
              <a:ext cx="289415" cy="289415"/>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A607"/>
              </a:solidFill>
            </p:spPr>
          </p:sp>
          <p:sp>
            <p:nvSpPr>
              <p:cNvPr name="TextBox 18" id="18"/>
              <p:cNvSpPr txBox="true"/>
              <p:nvPr/>
            </p:nvSpPr>
            <p:spPr>
              <a:xfrm>
                <a:off x="76200" y="104775"/>
                <a:ext cx="660400" cy="631825"/>
              </a:xfrm>
              <a:prstGeom prst="rect">
                <a:avLst/>
              </a:prstGeom>
            </p:spPr>
            <p:txBody>
              <a:bodyPr anchor="ctr" rtlCol="false" tIns="50800" lIns="50800" bIns="50800" rIns="50800"/>
              <a:lstStyle/>
              <a:p>
                <a:pPr algn="ctr">
                  <a:lnSpc>
                    <a:spcPts val="2000"/>
                  </a:lnSpc>
                </a:pPr>
              </a:p>
            </p:txBody>
          </p:sp>
        </p:grpSp>
        <p:sp>
          <p:nvSpPr>
            <p:cNvPr name="TextBox 19" id="19"/>
            <p:cNvSpPr txBox="true"/>
            <p:nvPr/>
          </p:nvSpPr>
          <p:spPr>
            <a:xfrm rot="0">
              <a:off x="401700" y="47625"/>
              <a:ext cx="8383746" cy="456112"/>
            </a:xfrm>
            <a:prstGeom prst="rect">
              <a:avLst/>
            </a:prstGeom>
          </p:spPr>
          <p:txBody>
            <a:bodyPr anchor="t" rtlCol="false" tIns="0" lIns="0" bIns="0" rIns="0">
              <a:spAutoFit/>
            </a:bodyPr>
            <a:lstStyle/>
            <a:p>
              <a:pPr algn="l">
                <a:lnSpc>
                  <a:spcPts val="2499"/>
                </a:lnSpc>
              </a:pPr>
              <a:r>
                <a:rPr lang="en-US" b="true" sz="2499">
                  <a:solidFill>
                    <a:srgbClr val="5D4FCA"/>
                  </a:solidFill>
                  <a:latin typeface="Open Sans Bold"/>
                  <a:ea typeface="Open Sans Bold"/>
                  <a:cs typeface="Open Sans Bold"/>
                  <a:sym typeface="Open Sans Bold"/>
                </a:rPr>
                <a:t>LINE CHART</a:t>
              </a:r>
            </a:p>
          </p:txBody>
        </p:sp>
      </p:grpSp>
      <p:sp>
        <p:nvSpPr>
          <p:cNvPr name="Freeform 20" id="20"/>
          <p:cNvSpPr/>
          <p:nvPr/>
        </p:nvSpPr>
        <p:spPr>
          <a:xfrm flipH="false" flipV="false" rot="0">
            <a:off x="2354886" y="3729472"/>
            <a:ext cx="7035240" cy="3908467"/>
          </a:xfrm>
          <a:custGeom>
            <a:avLst/>
            <a:gdLst/>
            <a:ahLst/>
            <a:cxnLst/>
            <a:rect r="r" b="b" t="t" l="l"/>
            <a:pathLst>
              <a:path h="3908467" w="7035240">
                <a:moveTo>
                  <a:pt x="0" y="0"/>
                </a:moveTo>
                <a:lnTo>
                  <a:pt x="7035240" y="0"/>
                </a:lnTo>
                <a:lnTo>
                  <a:pt x="7035240" y="3908467"/>
                </a:lnTo>
                <a:lnTo>
                  <a:pt x="0" y="3908467"/>
                </a:lnTo>
                <a:lnTo>
                  <a:pt x="0" y="0"/>
                </a:lnTo>
                <a:close/>
              </a:path>
            </a:pathLst>
          </a:custGeom>
          <a:blipFill>
            <a:blip r:embed="rId20"/>
            <a:stretch>
              <a:fillRect l="0" t="0" r="0" b="0"/>
            </a:stretch>
          </a:blipFill>
        </p:spPr>
      </p:sp>
      <p:sp>
        <p:nvSpPr>
          <p:cNvPr name="Freeform 21" id="21"/>
          <p:cNvSpPr/>
          <p:nvPr/>
        </p:nvSpPr>
        <p:spPr>
          <a:xfrm flipH="false" flipV="false" rot="0">
            <a:off x="10457713" y="3569655"/>
            <a:ext cx="5514521" cy="4228100"/>
          </a:xfrm>
          <a:custGeom>
            <a:avLst/>
            <a:gdLst/>
            <a:ahLst/>
            <a:cxnLst/>
            <a:rect r="r" b="b" t="t" l="l"/>
            <a:pathLst>
              <a:path h="4228100" w="5514521">
                <a:moveTo>
                  <a:pt x="0" y="0"/>
                </a:moveTo>
                <a:lnTo>
                  <a:pt x="5514522" y="0"/>
                </a:lnTo>
                <a:lnTo>
                  <a:pt x="5514522" y="4228100"/>
                </a:lnTo>
                <a:lnTo>
                  <a:pt x="0" y="4228100"/>
                </a:lnTo>
                <a:lnTo>
                  <a:pt x="0" y="0"/>
                </a:lnTo>
                <a:close/>
              </a:path>
            </a:pathLst>
          </a:custGeom>
          <a:blipFill>
            <a:blip r:embed="rId21"/>
            <a:stretch>
              <a:fillRect l="0" t="0" r="0" b="0"/>
            </a:stretch>
          </a:blipFill>
        </p:spPr>
      </p:sp>
      <p:sp>
        <p:nvSpPr>
          <p:cNvPr name="TextBox 22" id="22"/>
          <p:cNvSpPr txBox="true"/>
          <p:nvPr/>
        </p:nvSpPr>
        <p:spPr>
          <a:xfrm rot="0">
            <a:off x="11428284" y="1200266"/>
            <a:ext cx="1370528" cy="269875"/>
          </a:xfrm>
          <a:prstGeom prst="rect">
            <a:avLst/>
          </a:prstGeom>
        </p:spPr>
        <p:txBody>
          <a:bodyPr anchor="t" rtlCol="false" tIns="0" lIns="0" bIns="0" rIns="0">
            <a:spAutoFit/>
          </a:bodyPr>
          <a:lstStyle/>
          <a:p>
            <a:pPr algn="ctr">
              <a:lnSpc>
                <a:spcPts val="2000"/>
              </a:lnSpc>
            </a:pPr>
            <a:r>
              <a:rPr lang="en-US" sz="2000">
                <a:solidFill>
                  <a:srgbClr val="27194D">
                    <a:alpha val="55686"/>
                  </a:srgbClr>
                </a:solidFill>
                <a:latin typeface="Open Sans"/>
                <a:ea typeface="Open Sans"/>
                <a:cs typeface="Open Sans"/>
                <a:sym typeface="Open Sans"/>
              </a:rPr>
              <a:t>LAYANAN</a:t>
            </a:r>
          </a:p>
        </p:txBody>
      </p:sp>
      <p:sp>
        <p:nvSpPr>
          <p:cNvPr name="TextBox 23" id="23"/>
          <p:cNvSpPr txBox="true"/>
          <p:nvPr/>
        </p:nvSpPr>
        <p:spPr>
          <a:xfrm rot="0">
            <a:off x="9810993" y="1200266"/>
            <a:ext cx="1293441" cy="269875"/>
          </a:xfrm>
          <a:prstGeom prst="rect">
            <a:avLst/>
          </a:prstGeom>
        </p:spPr>
        <p:txBody>
          <a:bodyPr anchor="t" rtlCol="false" tIns="0" lIns="0" bIns="0" rIns="0">
            <a:spAutoFit/>
          </a:bodyPr>
          <a:lstStyle/>
          <a:p>
            <a:pPr algn="ctr">
              <a:lnSpc>
                <a:spcPts val="2000"/>
              </a:lnSpc>
            </a:pPr>
            <a:r>
              <a:rPr lang="en-US" b="true" sz="2000">
                <a:solidFill>
                  <a:srgbClr val="5D4FCA"/>
                </a:solidFill>
                <a:latin typeface="Open Sans Bold"/>
                <a:ea typeface="Open Sans Bold"/>
                <a:cs typeface="Open Sans Bold"/>
                <a:sym typeface="Open Sans Bold"/>
              </a:rPr>
              <a:t>BERANDA</a:t>
            </a:r>
          </a:p>
        </p:txBody>
      </p:sp>
      <p:sp>
        <p:nvSpPr>
          <p:cNvPr name="TextBox 24" id="24"/>
          <p:cNvSpPr txBox="true"/>
          <p:nvPr/>
        </p:nvSpPr>
        <p:spPr>
          <a:xfrm rot="0">
            <a:off x="1847695" y="1109652"/>
            <a:ext cx="3115460" cy="422485"/>
          </a:xfrm>
          <a:prstGeom prst="rect">
            <a:avLst/>
          </a:prstGeom>
        </p:spPr>
        <p:txBody>
          <a:bodyPr anchor="t" rtlCol="false" tIns="0" lIns="0" bIns="0" rIns="0">
            <a:spAutoFit/>
          </a:bodyPr>
          <a:lstStyle/>
          <a:p>
            <a:pPr algn="l">
              <a:lnSpc>
                <a:spcPts val="3107"/>
              </a:lnSpc>
            </a:pPr>
            <a:r>
              <a:rPr lang="en-US" sz="2799" b="true">
                <a:solidFill>
                  <a:srgbClr val="5D4FCA"/>
                </a:solidFill>
                <a:latin typeface="Roboto Condensed Bold"/>
                <a:ea typeface="Roboto Condensed Bold"/>
                <a:cs typeface="Roboto Condensed Bold"/>
                <a:sym typeface="Roboto Condensed Bold"/>
              </a:rPr>
              <a:t>EKSPLORASI DATA</a:t>
            </a:r>
          </a:p>
        </p:txBody>
      </p:sp>
      <p:sp>
        <p:nvSpPr>
          <p:cNvPr name="TextBox 25" id="25"/>
          <p:cNvSpPr txBox="true"/>
          <p:nvPr/>
        </p:nvSpPr>
        <p:spPr>
          <a:xfrm rot="0">
            <a:off x="2338973" y="2752479"/>
            <a:ext cx="7067068" cy="511833"/>
          </a:xfrm>
          <a:prstGeom prst="rect">
            <a:avLst/>
          </a:prstGeom>
        </p:spPr>
        <p:txBody>
          <a:bodyPr anchor="t" rtlCol="false" tIns="0" lIns="0" bIns="0" rIns="0">
            <a:spAutoFit/>
          </a:bodyPr>
          <a:lstStyle/>
          <a:p>
            <a:pPr algn="just" marL="0" indent="0" lvl="0">
              <a:lnSpc>
                <a:spcPts val="4339"/>
              </a:lnSpc>
            </a:pPr>
            <a:r>
              <a:rPr lang="en-US" sz="3099">
                <a:solidFill>
                  <a:srgbClr val="000000"/>
                </a:solidFill>
                <a:latin typeface="Open Sans"/>
                <a:ea typeface="Open Sans"/>
                <a:cs typeface="Open Sans"/>
                <a:sym typeface="Open Sans"/>
              </a:rPr>
              <a:t>Digunakan untuk melihat tren waktu.</a:t>
            </a:r>
          </a:p>
        </p:txBody>
      </p:sp>
      <p:sp>
        <p:nvSpPr>
          <p:cNvPr name="TextBox 26" id="26"/>
          <p:cNvSpPr txBox="true"/>
          <p:nvPr/>
        </p:nvSpPr>
        <p:spPr>
          <a:xfrm rot="0">
            <a:off x="13354964" y="1195329"/>
            <a:ext cx="4121291" cy="269831"/>
          </a:xfrm>
          <a:prstGeom prst="rect">
            <a:avLst/>
          </a:prstGeom>
        </p:spPr>
        <p:txBody>
          <a:bodyPr anchor="t" rtlCol="false" tIns="0" lIns="0" bIns="0" rIns="0">
            <a:spAutoFit/>
          </a:bodyPr>
          <a:lstStyle/>
          <a:p>
            <a:pPr algn="l">
              <a:lnSpc>
                <a:spcPts val="2000"/>
              </a:lnSpc>
              <a:spcBef>
                <a:spcPct val="0"/>
              </a:spcBef>
            </a:pPr>
            <a:r>
              <a:rPr lang="en-US" b="true" sz="2000">
                <a:solidFill>
                  <a:srgbClr val="FFF8E9"/>
                </a:solidFill>
                <a:latin typeface="Open Sans Bold"/>
                <a:ea typeface="Open Sans Bold"/>
                <a:cs typeface="Open Sans Bold"/>
                <a:sym typeface="Open Sans Bold"/>
              </a:rPr>
              <a:t>VISUALISASI</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FFF8E9"/>
        </a:solidFill>
      </p:bgPr>
    </p:bg>
    <p:spTree>
      <p:nvGrpSpPr>
        <p:cNvPr id="1" name=""/>
        <p:cNvGrpSpPr/>
        <p:nvPr/>
      </p:nvGrpSpPr>
      <p:grpSpPr>
        <a:xfrm>
          <a:off x="0" y="0"/>
          <a:ext cx="0" cy="0"/>
          <a:chOff x="0" y="0"/>
          <a:chExt cx="0" cy="0"/>
        </a:xfrm>
      </p:grpSpPr>
      <p:grpSp>
        <p:nvGrpSpPr>
          <p:cNvPr name="Group 2" id="2"/>
          <p:cNvGrpSpPr/>
          <p:nvPr/>
        </p:nvGrpSpPr>
        <p:grpSpPr>
          <a:xfrm rot="0">
            <a:off x="13138009" y="1035414"/>
            <a:ext cx="4121291" cy="571004"/>
            <a:chOff x="0" y="0"/>
            <a:chExt cx="1370603" cy="189897"/>
          </a:xfrm>
        </p:grpSpPr>
        <p:sp>
          <p:nvSpPr>
            <p:cNvPr name="Freeform 3" id="3"/>
            <p:cNvSpPr/>
            <p:nvPr/>
          </p:nvSpPr>
          <p:spPr>
            <a:xfrm flipH="false" flipV="false" rot="0">
              <a:off x="0" y="0"/>
              <a:ext cx="1370603" cy="189897"/>
            </a:xfrm>
            <a:custGeom>
              <a:avLst/>
              <a:gdLst/>
              <a:ahLst/>
              <a:cxnLst/>
              <a:rect r="r" b="b" t="t" l="l"/>
              <a:pathLst>
                <a:path h="189897" w="1370603">
                  <a:moveTo>
                    <a:pt x="94948" y="0"/>
                  </a:moveTo>
                  <a:lnTo>
                    <a:pt x="1275655" y="0"/>
                  </a:lnTo>
                  <a:cubicBezTo>
                    <a:pt x="1300837" y="0"/>
                    <a:pt x="1324987" y="10003"/>
                    <a:pt x="1342794" y="27810"/>
                  </a:cubicBezTo>
                  <a:cubicBezTo>
                    <a:pt x="1360600" y="45616"/>
                    <a:pt x="1370603" y="69767"/>
                    <a:pt x="1370603" y="94948"/>
                  </a:cubicBezTo>
                  <a:lnTo>
                    <a:pt x="1370603" y="94948"/>
                  </a:lnTo>
                  <a:cubicBezTo>
                    <a:pt x="1370603" y="147387"/>
                    <a:pt x="1328094" y="189897"/>
                    <a:pt x="1275655" y="189897"/>
                  </a:cubicBezTo>
                  <a:lnTo>
                    <a:pt x="94948" y="189897"/>
                  </a:lnTo>
                  <a:cubicBezTo>
                    <a:pt x="42510" y="189897"/>
                    <a:pt x="0" y="147387"/>
                    <a:pt x="0" y="94948"/>
                  </a:cubicBezTo>
                  <a:lnTo>
                    <a:pt x="0" y="94948"/>
                  </a:lnTo>
                  <a:cubicBezTo>
                    <a:pt x="0" y="42510"/>
                    <a:pt x="42510" y="0"/>
                    <a:pt x="94948" y="0"/>
                  </a:cubicBezTo>
                  <a:close/>
                </a:path>
              </a:pathLst>
            </a:custGeom>
            <a:solidFill>
              <a:srgbClr val="FAA607"/>
            </a:solidFill>
            <a:ln cap="rnd">
              <a:noFill/>
              <a:prstDash val="solid"/>
              <a:round/>
            </a:ln>
          </p:spPr>
        </p:sp>
        <p:sp>
          <p:nvSpPr>
            <p:cNvPr name="TextBox 4" id="4"/>
            <p:cNvSpPr txBox="true"/>
            <p:nvPr/>
          </p:nvSpPr>
          <p:spPr>
            <a:xfrm>
              <a:off x="0" y="-57150"/>
              <a:ext cx="1370603" cy="247047"/>
            </a:xfrm>
            <a:prstGeom prst="rect">
              <a:avLst/>
            </a:prstGeom>
          </p:spPr>
          <p:txBody>
            <a:bodyPr anchor="ctr" rtlCol="false" tIns="50800" lIns="50800" bIns="50800" rIns="50800"/>
            <a:lstStyle/>
            <a:p>
              <a:pPr algn="ctr" marL="0" indent="0" lvl="0">
                <a:lnSpc>
                  <a:spcPts val="2824"/>
                </a:lnSpc>
                <a:spcBef>
                  <a:spcPct val="0"/>
                </a:spcBef>
              </a:pPr>
            </a:p>
          </p:txBody>
        </p:sp>
      </p:grpSp>
      <p:sp>
        <p:nvSpPr>
          <p:cNvPr name="Freeform 5" id="5"/>
          <p:cNvSpPr/>
          <p:nvPr/>
        </p:nvSpPr>
        <p:spPr>
          <a:xfrm flipH="false" flipV="false" rot="0">
            <a:off x="16815378" y="1166754"/>
            <a:ext cx="296763" cy="308325"/>
          </a:xfrm>
          <a:custGeom>
            <a:avLst/>
            <a:gdLst/>
            <a:ahLst/>
            <a:cxnLst/>
            <a:rect r="r" b="b" t="t" l="l"/>
            <a:pathLst>
              <a:path h="308325" w="296763">
                <a:moveTo>
                  <a:pt x="0" y="0"/>
                </a:moveTo>
                <a:lnTo>
                  <a:pt x="296763" y="0"/>
                </a:lnTo>
                <a:lnTo>
                  <a:pt x="296763" y="308325"/>
                </a:lnTo>
                <a:lnTo>
                  <a:pt x="0" y="30832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2145208">
            <a:off x="-4074482" y="2541597"/>
            <a:ext cx="14525775" cy="6496983"/>
          </a:xfrm>
          <a:custGeom>
            <a:avLst/>
            <a:gdLst/>
            <a:ahLst/>
            <a:cxnLst/>
            <a:rect r="r" b="b" t="t" l="l"/>
            <a:pathLst>
              <a:path h="6496983" w="14525775">
                <a:moveTo>
                  <a:pt x="0" y="0"/>
                </a:moveTo>
                <a:lnTo>
                  <a:pt x="14525775" y="0"/>
                </a:lnTo>
                <a:lnTo>
                  <a:pt x="14525775" y="6496983"/>
                </a:lnTo>
                <a:lnTo>
                  <a:pt x="0" y="64969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2145208">
            <a:off x="12600536" y="5752755"/>
            <a:ext cx="8429684" cy="3770368"/>
          </a:xfrm>
          <a:custGeom>
            <a:avLst/>
            <a:gdLst/>
            <a:ahLst/>
            <a:cxnLst/>
            <a:rect r="r" b="b" t="t" l="l"/>
            <a:pathLst>
              <a:path h="3770368" w="8429684">
                <a:moveTo>
                  <a:pt x="0" y="0"/>
                </a:moveTo>
                <a:lnTo>
                  <a:pt x="8429684" y="0"/>
                </a:lnTo>
                <a:lnTo>
                  <a:pt x="8429684" y="3770368"/>
                </a:lnTo>
                <a:lnTo>
                  <a:pt x="0" y="377036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028700" y="1049653"/>
            <a:ext cx="647545" cy="495666"/>
          </a:xfrm>
          <a:custGeom>
            <a:avLst/>
            <a:gdLst/>
            <a:ahLst/>
            <a:cxnLst/>
            <a:rect r="r" b="b" t="t" l="l"/>
            <a:pathLst>
              <a:path h="495666" w="647545">
                <a:moveTo>
                  <a:pt x="0" y="0"/>
                </a:moveTo>
                <a:lnTo>
                  <a:pt x="647545" y="0"/>
                </a:lnTo>
                <a:lnTo>
                  <a:pt x="647545" y="495666"/>
                </a:lnTo>
                <a:lnTo>
                  <a:pt x="0" y="49566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10577904">
            <a:off x="15336566" y="8524547"/>
            <a:ext cx="3845468" cy="4114800"/>
          </a:xfrm>
          <a:custGeom>
            <a:avLst/>
            <a:gdLst/>
            <a:ahLst/>
            <a:cxnLst/>
            <a:rect r="r" b="b" t="t" l="l"/>
            <a:pathLst>
              <a:path h="4114800" w="3845468">
                <a:moveTo>
                  <a:pt x="0" y="0"/>
                </a:moveTo>
                <a:lnTo>
                  <a:pt x="3845468" y="0"/>
                </a:lnTo>
                <a:lnTo>
                  <a:pt x="3845468"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6034560">
            <a:off x="-1502391" y="7200900"/>
            <a:ext cx="3845468" cy="4114800"/>
          </a:xfrm>
          <a:custGeom>
            <a:avLst/>
            <a:gdLst/>
            <a:ahLst/>
            <a:cxnLst/>
            <a:rect r="r" b="b" t="t" l="l"/>
            <a:pathLst>
              <a:path h="4114800" w="3845468">
                <a:moveTo>
                  <a:pt x="0" y="0"/>
                </a:moveTo>
                <a:lnTo>
                  <a:pt x="3845468" y="0"/>
                </a:lnTo>
                <a:lnTo>
                  <a:pt x="384546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4124654">
            <a:off x="16866407" y="3148635"/>
            <a:ext cx="626952" cy="392130"/>
          </a:xfrm>
          <a:custGeom>
            <a:avLst/>
            <a:gdLst/>
            <a:ahLst/>
            <a:cxnLst/>
            <a:rect r="r" b="b" t="t" l="l"/>
            <a:pathLst>
              <a:path h="392130" w="626952">
                <a:moveTo>
                  <a:pt x="0" y="0"/>
                </a:moveTo>
                <a:lnTo>
                  <a:pt x="626952" y="0"/>
                </a:lnTo>
                <a:lnTo>
                  <a:pt x="626952" y="392130"/>
                </a:lnTo>
                <a:lnTo>
                  <a:pt x="0" y="39213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2" id="12"/>
          <p:cNvSpPr/>
          <p:nvPr/>
        </p:nvSpPr>
        <p:spPr>
          <a:xfrm flipH="false" flipV="false" rot="-9344170">
            <a:off x="1659141" y="8782232"/>
            <a:ext cx="626952" cy="392130"/>
          </a:xfrm>
          <a:custGeom>
            <a:avLst/>
            <a:gdLst/>
            <a:ahLst/>
            <a:cxnLst/>
            <a:rect r="r" b="b" t="t" l="l"/>
            <a:pathLst>
              <a:path h="392130" w="626952">
                <a:moveTo>
                  <a:pt x="0" y="0"/>
                </a:moveTo>
                <a:lnTo>
                  <a:pt x="626952" y="0"/>
                </a:lnTo>
                <a:lnTo>
                  <a:pt x="626952" y="392130"/>
                </a:lnTo>
                <a:lnTo>
                  <a:pt x="0" y="39213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3" id="13"/>
          <p:cNvSpPr/>
          <p:nvPr/>
        </p:nvSpPr>
        <p:spPr>
          <a:xfrm flipH="false" flipV="false" rot="-7638806">
            <a:off x="692725" y="3680746"/>
            <a:ext cx="1034860" cy="383329"/>
          </a:xfrm>
          <a:custGeom>
            <a:avLst/>
            <a:gdLst/>
            <a:ahLst/>
            <a:cxnLst/>
            <a:rect r="r" b="b" t="t" l="l"/>
            <a:pathLst>
              <a:path h="383329" w="1034860">
                <a:moveTo>
                  <a:pt x="0" y="0"/>
                </a:moveTo>
                <a:lnTo>
                  <a:pt x="1034860" y="0"/>
                </a:lnTo>
                <a:lnTo>
                  <a:pt x="1034860" y="383329"/>
                </a:lnTo>
                <a:lnTo>
                  <a:pt x="0" y="383329"/>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4" id="14"/>
          <p:cNvSpPr/>
          <p:nvPr/>
        </p:nvSpPr>
        <p:spPr>
          <a:xfrm flipH="false" flipV="false" rot="8999904">
            <a:off x="9220070" y="9006778"/>
            <a:ext cx="1034860" cy="383329"/>
          </a:xfrm>
          <a:custGeom>
            <a:avLst/>
            <a:gdLst/>
            <a:ahLst/>
            <a:cxnLst/>
            <a:rect r="r" b="b" t="t" l="l"/>
            <a:pathLst>
              <a:path h="383329" w="1034860">
                <a:moveTo>
                  <a:pt x="0" y="0"/>
                </a:moveTo>
                <a:lnTo>
                  <a:pt x="1034860" y="0"/>
                </a:lnTo>
                <a:lnTo>
                  <a:pt x="1034860" y="383329"/>
                </a:lnTo>
                <a:lnTo>
                  <a:pt x="0" y="383329"/>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grpSp>
        <p:nvGrpSpPr>
          <p:cNvPr name="Group 15" id="15"/>
          <p:cNvGrpSpPr/>
          <p:nvPr/>
        </p:nvGrpSpPr>
        <p:grpSpPr>
          <a:xfrm rot="0">
            <a:off x="1972617" y="2222666"/>
            <a:ext cx="6589085" cy="377803"/>
            <a:chOff x="0" y="0"/>
            <a:chExt cx="8785446" cy="503737"/>
          </a:xfrm>
        </p:grpSpPr>
        <p:grpSp>
          <p:nvGrpSpPr>
            <p:cNvPr name="Group 16" id="16"/>
            <p:cNvGrpSpPr/>
            <p:nvPr/>
          </p:nvGrpSpPr>
          <p:grpSpPr>
            <a:xfrm rot="0">
              <a:off x="0" y="76200"/>
              <a:ext cx="289415" cy="289415"/>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A607"/>
              </a:solidFill>
            </p:spPr>
          </p:sp>
          <p:sp>
            <p:nvSpPr>
              <p:cNvPr name="TextBox 18" id="18"/>
              <p:cNvSpPr txBox="true"/>
              <p:nvPr/>
            </p:nvSpPr>
            <p:spPr>
              <a:xfrm>
                <a:off x="76200" y="104775"/>
                <a:ext cx="660400" cy="631825"/>
              </a:xfrm>
              <a:prstGeom prst="rect">
                <a:avLst/>
              </a:prstGeom>
            </p:spPr>
            <p:txBody>
              <a:bodyPr anchor="ctr" rtlCol="false" tIns="50800" lIns="50800" bIns="50800" rIns="50800"/>
              <a:lstStyle/>
              <a:p>
                <a:pPr algn="ctr">
                  <a:lnSpc>
                    <a:spcPts val="2000"/>
                  </a:lnSpc>
                </a:pPr>
              </a:p>
            </p:txBody>
          </p:sp>
        </p:grpSp>
        <p:sp>
          <p:nvSpPr>
            <p:cNvPr name="TextBox 19" id="19"/>
            <p:cNvSpPr txBox="true"/>
            <p:nvPr/>
          </p:nvSpPr>
          <p:spPr>
            <a:xfrm rot="0">
              <a:off x="401700" y="47625"/>
              <a:ext cx="8383746" cy="456112"/>
            </a:xfrm>
            <a:prstGeom prst="rect">
              <a:avLst/>
            </a:prstGeom>
          </p:spPr>
          <p:txBody>
            <a:bodyPr anchor="t" rtlCol="false" tIns="0" lIns="0" bIns="0" rIns="0">
              <a:spAutoFit/>
            </a:bodyPr>
            <a:lstStyle/>
            <a:p>
              <a:pPr algn="l">
                <a:lnSpc>
                  <a:spcPts val="2499"/>
                </a:lnSpc>
              </a:pPr>
              <a:r>
                <a:rPr lang="en-US" b="true" sz="2499">
                  <a:solidFill>
                    <a:srgbClr val="5D4FCA"/>
                  </a:solidFill>
                  <a:latin typeface="Open Sans Bold"/>
                  <a:ea typeface="Open Sans Bold"/>
                  <a:cs typeface="Open Sans Bold"/>
                  <a:sym typeface="Open Sans Bold"/>
                </a:rPr>
                <a:t>LINE CHART</a:t>
              </a:r>
            </a:p>
          </p:txBody>
        </p:sp>
      </p:grpSp>
      <p:sp>
        <p:nvSpPr>
          <p:cNvPr name="Freeform 20" id="20"/>
          <p:cNvSpPr/>
          <p:nvPr/>
        </p:nvSpPr>
        <p:spPr>
          <a:xfrm flipH="false" flipV="false" rot="0">
            <a:off x="2338973" y="3707931"/>
            <a:ext cx="6452409" cy="3500432"/>
          </a:xfrm>
          <a:custGeom>
            <a:avLst/>
            <a:gdLst/>
            <a:ahLst/>
            <a:cxnLst/>
            <a:rect r="r" b="b" t="t" l="l"/>
            <a:pathLst>
              <a:path h="3500432" w="6452409">
                <a:moveTo>
                  <a:pt x="0" y="0"/>
                </a:moveTo>
                <a:lnTo>
                  <a:pt x="6452409" y="0"/>
                </a:lnTo>
                <a:lnTo>
                  <a:pt x="6452409" y="3500431"/>
                </a:lnTo>
                <a:lnTo>
                  <a:pt x="0" y="3500431"/>
                </a:lnTo>
                <a:lnTo>
                  <a:pt x="0" y="0"/>
                </a:lnTo>
                <a:close/>
              </a:path>
            </a:pathLst>
          </a:custGeom>
          <a:blipFill>
            <a:blip r:embed="rId20"/>
            <a:stretch>
              <a:fillRect l="0" t="0" r="0" b="0"/>
            </a:stretch>
          </a:blipFill>
        </p:spPr>
      </p:sp>
      <p:sp>
        <p:nvSpPr>
          <p:cNvPr name="Freeform 21" id="21"/>
          <p:cNvSpPr/>
          <p:nvPr/>
        </p:nvSpPr>
        <p:spPr>
          <a:xfrm flipH="false" flipV="false" rot="0">
            <a:off x="9458132" y="3707931"/>
            <a:ext cx="7487239" cy="3575156"/>
          </a:xfrm>
          <a:custGeom>
            <a:avLst/>
            <a:gdLst/>
            <a:ahLst/>
            <a:cxnLst/>
            <a:rect r="r" b="b" t="t" l="l"/>
            <a:pathLst>
              <a:path h="3575156" w="7487239">
                <a:moveTo>
                  <a:pt x="0" y="0"/>
                </a:moveTo>
                <a:lnTo>
                  <a:pt x="7487238" y="0"/>
                </a:lnTo>
                <a:lnTo>
                  <a:pt x="7487238" y="3575156"/>
                </a:lnTo>
                <a:lnTo>
                  <a:pt x="0" y="3575156"/>
                </a:lnTo>
                <a:lnTo>
                  <a:pt x="0" y="0"/>
                </a:lnTo>
                <a:close/>
              </a:path>
            </a:pathLst>
          </a:custGeom>
          <a:blipFill>
            <a:blip r:embed="rId21"/>
            <a:stretch>
              <a:fillRect l="0" t="0" r="0" b="0"/>
            </a:stretch>
          </a:blipFill>
        </p:spPr>
      </p:sp>
      <p:sp>
        <p:nvSpPr>
          <p:cNvPr name="TextBox 22" id="22"/>
          <p:cNvSpPr txBox="true"/>
          <p:nvPr/>
        </p:nvSpPr>
        <p:spPr>
          <a:xfrm rot="0">
            <a:off x="11428284" y="1200266"/>
            <a:ext cx="1370528" cy="269875"/>
          </a:xfrm>
          <a:prstGeom prst="rect">
            <a:avLst/>
          </a:prstGeom>
        </p:spPr>
        <p:txBody>
          <a:bodyPr anchor="t" rtlCol="false" tIns="0" lIns="0" bIns="0" rIns="0">
            <a:spAutoFit/>
          </a:bodyPr>
          <a:lstStyle/>
          <a:p>
            <a:pPr algn="ctr">
              <a:lnSpc>
                <a:spcPts val="2000"/>
              </a:lnSpc>
            </a:pPr>
            <a:r>
              <a:rPr lang="en-US" sz="2000">
                <a:solidFill>
                  <a:srgbClr val="27194D">
                    <a:alpha val="55686"/>
                  </a:srgbClr>
                </a:solidFill>
                <a:latin typeface="Open Sans"/>
                <a:ea typeface="Open Sans"/>
                <a:cs typeface="Open Sans"/>
                <a:sym typeface="Open Sans"/>
              </a:rPr>
              <a:t>LAYANAN</a:t>
            </a:r>
          </a:p>
        </p:txBody>
      </p:sp>
      <p:sp>
        <p:nvSpPr>
          <p:cNvPr name="TextBox 23" id="23"/>
          <p:cNvSpPr txBox="true"/>
          <p:nvPr/>
        </p:nvSpPr>
        <p:spPr>
          <a:xfrm rot="0">
            <a:off x="9810993" y="1200266"/>
            <a:ext cx="1293441" cy="269875"/>
          </a:xfrm>
          <a:prstGeom prst="rect">
            <a:avLst/>
          </a:prstGeom>
        </p:spPr>
        <p:txBody>
          <a:bodyPr anchor="t" rtlCol="false" tIns="0" lIns="0" bIns="0" rIns="0">
            <a:spAutoFit/>
          </a:bodyPr>
          <a:lstStyle/>
          <a:p>
            <a:pPr algn="ctr">
              <a:lnSpc>
                <a:spcPts val="2000"/>
              </a:lnSpc>
            </a:pPr>
            <a:r>
              <a:rPr lang="en-US" b="true" sz="2000">
                <a:solidFill>
                  <a:srgbClr val="5D4FCA"/>
                </a:solidFill>
                <a:latin typeface="Open Sans Bold"/>
                <a:ea typeface="Open Sans Bold"/>
                <a:cs typeface="Open Sans Bold"/>
                <a:sym typeface="Open Sans Bold"/>
              </a:rPr>
              <a:t>BERANDA</a:t>
            </a:r>
          </a:p>
        </p:txBody>
      </p:sp>
      <p:sp>
        <p:nvSpPr>
          <p:cNvPr name="TextBox 24" id="24"/>
          <p:cNvSpPr txBox="true"/>
          <p:nvPr/>
        </p:nvSpPr>
        <p:spPr>
          <a:xfrm rot="0">
            <a:off x="1847695" y="1109652"/>
            <a:ext cx="3115460" cy="422485"/>
          </a:xfrm>
          <a:prstGeom prst="rect">
            <a:avLst/>
          </a:prstGeom>
        </p:spPr>
        <p:txBody>
          <a:bodyPr anchor="t" rtlCol="false" tIns="0" lIns="0" bIns="0" rIns="0">
            <a:spAutoFit/>
          </a:bodyPr>
          <a:lstStyle/>
          <a:p>
            <a:pPr algn="l">
              <a:lnSpc>
                <a:spcPts val="3107"/>
              </a:lnSpc>
            </a:pPr>
            <a:r>
              <a:rPr lang="en-US" sz="2799" b="true">
                <a:solidFill>
                  <a:srgbClr val="5D4FCA"/>
                </a:solidFill>
                <a:latin typeface="Roboto Condensed Bold"/>
                <a:ea typeface="Roboto Condensed Bold"/>
                <a:cs typeface="Roboto Condensed Bold"/>
                <a:sym typeface="Roboto Condensed Bold"/>
              </a:rPr>
              <a:t>EKSPLORASI DATA</a:t>
            </a:r>
          </a:p>
        </p:txBody>
      </p:sp>
      <p:sp>
        <p:nvSpPr>
          <p:cNvPr name="TextBox 25" id="25"/>
          <p:cNvSpPr txBox="true"/>
          <p:nvPr/>
        </p:nvSpPr>
        <p:spPr>
          <a:xfrm rot="0">
            <a:off x="2338973" y="2752479"/>
            <a:ext cx="7067068" cy="511833"/>
          </a:xfrm>
          <a:prstGeom prst="rect">
            <a:avLst/>
          </a:prstGeom>
        </p:spPr>
        <p:txBody>
          <a:bodyPr anchor="t" rtlCol="false" tIns="0" lIns="0" bIns="0" rIns="0">
            <a:spAutoFit/>
          </a:bodyPr>
          <a:lstStyle/>
          <a:p>
            <a:pPr algn="just" marL="0" indent="0" lvl="0">
              <a:lnSpc>
                <a:spcPts val="4339"/>
              </a:lnSpc>
            </a:pPr>
            <a:r>
              <a:rPr lang="en-US" sz="3099">
                <a:solidFill>
                  <a:srgbClr val="000000"/>
                </a:solidFill>
                <a:latin typeface="Open Sans"/>
                <a:ea typeface="Open Sans"/>
                <a:cs typeface="Open Sans"/>
                <a:sym typeface="Open Sans"/>
              </a:rPr>
              <a:t>Digunakan untuk melihat tren waktu.</a:t>
            </a:r>
          </a:p>
        </p:txBody>
      </p:sp>
      <p:sp>
        <p:nvSpPr>
          <p:cNvPr name="TextBox 26" id="26"/>
          <p:cNvSpPr txBox="true"/>
          <p:nvPr/>
        </p:nvSpPr>
        <p:spPr>
          <a:xfrm rot="0">
            <a:off x="13354964" y="1195329"/>
            <a:ext cx="4121291" cy="269831"/>
          </a:xfrm>
          <a:prstGeom prst="rect">
            <a:avLst/>
          </a:prstGeom>
        </p:spPr>
        <p:txBody>
          <a:bodyPr anchor="t" rtlCol="false" tIns="0" lIns="0" bIns="0" rIns="0">
            <a:spAutoFit/>
          </a:bodyPr>
          <a:lstStyle/>
          <a:p>
            <a:pPr algn="l">
              <a:lnSpc>
                <a:spcPts val="2000"/>
              </a:lnSpc>
              <a:spcBef>
                <a:spcPct val="0"/>
              </a:spcBef>
            </a:pPr>
            <a:r>
              <a:rPr lang="en-US" b="true" sz="2000">
                <a:solidFill>
                  <a:srgbClr val="FFF8E9"/>
                </a:solidFill>
                <a:latin typeface="Open Sans Bold"/>
                <a:ea typeface="Open Sans Bold"/>
                <a:cs typeface="Open Sans Bold"/>
                <a:sym typeface="Open Sans Bold"/>
              </a:rPr>
              <a:t>VISUALISASI</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FFF8E9"/>
        </a:solidFill>
      </p:bgPr>
    </p:bg>
    <p:spTree>
      <p:nvGrpSpPr>
        <p:cNvPr id="1" name=""/>
        <p:cNvGrpSpPr/>
        <p:nvPr/>
      </p:nvGrpSpPr>
      <p:grpSpPr>
        <a:xfrm>
          <a:off x="0" y="0"/>
          <a:ext cx="0" cy="0"/>
          <a:chOff x="0" y="0"/>
          <a:chExt cx="0" cy="0"/>
        </a:xfrm>
      </p:grpSpPr>
      <p:grpSp>
        <p:nvGrpSpPr>
          <p:cNvPr name="Group 2" id="2"/>
          <p:cNvGrpSpPr/>
          <p:nvPr/>
        </p:nvGrpSpPr>
        <p:grpSpPr>
          <a:xfrm rot="0">
            <a:off x="13138009" y="1035414"/>
            <a:ext cx="4121291" cy="571004"/>
            <a:chOff x="0" y="0"/>
            <a:chExt cx="1370603" cy="189897"/>
          </a:xfrm>
        </p:grpSpPr>
        <p:sp>
          <p:nvSpPr>
            <p:cNvPr name="Freeform 3" id="3"/>
            <p:cNvSpPr/>
            <p:nvPr/>
          </p:nvSpPr>
          <p:spPr>
            <a:xfrm flipH="false" flipV="false" rot="0">
              <a:off x="0" y="0"/>
              <a:ext cx="1370603" cy="189897"/>
            </a:xfrm>
            <a:custGeom>
              <a:avLst/>
              <a:gdLst/>
              <a:ahLst/>
              <a:cxnLst/>
              <a:rect r="r" b="b" t="t" l="l"/>
              <a:pathLst>
                <a:path h="189897" w="1370603">
                  <a:moveTo>
                    <a:pt x="94948" y="0"/>
                  </a:moveTo>
                  <a:lnTo>
                    <a:pt x="1275655" y="0"/>
                  </a:lnTo>
                  <a:cubicBezTo>
                    <a:pt x="1300837" y="0"/>
                    <a:pt x="1324987" y="10003"/>
                    <a:pt x="1342794" y="27810"/>
                  </a:cubicBezTo>
                  <a:cubicBezTo>
                    <a:pt x="1360600" y="45616"/>
                    <a:pt x="1370603" y="69767"/>
                    <a:pt x="1370603" y="94948"/>
                  </a:cubicBezTo>
                  <a:lnTo>
                    <a:pt x="1370603" y="94948"/>
                  </a:lnTo>
                  <a:cubicBezTo>
                    <a:pt x="1370603" y="147387"/>
                    <a:pt x="1328094" y="189897"/>
                    <a:pt x="1275655" y="189897"/>
                  </a:cubicBezTo>
                  <a:lnTo>
                    <a:pt x="94948" y="189897"/>
                  </a:lnTo>
                  <a:cubicBezTo>
                    <a:pt x="42510" y="189897"/>
                    <a:pt x="0" y="147387"/>
                    <a:pt x="0" y="94948"/>
                  </a:cubicBezTo>
                  <a:lnTo>
                    <a:pt x="0" y="94948"/>
                  </a:lnTo>
                  <a:cubicBezTo>
                    <a:pt x="0" y="42510"/>
                    <a:pt x="42510" y="0"/>
                    <a:pt x="94948" y="0"/>
                  </a:cubicBezTo>
                  <a:close/>
                </a:path>
              </a:pathLst>
            </a:custGeom>
            <a:solidFill>
              <a:srgbClr val="FAA607"/>
            </a:solidFill>
            <a:ln cap="rnd">
              <a:noFill/>
              <a:prstDash val="solid"/>
              <a:round/>
            </a:ln>
          </p:spPr>
        </p:sp>
        <p:sp>
          <p:nvSpPr>
            <p:cNvPr name="TextBox 4" id="4"/>
            <p:cNvSpPr txBox="true"/>
            <p:nvPr/>
          </p:nvSpPr>
          <p:spPr>
            <a:xfrm>
              <a:off x="0" y="-57150"/>
              <a:ext cx="1370603" cy="247047"/>
            </a:xfrm>
            <a:prstGeom prst="rect">
              <a:avLst/>
            </a:prstGeom>
          </p:spPr>
          <p:txBody>
            <a:bodyPr anchor="ctr" rtlCol="false" tIns="50800" lIns="50800" bIns="50800" rIns="50800"/>
            <a:lstStyle/>
            <a:p>
              <a:pPr algn="ctr" marL="0" indent="0" lvl="0">
                <a:lnSpc>
                  <a:spcPts val="2824"/>
                </a:lnSpc>
                <a:spcBef>
                  <a:spcPct val="0"/>
                </a:spcBef>
              </a:pPr>
            </a:p>
          </p:txBody>
        </p:sp>
      </p:grpSp>
      <p:sp>
        <p:nvSpPr>
          <p:cNvPr name="Freeform 5" id="5"/>
          <p:cNvSpPr/>
          <p:nvPr/>
        </p:nvSpPr>
        <p:spPr>
          <a:xfrm flipH="false" flipV="false" rot="0">
            <a:off x="16815378" y="1166754"/>
            <a:ext cx="296763" cy="308325"/>
          </a:xfrm>
          <a:custGeom>
            <a:avLst/>
            <a:gdLst/>
            <a:ahLst/>
            <a:cxnLst/>
            <a:rect r="r" b="b" t="t" l="l"/>
            <a:pathLst>
              <a:path h="308325" w="296763">
                <a:moveTo>
                  <a:pt x="0" y="0"/>
                </a:moveTo>
                <a:lnTo>
                  <a:pt x="296763" y="0"/>
                </a:lnTo>
                <a:lnTo>
                  <a:pt x="296763" y="308325"/>
                </a:lnTo>
                <a:lnTo>
                  <a:pt x="0" y="30832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2145208">
            <a:off x="-4074482" y="2541597"/>
            <a:ext cx="14525775" cy="6496983"/>
          </a:xfrm>
          <a:custGeom>
            <a:avLst/>
            <a:gdLst/>
            <a:ahLst/>
            <a:cxnLst/>
            <a:rect r="r" b="b" t="t" l="l"/>
            <a:pathLst>
              <a:path h="6496983" w="14525775">
                <a:moveTo>
                  <a:pt x="0" y="0"/>
                </a:moveTo>
                <a:lnTo>
                  <a:pt x="14525775" y="0"/>
                </a:lnTo>
                <a:lnTo>
                  <a:pt x="14525775" y="6496983"/>
                </a:lnTo>
                <a:lnTo>
                  <a:pt x="0" y="64969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2145208">
            <a:off x="12600536" y="5752755"/>
            <a:ext cx="8429684" cy="3770368"/>
          </a:xfrm>
          <a:custGeom>
            <a:avLst/>
            <a:gdLst/>
            <a:ahLst/>
            <a:cxnLst/>
            <a:rect r="r" b="b" t="t" l="l"/>
            <a:pathLst>
              <a:path h="3770368" w="8429684">
                <a:moveTo>
                  <a:pt x="0" y="0"/>
                </a:moveTo>
                <a:lnTo>
                  <a:pt x="8429684" y="0"/>
                </a:lnTo>
                <a:lnTo>
                  <a:pt x="8429684" y="3770368"/>
                </a:lnTo>
                <a:lnTo>
                  <a:pt x="0" y="377036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028700" y="1049653"/>
            <a:ext cx="647545" cy="495666"/>
          </a:xfrm>
          <a:custGeom>
            <a:avLst/>
            <a:gdLst/>
            <a:ahLst/>
            <a:cxnLst/>
            <a:rect r="r" b="b" t="t" l="l"/>
            <a:pathLst>
              <a:path h="495666" w="647545">
                <a:moveTo>
                  <a:pt x="0" y="0"/>
                </a:moveTo>
                <a:lnTo>
                  <a:pt x="647545" y="0"/>
                </a:lnTo>
                <a:lnTo>
                  <a:pt x="647545" y="495666"/>
                </a:lnTo>
                <a:lnTo>
                  <a:pt x="0" y="49566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10577904">
            <a:off x="15336566" y="8524547"/>
            <a:ext cx="3845468" cy="4114800"/>
          </a:xfrm>
          <a:custGeom>
            <a:avLst/>
            <a:gdLst/>
            <a:ahLst/>
            <a:cxnLst/>
            <a:rect r="r" b="b" t="t" l="l"/>
            <a:pathLst>
              <a:path h="4114800" w="3845468">
                <a:moveTo>
                  <a:pt x="0" y="0"/>
                </a:moveTo>
                <a:lnTo>
                  <a:pt x="3845468" y="0"/>
                </a:lnTo>
                <a:lnTo>
                  <a:pt x="3845468"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6034560">
            <a:off x="-1502391" y="7200900"/>
            <a:ext cx="3845468" cy="4114800"/>
          </a:xfrm>
          <a:custGeom>
            <a:avLst/>
            <a:gdLst/>
            <a:ahLst/>
            <a:cxnLst/>
            <a:rect r="r" b="b" t="t" l="l"/>
            <a:pathLst>
              <a:path h="4114800" w="3845468">
                <a:moveTo>
                  <a:pt x="0" y="0"/>
                </a:moveTo>
                <a:lnTo>
                  <a:pt x="3845468" y="0"/>
                </a:lnTo>
                <a:lnTo>
                  <a:pt x="384546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4124654">
            <a:off x="16866407" y="3148635"/>
            <a:ext cx="626952" cy="392130"/>
          </a:xfrm>
          <a:custGeom>
            <a:avLst/>
            <a:gdLst/>
            <a:ahLst/>
            <a:cxnLst/>
            <a:rect r="r" b="b" t="t" l="l"/>
            <a:pathLst>
              <a:path h="392130" w="626952">
                <a:moveTo>
                  <a:pt x="0" y="0"/>
                </a:moveTo>
                <a:lnTo>
                  <a:pt x="626952" y="0"/>
                </a:lnTo>
                <a:lnTo>
                  <a:pt x="626952" y="392130"/>
                </a:lnTo>
                <a:lnTo>
                  <a:pt x="0" y="39213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2" id="12"/>
          <p:cNvSpPr/>
          <p:nvPr/>
        </p:nvSpPr>
        <p:spPr>
          <a:xfrm flipH="false" flipV="false" rot="-9344170">
            <a:off x="1659141" y="8782232"/>
            <a:ext cx="626952" cy="392130"/>
          </a:xfrm>
          <a:custGeom>
            <a:avLst/>
            <a:gdLst/>
            <a:ahLst/>
            <a:cxnLst/>
            <a:rect r="r" b="b" t="t" l="l"/>
            <a:pathLst>
              <a:path h="392130" w="626952">
                <a:moveTo>
                  <a:pt x="0" y="0"/>
                </a:moveTo>
                <a:lnTo>
                  <a:pt x="626952" y="0"/>
                </a:lnTo>
                <a:lnTo>
                  <a:pt x="626952" y="392130"/>
                </a:lnTo>
                <a:lnTo>
                  <a:pt x="0" y="39213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3" id="13"/>
          <p:cNvSpPr/>
          <p:nvPr/>
        </p:nvSpPr>
        <p:spPr>
          <a:xfrm flipH="false" flipV="false" rot="-7638806">
            <a:off x="692725" y="3680746"/>
            <a:ext cx="1034860" cy="383329"/>
          </a:xfrm>
          <a:custGeom>
            <a:avLst/>
            <a:gdLst/>
            <a:ahLst/>
            <a:cxnLst/>
            <a:rect r="r" b="b" t="t" l="l"/>
            <a:pathLst>
              <a:path h="383329" w="1034860">
                <a:moveTo>
                  <a:pt x="0" y="0"/>
                </a:moveTo>
                <a:lnTo>
                  <a:pt x="1034860" y="0"/>
                </a:lnTo>
                <a:lnTo>
                  <a:pt x="1034860" y="383329"/>
                </a:lnTo>
                <a:lnTo>
                  <a:pt x="0" y="383329"/>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4" id="14"/>
          <p:cNvSpPr/>
          <p:nvPr/>
        </p:nvSpPr>
        <p:spPr>
          <a:xfrm flipH="false" flipV="false" rot="8999904">
            <a:off x="9220070" y="9006778"/>
            <a:ext cx="1034860" cy="383329"/>
          </a:xfrm>
          <a:custGeom>
            <a:avLst/>
            <a:gdLst/>
            <a:ahLst/>
            <a:cxnLst/>
            <a:rect r="r" b="b" t="t" l="l"/>
            <a:pathLst>
              <a:path h="383329" w="1034860">
                <a:moveTo>
                  <a:pt x="0" y="0"/>
                </a:moveTo>
                <a:lnTo>
                  <a:pt x="1034860" y="0"/>
                </a:lnTo>
                <a:lnTo>
                  <a:pt x="1034860" y="383329"/>
                </a:lnTo>
                <a:lnTo>
                  <a:pt x="0" y="383329"/>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grpSp>
        <p:nvGrpSpPr>
          <p:cNvPr name="Group 15" id="15"/>
          <p:cNvGrpSpPr/>
          <p:nvPr/>
        </p:nvGrpSpPr>
        <p:grpSpPr>
          <a:xfrm rot="0">
            <a:off x="1972617" y="2222666"/>
            <a:ext cx="6589085" cy="377803"/>
            <a:chOff x="0" y="0"/>
            <a:chExt cx="8785446" cy="503737"/>
          </a:xfrm>
        </p:grpSpPr>
        <p:grpSp>
          <p:nvGrpSpPr>
            <p:cNvPr name="Group 16" id="16"/>
            <p:cNvGrpSpPr/>
            <p:nvPr/>
          </p:nvGrpSpPr>
          <p:grpSpPr>
            <a:xfrm rot="0">
              <a:off x="0" y="76200"/>
              <a:ext cx="289415" cy="289415"/>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A607"/>
              </a:solidFill>
            </p:spPr>
          </p:sp>
          <p:sp>
            <p:nvSpPr>
              <p:cNvPr name="TextBox 18" id="18"/>
              <p:cNvSpPr txBox="true"/>
              <p:nvPr/>
            </p:nvSpPr>
            <p:spPr>
              <a:xfrm>
                <a:off x="76200" y="104775"/>
                <a:ext cx="660400" cy="631825"/>
              </a:xfrm>
              <a:prstGeom prst="rect">
                <a:avLst/>
              </a:prstGeom>
            </p:spPr>
            <p:txBody>
              <a:bodyPr anchor="ctr" rtlCol="false" tIns="50800" lIns="50800" bIns="50800" rIns="50800"/>
              <a:lstStyle/>
              <a:p>
                <a:pPr algn="ctr">
                  <a:lnSpc>
                    <a:spcPts val="2000"/>
                  </a:lnSpc>
                </a:pPr>
              </a:p>
            </p:txBody>
          </p:sp>
        </p:grpSp>
        <p:sp>
          <p:nvSpPr>
            <p:cNvPr name="TextBox 19" id="19"/>
            <p:cNvSpPr txBox="true"/>
            <p:nvPr/>
          </p:nvSpPr>
          <p:spPr>
            <a:xfrm rot="0">
              <a:off x="401700" y="47625"/>
              <a:ext cx="8383746" cy="456112"/>
            </a:xfrm>
            <a:prstGeom prst="rect">
              <a:avLst/>
            </a:prstGeom>
          </p:spPr>
          <p:txBody>
            <a:bodyPr anchor="t" rtlCol="false" tIns="0" lIns="0" bIns="0" rIns="0">
              <a:spAutoFit/>
            </a:bodyPr>
            <a:lstStyle/>
            <a:p>
              <a:pPr algn="l">
                <a:lnSpc>
                  <a:spcPts val="2499"/>
                </a:lnSpc>
              </a:pPr>
              <a:r>
                <a:rPr lang="en-US" b="true" sz="2499">
                  <a:solidFill>
                    <a:srgbClr val="5D4FCA"/>
                  </a:solidFill>
                  <a:latin typeface="Open Sans Bold"/>
                  <a:ea typeface="Open Sans Bold"/>
                  <a:cs typeface="Open Sans Bold"/>
                  <a:sym typeface="Open Sans Bold"/>
                </a:rPr>
                <a:t>BAR CHART</a:t>
              </a:r>
            </a:p>
          </p:txBody>
        </p:sp>
      </p:grpSp>
      <p:sp>
        <p:nvSpPr>
          <p:cNvPr name="Freeform 20" id="20"/>
          <p:cNvSpPr/>
          <p:nvPr/>
        </p:nvSpPr>
        <p:spPr>
          <a:xfrm flipH="false" flipV="false" rot="0">
            <a:off x="2268725" y="4007284"/>
            <a:ext cx="9432155" cy="5787148"/>
          </a:xfrm>
          <a:custGeom>
            <a:avLst/>
            <a:gdLst/>
            <a:ahLst/>
            <a:cxnLst/>
            <a:rect r="r" b="b" t="t" l="l"/>
            <a:pathLst>
              <a:path h="5787148" w="9432155">
                <a:moveTo>
                  <a:pt x="0" y="0"/>
                </a:moveTo>
                <a:lnTo>
                  <a:pt x="9432155" y="0"/>
                </a:lnTo>
                <a:lnTo>
                  <a:pt x="9432155" y="5787148"/>
                </a:lnTo>
                <a:lnTo>
                  <a:pt x="0" y="5787148"/>
                </a:lnTo>
                <a:lnTo>
                  <a:pt x="0" y="0"/>
                </a:lnTo>
                <a:close/>
              </a:path>
            </a:pathLst>
          </a:custGeom>
          <a:blipFill>
            <a:blip r:embed="rId20"/>
            <a:stretch>
              <a:fillRect l="0" t="0" r="0" b="0"/>
            </a:stretch>
          </a:blipFill>
        </p:spPr>
      </p:sp>
      <p:sp>
        <p:nvSpPr>
          <p:cNvPr name="TextBox 21" id="21"/>
          <p:cNvSpPr txBox="true"/>
          <p:nvPr/>
        </p:nvSpPr>
        <p:spPr>
          <a:xfrm rot="0">
            <a:off x="11428284" y="1200266"/>
            <a:ext cx="1370528" cy="269875"/>
          </a:xfrm>
          <a:prstGeom prst="rect">
            <a:avLst/>
          </a:prstGeom>
        </p:spPr>
        <p:txBody>
          <a:bodyPr anchor="t" rtlCol="false" tIns="0" lIns="0" bIns="0" rIns="0">
            <a:spAutoFit/>
          </a:bodyPr>
          <a:lstStyle/>
          <a:p>
            <a:pPr algn="ctr">
              <a:lnSpc>
                <a:spcPts val="2000"/>
              </a:lnSpc>
            </a:pPr>
            <a:r>
              <a:rPr lang="en-US" sz="2000">
                <a:solidFill>
                  <a:srgbClr val="27194D">
                    <a:alpha val="55686"/>
                  </a:srgbClr>
                </a:solidFill>
                <a:latin typeface="Open Sans"/>
                <a:ea typeface="Open Sans"/>
                <a:cs typeface="Open Sans"/>
                <a:sym typeface="Open Sans"/>
              </a:rPr>
              <a:t>LAYANAN</a:t>
            </a:r>
          </a:p>
        </p:txBody>
      </p:sp>
      <p:sp>
        <p:nvSpPr>
          <p:cNvPr name="TextBox 22" id="22"/>
          <p:cNvSpPr txBox="true"/>
          <p:nvPr/>
        </p:nvSpPr>
        <p:spPr>
          <a:xfrm rot="0">
            <a:off x="9810993" y="1200266"/>
            <a:ext cx="1293441" cy="269875"/>
          </a:xfrm>
          <a:prstGeom prst="rect">
            <a:avLst/>
          </a:prstGeom>
        </p:spPr>
        <p:txBody>
          <a:bodyPr anchor="t" rtlCol="false" tIns="0" lIns="0" bIns="0" rIns="0">
            <a:spAutoFit/>
          </a:bodyPr>
          <a:lstStyle/>
          <a:p>
            <a:pPr algn="ctr">
              <a:lnSpc>
                <a:spcPts val="2000"/>
              </a:lnSpc>
            </a:pPr>
            <a:r>
              <a:rPr lang="en-US" b="true" sz="2000">
                <a:solidFill>
                  <a:srgbClr val="5D4FCA"/>
                </a:solidFill>
                <a:latin typeface="Open Sans Bold"/>
                <a:ea typeface="Open Sans Bold"/>
                <a:cs typeface="Open Sans Bold"/>
                <a:sym typeface="Open Sans Bold"/>
              </a:rPr>
              <a:t>BERANDA</a:t>
            </a:r>
          </a:p>
        </p:txBody>
      </p:sp>
      <p:sp>
        <p:nvSpPr>
          <p:cNvPr name="TextBox 23" id="23"/>
          <p:cNvSpPr txBox="true"/>
          <p:nvPr/>
        </p:nvSpPr>
        <p:spPr>
          <a:xfrm rot="0">
            <a:off x="1847695" y="1109652"/>
            <a:ext cx="3115460" cy="422485"/>
          </a:xfrm>
          <a:prstGeom prst="rect">
            <a:avLst/>
          </a:prstGeom>
        </p:spPr>
        <p:txBody>
          <a:bodyPr anchor="t" rtlCol="false" tIns="0" lIns="0" bIns="0" rIns="0">
            <a:spAutoFit/>
          </a:bodyPr>
          <a:lstStyle/>
          <a:p>
            <a:pPr algn="l">
              <a:lnSpc>
                <a:spcPts val="3107"/>
              </a:lnSpc>
            </a:pPr>
            <a:r>
              <a:rPr lang="en-US" sz="2799" b="true">
                <a:solidFill>
                  <a:srgbClr val="5D4FCA"/>
                </a:solidFill>
                <a:latin typeface="Roboto Condensed Bold"/>
                <a:ea typeface="Roboto Condensed Bold"/>
                <a:cs typeface="Roboto Condensed Bold"/>
                <a:sym typeface="Roboto Condensed Bold"/>
              </a:rPr>
              <a:t>EKSPLORASI DATA</a:t>
            </a:r>
          </a:p>
        </p:txBody>
      </p:sp>
      <p:sp>
        <p:nvSpPr>
          <p:cNvPr name="TextBox 24" id="24"/>
          <p:cNvSpPr txBox="true"/>
          <p:nvPr/>
        </p:nvSpPr>
        <p:spPr>
          <a:xfrm rot="0">
            <a:off x="2338973" y="2752479"/>
            <a:ext cx="12868779" cy="1054780"/>
          </a:xfrm>
          <a:prstGeom prst="rect">
            <a:avLst/>
          </a:prstGeom>
        </p:spPr>
        <p:txBody>
          <a:bodyPr anchor="t" rtlCol="false" tIns="0" lIns="0" bIns="0" rIns="0">
            <a:spAutoFit/>
          </a:bodyPr>
          <a:lstStyle/>
          <a:p>
            <a:pPr algn="just" marL="0" indent="0" lvl="0">
              <a:lnSpc>
                <a:spcPts val="4339"/>
              </a:lnSpc>
            </a:pPr>
            <a:r>
              <a:rPr lang="en-US" sz="3099">
                <a:solidFill>
                  <a:srgbClr val="000000"/>
                </a:solidFill>
                <a:latin typeface="Open Sans"/>
                <a:ea typeface="Open Sans"/>
                <a:cs typeface="Open Sans"/>
                <a:sym typeface="Open Sans"/>
              </a:rPr>
              <a:t>Digunakan untuk membandingkan nilai kategori tertentu pada periode tertentu. </a:t>
            </a:r>
          </a:p>
        </p:txBody>
      </p:sp>
      <p:sp>
        <p:nvSpPr>
          <p:cNvPr name="TextBox 25" id="25"/>
          <p:cNvSpPr txBox="true"/>
          <p:nvPr/>
        </p:nvSpPr>
        <p:spPr>
          <a:xfrm rot="0">
            <a:off x="13364489" y="1205248"/>
            <a:ext cx="4121291" cy="269831"/>
          </a:xfrm>
          <a:prstGeom prst="rect">
            <a:avLst/>
          </a:prstGeom>
        </p:spPr>
        <p:txBody>
          <a:bodyPr anchor="t" rtlCol="false" tIns="0" lIns="0" bIns="0" rIns="0">
            <a:spAutoFit/>
          </a:bodyPr>
          <a:lstStyle/>
          <a:p>
            <a:pPr algn="l">
              <a:lnSpc>
                <a:spcPts val="2000"/>
              </a:lnSpc>
              <a:spcBef>
                <a:spcPct val="0"/>
              </a:spcBef>
            </a:pPr>
            <a:r>
              <a:rPr lang="en-US" b="true" sz="2000">
                <a:solidFill>
                  <a:srgbClr val="FFF8E9"/>
                </a:solidFill>
                <a:latin typeface="Open Sans Bold"/>
                <a:ea typeface="Open Sans Bold"/>
                <a:cs typeface="Open Sans Bold"/>
                <a:sym typeface="Open Sans Bold"/>
              </a:rPr>
              <a:t>VISUALISASI</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FFF8E9"/>
        </a:solidFill>
      </p:bgPr>
    </p:bg>
    <p:spTree>
      <p:nvGrpSpPr>
        <p:cNvPr id="1" name=""/>
        <p:cNvGrpSpPr/>
        <p:nvPr/>
      </p:nvGrpSpPr>
      <p:grpSpPr>
        <a:xfrm>
          <a:off x="0" y="0"/>
          <a:ext cx="0" cy="0"/>
          <a:chOff x="0" y="0"/>
          <a:chExt cx="0" cy="0"/>
        </a:xfrm>
      </p:grpSpPr>
      <p:grpSp>
        <p:nvGrpSpPr>
          <p:cNvPr name="Group 2" id="2"/>
          <p:cNvGrpSpPr/>
          <p:nvPr/>
        </p:nvGrpSpPr>
        <p:grpSpPr>
          <a:xfrm rot="0">
            <a:off x="13138009" y="1035414"/>
            <a:ext cx="4121291" cy="571004"/>
            <a:chOff x="0" y="0"/>
            <a:chExt cx="1370603" cy="189897"/>
          </a:xfrm>
        </p:grpSpPr>
        <p:sp>
          <p:nvSpPr>
            <p:cNvPr name="Freeform 3" id="3"/>
            <p:cNvSpPr/>
            <p:nvPr/>
          </p:nvSpPr>
          <p:spPr>
            <a:xfrm flipH="false" flipV="false" rot="0">
              <a:off x="0" y="0"/>
              <a:ext cx="1370603" cy="189897"/>
            </a:xfrm>
            <a:custGeom>
              <a:avLst/>
              <a:gdLst/>
              <a:ahLst/>
              <a:cxnLst/>
              <a:rect r="r" b="b" t="t" l="l"/>
              <a:pathLst>
                <a:path h="189897" w="1370603">
                  <a:moveTo>
                    <a:pt x="94948" y="0"/>
                  </a:moveTo>
                  <a:lnTo>
                    <a:pt x="1275655" y="0"/>
                  </a:lnTo>
                  <a:cubicBezTo>
                    <a:pt x="1300837" y="0"/>
                    <a:pt x="1324987" y="10003"/>
                    <a:pt x="1342794" y="27810"/>
                  </a:cubicBezTo>
                  <a:cubicBezTo>
                    <a:pt x="1360600" y="45616"/>
                    <a:pt x="1370603" y="69767"/>
                    <a:pt x="1370603" y="94948"/>
                  </a:cubicBezTo>
                  <a:lnTo>
                    <a:pt x="1370603" y="94948"/>
                  </a:lnTo>
                  <a:cubicBezTo>
                    <a:pt x="1370603" y="147387"/>
                    <a:pt x="1328094" y="189897"/>
                    <a:pt x="1275655" y="189897"/>
                  </a:cubicBezTo>
                  <a:lnTo>
                    <a:pt x="94948" y="189897"/>
                  </a:lnTo>
                  <a:cubicBezTo>
                    <a:pt x="42510" y="189897"/>
                    <a:pt x="0" y="147387"/>
                    <a:pt x="0" y="94948"/>
                  </a:cubicBezTo>
                  <a:lnTo>
                    <a:pt x="0" y="94948"/>
                  </a:lnTo>
                  <a:cubicBezTo>
                    <a:pt x="0" y="42510"/>
                    <a:pt x="42510" y="0"/>
                    <a:pt x="94948" y="0"/>
                  </a:cubicBezTo>
                  <a:close/>
                </a:path>
              </a:pathLst>
            </a:custGeom>
            <a:solidFill>
              <a:srgbClr val="FAA607"/>
            </a:solidFill>
            <a:ln cap="rnd">
              <a:noFill/>
              <a:prstDash val="solid"/>
              <a:round/>
            </a:ln>
          </p:spPr>
        </p:sp>
        <p:sp>
          <p:nvSpPr>
            <p:cNvPr name="TextBox 4" id="4"/>
            <p:cNvSpPr txBox="true"/>
            <p:nvPr/>
          </p:nvSpPr>
          <p:spPr>
            <a:xfrm>
              <a:off x="0" y="-57150"/>
              <a:ext cx="1370603" cy="247047"/>
            </a:xfrm>
            <a:prstGeom prst="rect">
              <a:avLst/>
            </a:prstGeom>
          </p:spPr>
          <p:txBody>
            <a:bodyPr anchor="ctr" rtlCol="false" tIns="50800" lIns="50800" bIns="50800" rIns="50800"/>
            <a:lstStyle/>
            <a:p>
              <a:pPr algn="ctr" marL="0" indent="0" lvl="0">
                <a:lnSpc>
                  <a:spcPts val="2824"/>
                </a:lnSpc>
                <a:spcBef>
                  <a:spcPct val="0"/>
                </a:spcBef>
              </a:pPr>
            </a:p>
          </p:txBody>
        </p:sp>
      </p:grpSp>
      <p:sp>
        <p:nvSpPr>
          <p:cNvPr name="Freeform 5" id="5"/>
          <p:cNvSpPr/>
          <p:nvPr/>
        </p:nvSpPr>
        <p:spPr>
          <a:xfrm flipH="false" flipV="false" rot="0">
            <a:off x="16815378" y="1166754"/>
            <a:ext cx="296763" cy="308325"/>
          </a:xfrm>
          <a:custGeom>
            <a:avLst/>
            <a:gdLst/>
            <a:ahLst/>
            <a:cxnLst/>
            <a:rect r="r" b="b" t="t" l="l"/>
            <a:pathLst>
              <a:path h="308325" w="296763">
                <a:moveTo>
                  <a:pt x="0" y="0"/>
                </a:moveTo>
                <a:lnTo>
                  <a:pt x="296763" y="0"/>
                </a:lnTo>
                <a:lnTo>
                  <a:pt x="296763" y="308325"/>
                </a:lnTo>
                <a:lnTo>
                  <a:pt x="0" y="30832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2145208">
            <a:off x="-4074482" y="2541597"/>
            <a:ext cx="14525775" cy="6496983"/>
          </a:xfrm>
          <a:custGeom>
            <a:avLst/>
            <a:gdLst/>
            <a:ahLst/>
            <a:cxnLst/>
            <a:rect r="r" b="b" t="t" l="l"/>
            <a:pathLst>
              <a:path h="6496983" w="14525775">
                <a:moveTo>
                  <a:pt x="0" y="0"/>
                </a:moveTo>
                <a:lnTo>
                  <a:pt x="14525775" y="0"/>
                </a:lnTo>
                <a:lnTo>
                  <a:pt x="14525775" y="6496983"/>
                </a:lnTo>
                <a:lnTo>
                  <a:pt x="0" y="64969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2145208">
            <a:off x="12600536" y="5752755"/>
            <a:ext cx="8429684" cy="3770368"/>
          </a:xfrm>
          <a:custGeom>
            <a:avLst/>
            <a:gdLst/>
            <a:ahLst/>
            <a:cxnLst/>
            <a:rect r="r" b="b" t="t" l="l"/>
            <a:pathLst>
              <a:path h="3770368" w="8429684">
                <a:moveTo>
                  <a:pt x="0" y="0"/>
                </a:moveTo>
                <a:lnTo>
                  <a:pt x="8429684" y="0"/>
                </a:lnTo>
                <a:lnTo>
                  <a:pt x="8429684" y="3770368"/>
                </a:lnTo>
                <a:lnTo>
                  <a:pt x="0" y="377036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028700" y="1049653"/>
            <a:ext cx="647545" cy="495666"/>
          </a:xfrm>
          <a:custGeom>
            <a:avLst/>
            <a:gdLst/>
            <a:ahLst/>
            <a:cxnLst/>
            <a:rect r="r" b="b" t="t" l="l"/>
            <a:pathLst>
              <a:path h="495666" w="647545">
                <a:moveTo>
                  <a:pt x="0" y="0"/>
                </a:moveTo>
                <a:lnTo>
                  <a:pt x="647545" y="0"/>
                </a:lnTo>
                <a:lnTo>
                  <a:pt x="647545" y="495666"/>
                </a:lnTo>
                <a:lnTo>
                  <a:pt x="0" y="49566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10577904">
            <a:off x="15336566" y="8524547"/>
            <a:ext cx="3845468" cy="4114800"/>
          </a:xfrm>
          <a:custGeom>
            <a:avLst/>
            <a:gdLst/>
            <a:ahLst/>
            <a:cxnLst/>
            <a:rect r="r" b="b" t="t" l="l"/>
            <a:pathLst>
              <a:path h="4114800" w="3845468">
                <a:moveTo>
                  <a:pt x="0" y="0"/>
                </a:moveTo>
                <a:lnTo>
                  <a:pt x="3845468" y="0"/>
                </a:lnTo>
                <a:lnTo>
                  <a:pt x="3845468"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6034560">
            <a:off x="-1502391" y="7200900"/>
            <a:ext cx="3845468" cy="4114800"/>
          </a:xfrm>
          <a:custGeom>
            <a:avLst/>
            <a:gdLst/>
            <a:ahLst/>
            <a:cxnLst/>
            <a:rect r="r" b="b" t="t" l="l"/>
            <a:pathLst>
              <a:path h="4114800" w="3845468">
                <a:moveTo>
                  <a:pt x="0" y="0"/>
                </a:moveTo>
                <a:lnTo>
                  <a:pt x="3845468" y="0"/>
                </a:lnTo>
                <a:lnTo>
                  <a:pt x="384546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4124654">
            <a:off x="16866407" y="3148635"/>
            <a:ext cx="626952" cy="392130"/>
          </a:xfrm>
          <a:custGeom>
            <a:avLst/>
            <a:gdLst/>
            <a:ahLst/>
            <a:cxnLst/>
            <a:rect r="r" b="b" t="t" l="l"/>
            <a:pathLst>
              <a:path h="392130" w="626952">
                <a:moveTo>
                  <a:pt x="0" y="0"/>
                </a:moveTo>
                <a:lnTo>
                  <a:pt x="626952" y="0"/>
                </a:lnTo>
                <a:lnTo>
                  <a:pt x="626952" y="392130"/>
                </a:lnTo>
                <a:lnTo>
                  <a:pt x="0" y="39213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2" id="12"/>
          <p:cNvSpPr/>
          <p:nvPr/>
        </p:nvSpPr>
        <p:spPr>
          <a:xfrm flipH="false" flipV="false" rot="-9344170">
            <a:off x="1659141" y="8782232"/>
            <a:ext cx="626952" cy="392130"/>
          </a:xfrm>
          <a:custGeom>
            <a:avLst/>
            <a:gdLst/>
            <a:ahLst/>
            <a:cxnLst/>
            <a:rect r="r" b="b" t="t" l="l"/>
            <a:pathLst>
              <a:path h="392130" w="626952">
                <a:moveTo>
                  <a:pt x="0" y="0"/>
                </a:moveTo>
                <a:lnTo>
                  <a:pt x="626952" y="0"/>
                </a:lnTo>
                <a:lnTo>
                  <a:pt x="626952" y="392130"/>
                </a:lnTo>
                <a:lnTo>
                  <a:pt x="0" y="39213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3" id="13"/>
          <p:cNvSpPr/>
          <p:nvPr/>
        </p:nvSpPr>
        <p:spPr>
          <a:xfrm flipH="false" flipV="false" rot="-7638806">
            <a:off x="692725" y="3680746"/>
            <a:ext cx="1034860" cy="383329"/>
          </a:xfrm>
          <a:custGeom>
            <a:avLst/>
            <a:gdLst/>
            <a:ahLst/>
            <a:cxnLst/>
            <a:rect r="r" b="b" t="t" l="l"/>
            <a:pathLst>
              <a:path h="383329" w="1034860">
                <a:moveTo>
                  <a:pt x="0" y="0"/>
                </a:moveTo>
                <a:lnTo>
                  <a:pt x="1034860" y="0"/>
                </a:lnTo>
                <a:lnTo>
                  <a:pt x="1034860" y="383329"/>
                </a:lnTo>
                <a:lnTo>
                  <a:pt x="0" y="383329"/>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4" id="14"/>
          <p:cNvSpPr/>
          <p:nvPr/>
        </p:nvSpPr>
        <p:spPr>
          <a:xfrm flipH="false" flipV="false" rot="8999904">
            <a:off x="9220070" y="9006778"/>
            <a:ext cx="1034860" cy="383329"/>
          </a:xfrm>
          <a:custGeom>
            <a:avLst/>
            <a:gdLst/>
            <a:ahLst/>
            <a:cxnLst/>
            <a:rect r="r" b="b" t="t" l="l"/>
            <a:pathLst>
              <a:path h="383329" w="1034860">
                <a:moveTo>
                  <a:pt x="0" y="0"/>
                </a:moveTo>
                <a:lnTo>
                  <a:pt x="1034860" y="0"/>
                </a:lnTo>
                <a:lnTo>
                  <a:pt x="1034860" y="383329"/>
                </a:lnTo>
                <a:lnTo>
                  <a:pt x="0" y="383329"/>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grpSp>
        <p:nvGrpSpPr>
          <p:cNvPr name="Group 15" id="15"/>
          <p:cNvGrpSpPr/>
          <p:nvPr/>
        </p:nvGrpSpPr>
        <p:grpSpPr>
          <a:xfrm rot="0">
            <a:off x="1972617" y="2222666"/>
            <a:ext cx="6589085" cy="377803"/>
            <a:chOff x="0" y="0"/>
            <a:chExt cx="8785446" cy="503737"/>
          </a:xfrm>
        </p:grpSpPr>
        <p:grpSp>
          <p:nvGrpSpPr>
            <p:cNvPr name="Group 16" id="16"/>
            <p:cNvGrpSpPr/>
            <p:nvPr/>
          </p:nvGrpSpPr>
          <p:grpSpPr>
            <a:xfrm rot="0">
              <a:off x="0" y="76200"/>
              <a:ext cx="289415" cy="289415"/>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A607"/>
              </a:solidFill>
            </p:spPr>
          </p:sp>
          <p:sp>
            <p:nvSpPr>
              <p:cNvPr name="TextBox 18" id="18"/>
              <p:cNvSpPr txBox="true"/>
              <p:nvPr/>
            </p:nvSpPr>
            <p:spPr>
              <a:xfrm>
                <a:off x="76200" y="104775"/>
                <a:ext cx="660400" cy="631825"/>
              </a:xfrm>
              <a:prstGeom prst="rect">
                <a:avLst/>
              </a:prstGeom>
            </p:spPr>
            <p:txBody>
              <a:bodyPr anchor="ctr" rtlCol="false" tIns="50800" lIns="50800" bIns="50800" rIns="50800"/>
              <a:lstStyle/>
              <a:p>
                <a:pPr algn="ctr">
                  <a:lnSpc>
                    <a:spcPts val="2000"/>
                  </a:lnSpc>
                </a:pPr>
              </a:p>
            </p:txBody>
          </p:sp>
        </p:grpSp>
        <p:sp>
          <p:nvSpPr>
            <p:cNvPr name="TextBox 19" id="19"/>
            <p:cNvSpPr txBox="true"/>
            <p:nvPr/>
          </p:nvSpPr>
          <p:spPr>
            <a:xfrm rot="0">
              <a:off x="401700" y="47625"/>
              <a:ext cx="8383746" cy="456112"/>
            </a:xfrm>
            <a:prstGeom prst="rect">
              <a:avLst/>
            </a:prstGeom>
          </p:spPr>
          <p:txBody>
            <a:bodyPr anchor="t" rtlCol="false" tIns="0" lIns="0" bIns="0" rIns="0">
              <a:spAutoFit/>
            </a:bodyPr>
            <a:lstStyle/>
            <a:p>
              <a:pPr algn="l">
                <a:lnSpc>
                  <a:spcPts val="2499"/>
                </a:lnSpc>
              </a:pPr>
              <a:r>
                <a:rPr lang="en-US" b="true" sz="2499">
                  <a:solidFill>
                    <a:srgbClr val="5D4FCA"/>
                  </a:solidFill>
                  <a:latin typeface="Open Sans Bold"/>
                  <a:ea typeface="Open Sans Bold"/>
                  <a:cs typeface="Open Sans Bold"/>
                  <a:sym typeface="Open Sans Bold"/>
                </a:rPr>
                <a:t>BAR CHART</a:t>
              </a:r>
            </a:p>
          </p:txBody>
        </p:sp>
      </p:grpSp>
      <p:sp>
        <p:nvSpPr>
          <p:cNvPr name="Freeform 20" id="20"/>
          <p:cNvSpPr/>
          <p:nvPr/>
        </p:nvSpPr>
        <p:spPr>
          <a:xfrm flipH="false" flipV="false" rot="0">
            <a:off x="1972617" y="2939411"/>
            <a:ext cx="6898399" cy="4378771"/>
          </a:xfrm>
          <a:custGeom>
            <a:avLst/>
            <a:gdLst/>
            <a:ahLst/>
            <a:cxnLst/>
            <a:rect r="r" b="b" t="t" l="l"/>
            <a:pathLst>
              <a:path h="4378771" w="6898399">
                <a:moveTo>
                  <a:pt x="0" y="0"/>
                </a:moveTo>
                <a:lnTo>
                  <a:pt x="6898399" y="0"/>
                </a:lnTo>
                <a:lnTo>
                  <a:pt x="6898399" y="4378771"/>
                </a:lnTo>
                <a:lnTo>
                  <a:pt x="0" y="4378771"/>
                </a:lnTo>
                <a:lnTo>
                  <a:pt x="0" y="0"/>
                </a:lnTo>
                <a:close/>
              </a:path>
            </a:pathLst>
          </a:custGeom>
          <a:blipFill>
            <a:blip r:embed="rId20"/>
            <a:stretch>
              <a:fillRect l="0" t="0" r="0" b="0"/>
            </a:stretch>
          </a:blipFill>
        </p:spPr>
      </p:sp>
      <p:sp>
        <p:nvSpPr>
          <p:cNvPr name="Freeform 21" id="21"/>
          <p:cNvSpPr/>
          <p:nvPr/>
        </p:nvSpPr>
        <p:spPr>
          <a:xfrm flipH="false" flipV="false" rot="0">
            <a:off x="9636970" y="2981469"/>
            <a:ext cx="7002078" cy="4385052"/>
          </a:xfrm>
          <a:custGeom>
            <a:avLst/>
            <a:gdLst/>
            <a:ahLst/>
            <a:cxnLst/>
            <a:rect r="r" b="b" t="t" l="l"/>
            <a:pathLst>
              <a:path h="4385052" w="7002078">
                <a:moveTo>
                  <a:pt x="0" y="0"/>
                </a:moveTo>
                <a:lnTo>
                  <a:pt x="7002078" y="0"/>
                </a:lnTo>
                <a:lnTo>
                  <a:pt x="7002078" y="4385052"/>
                </a:lnTo>
                <a:lnTo>
                  <a:pt x="0" y="4385052"/>
                </a:lnTo>
                <a:lnTo>
                  <a:pt x="0" y="0"/>
                </a:lnTo>
                <a:close/>
              </a:path>
            </a:pathLst>
          </a:custGeom>
          <a:blipFill>
            <a:blip r:embed="rId21"/>
            <a:stretch>
              <a:fillRect l="0" t="0" r="0" b="0"/>
            </a:stretch>
          </a:blipFill>
        </p:spPr>
      </p:sp>
      <p:sp>
        <p:nvSpPr>
          <p:cNvPr name="TextBox 22" id="22"/>
          <p:cNvSpPr txBox="true"/>
          <p:nvPr/>
        </p:nvSpPr>
        <p:spPr>
          <a:xfrm rot="0">
            <a:off x="11428284" y="1200266"/>
            <a:ext cx="1370528" cy="269875"/>
          </a:xfrm>
          <a:prstGeom prst="rect">
            <a:avLst/>
          </a:prstGeom>
        </p:spPr>
        <p:txBody>
          <a:bodyPr anchor="t" rtlCol="false" tIns="0" lIns="0" bIns="0" rIns="0">
            <a:spAutoFit/>
          </a:bodyPr>
          <a:lstStyle/>
          <a:p>
            <a:pPr algn="ctr">
              <a:lnSpc>
                <a:spcPts val="2000"/>
              </a:lnSpc>
            </a:pPr>
            <a:r>
              <a:rPr lang="en-US" sz="2000">
                <a:solidFill>
                  <a:srgbClr val="27194D">
                    <a:alpha val="55686"/>
                  </a:srgbClr>
                </a:solidFill>
                <a:latin typeface="Open Sans"/>
                <a:ea typeface="Open Sans"/>
                <a:cs typeface="Open Sans"/>
                <a:sym typeface="Open Sans"/>
              </a:rPr>
              <a:t>LAYANAN</a:t>
            </a:r>
          </a:p>
        </p:txBody>
      </p:sp>
      <p:sp>
        <p:nvSpPr>
          <p:cNvPr name="TextBox 23" id="23"/>
          <p:cNvSpPr txBox="true"/>
          <p:nvPr/>
        </p:nvSpPr>
        <p:spPr>
          <a:xfrm rot="0">
            <a:off x="9810993" y="1200266"/>
            <a:ext cx="1293441" cy="269875"/>
          </a:xfrm>
          <a:prstGeom prst="rect">
            <a:avLst/>
          </a:prstGeom>
        </p:spPr>
        <p:txBody>
          <a:bodyPr anchor="t" rtlCol="false" tIns="0" lIns="0" bIns="0" rIns="0">
            <a:spAutoFit/>
          </a:bodyPr>
          <a:lstStyle/>
          <a:p>
            <a:pPr algn="ctr">
              <a:lnSpc>
                <a:spcPts val="2000"/>
              </a:lnSpc>
            </a:pPr>
            <a:r>
              <a:rPr lang="en-US" b="true" sz="2000">
                <a:solidFill>
                  <a:srgbClr val="5D4FCA"/>
                </a:solidFill>
                <a:latin typeface="Open Sans Bold"/>
                <a:ea typeface="Open Sans Bold"/>
                <a:cs typeface="Open Sans Bold"/>
                <a:sym typeface="Open Sans Bold"/>
              </a:rPr>
              <a:t>BERANDA</a:t>
            </a:r>
          </a:p>
        </p:txBody>
      </p:sp>
      <p:sp>
        <p:nvSpPr>
          <p:cNvPr name="TextBox 24" id="24"/>
          <p:cNvSpPr txBox="true"/>
          <p:nvPr/>
        </p:nvSpPr>
        <p:spPr>
          <a:xfrm rot="0">
            <a:off x="1847695" y="1109652"/>
            <a:ext cx="3115460" cy="422485"/>
          </a:xfrm>
          <a:prstGeom prst="rect">
            <a:avLst/>
          </a:prstGeom>
        </p:spPr>
        <p:txBody>
          <a:bodyPr anchor="t" rtlCol="false" tIns="0" lIns="0" bIns="0" rIns="0">
            <a:spAutoFit/>
          </a:bodyPr>
          <a:lstStyle/>
          <a:p>
            <a:pPr algn="l">
              <a:lnSpc>
                <a:spcPts val="3107"/>
              </a:lnSpc>
            </a:pPr>
            <a:r>
              <a:rPr lang="en-US" sz="2799" b="true">
                <a:solidFill>
                  <a:srgbClr val="5D4FCA"/>
                </a:solidFill>
                <a:latin typeface="Roboto Condensed Bold"/>
                <a:ea typeface="Roboto Condensed Bold"/>
                <a:cs typeface="Roboto Condensed Bold"/>
                <a:sym typeface="Roboto Condensed Bold"/>
              </a:rPr>
              <a:t>EKSPLORASI DATA</a:t>
            </a:r>
          </a:p>
        </p:txBody>
      </p:sp>
      <p:sp>
        <p:nvSpPr>
          <p:cNvPr name="TextBox 25" id="25"/>
          <p:cNvSpPr txBox="true"/>
          <p:nvPr/>
        </p:nvSpPr>
        <p:spPr>
          <a:xfrm rot="0">
            <a:off x="13364489" y="1205248"/>
            <a:ext cx="4121291" cy="269831"/>
          </a:xfrm>
          <a:prstGeom prst="rect">
            <a:avLst/>
          </a:prstGeom>
        </p:spPr>
        <p:txBody>
          <a:bodyPr anchor="t" rtlCol="false" tIns="0" lIns="0" bIns="0" rIns="0">
            <a:spAutoFit/>
          </a:bodyPr>
          <a:lstStyle/>
          <a:p>
            <a:pPr algn="l">
              <a:lnSpc>
                <a:spcPts val="2000"/>
              </a:lnSpc>
              <a:spcBef>
                <a:spcPct val="0"/>
              </a:spcBef>
            </a:pPr>
            <a:r>
              <a:rPr lang="en-US" b="true" sz="2000">
                <a:solidFill>
                  <a:srgbClr val="FFF8E9"/>
                </a:solidFill>
                <a:latin typeface="Open Sans Bold"/>
                <a:ea typeface="Open Sans Bold"/>
                <a:cs typeface="Open Sans Bold"/>
                <a:sym typeface="Open Sans Bold"/>
              </a:rPr>
              <a:t>VISUALISASI</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FFF8E9"/>
        </a:solidFill>
      </p:bgPr>
    </p:bg>
    <p:spTree>
      <p:nvGrpSpPr>
        <p:cNvPr id="1" name=""/>
        <p:cNvGrpSpPr/>
        <p:nvPr/>
      </p:nvGrpSpPr>
      <p:grpSpPr>
        <a:xfrm>
          <a:off x="0" y="0"/>
          <a:ext cx="0" cy="0"/>
          <a:chOff x="0" y="0"/>
          <a:chExt cx="0" cy="0"/>
        </a:xfrm>
      </p:grpSpPr>
      <p:grpSp>
        <p:nvGrpSpPr>
          <p:cNvPr name="Group 2" id="2"/>
          <p:cNvGrpSpPr/>
          <p:nvPr/>
        </p:nvGrpSpPr>
        <p:grpSpPr>
          <a:xfrm rot="0">
            <a:off x="13138009" y="1035414"/>
            <a:ext cx="4121291" cy="571004"/>
            <a:chOff x="0" y="0"/>
            <a:chExt cx="1370603" cy="189897"/>
          </a:xfrm>
        </p:grpSpPr>
        <p:sp>
          <p:nvSpPr>
            <p:cNvPr name="Freeform 3" id="3"/>
            <p:cNvSpPr/>
            <p:nvPr/>
          </p:nvSpPr>
          <p:spPr>
            <a:xfrm flipH="false" flipV="false" rot="0">
              <a:off x="0" y="0"/>
              <a:ext cx="1370603" cy="189897"/>
            </a:xfrm>
            <a:custGeom>
              <a:avLst/>
              <a:gdLst/>
              <a:ahLst/>
              <a:cxnLst/>
              <a:rect r="r" b="b" t="t" l="l"/>
              <a:pathLst>
                <a:path h="189897" w="1370603">
                  <a:moveTo>
                    <a:pt x="94948" y="0"/>
                  </a:moveTo>
                  <a:lnTo>
                    <a:pt x="1275655" y="0"/>
                  </a:lnTo>
                  <a:cubicBezTo>
                    <a:pt x="1300837" y="0"/>
                    <a:pt x="1324987" y="10003"/>
                    <a:pt x="1342794" y="27810"/>
                  </a:cubicBezTo>
                  <a:cubicBezTo>
                    <a:pt x="1360600" y="45616"/>
                    <a:pt x="1370603" y="69767"/>
                    <a:pt x="1370603" y="94948"/>
                  </a:cubicBezTo>
                  <a:lnTo>
                    <a:pt x="1370603" y="94948"/>
                  </a:lnTo>
                  <a:cubicBezTo>
                    <a:pt x="1370603" y="147387"/>
                    <a:pt x="1328094" y="189897"/>
                    <a:pt x="1275655" y="189897"/>
                  </a:cubicBezTo>
                  <a:lnTo>
                    <a:pt x="94948" y="189897"/>
                  </a:lnTo>
                  <a:cubicBezTo>
                    <a:pt x="42510" y="189897"/>
                    <a:pt x="0" y="147387"/>
                    <a:pt x="0" y="94948"/>
                  </a:cubicBezTo>
                  <a:lnTo>
                    <a:pt x="0" y="94948"/>
                  </a:lnTo>
                  <a:cubicBezTo>
                    <a:pt x="0" y="42510"/>
                    <a:pt x="42510" y="0"/>
                    <a:pt x="94948" y="0"/>
                  </a:cubicBezTo>
                  <a:close/>
                </a:path>
              </a:pathLst>
            </a:custGeom>
            <a:solidFill>
              <a:srgbClr val="FAA607"/>
            </a:solidFill>
            <a:ln cap="rnd">
              <a:noFill/>
              <a:prstDash val="solid"/>
              <a:round/>
            </a:ln>
          </p:spPr>
        </p:sp>
        <p:sp>
          <p:nvSpPr>
            <p:cNvPr name="TextBox 4" id="4"/>
            <p:cNvSpPr txBox="true"/>
            <p:nvPr/>
          </p:nvSpPr>
          <p:spPr>
            <a:xfrm>
              <a:off x="0" y="-57150"/>
              <a:ext cx="1370603" cy="247047"/>
            </a:xfrm>
            <a:prstGeom prst="rect">
              <a:avLst/>
            </a:prstGeom>
          </p:spPr>
          <p:txBody>
            <a:bodyPr anchor="ctr" rtlCol="false" tIns="50800" lIns="50800" bIns="50800" rIns="50800"/>
            <a:lstStyle/>
            <a:p>
              <a:pPr algn="ctr" marL="0" indent="0" lvl="0">
                <a:lnSpc>
                  <a:spcPts val="2824"/>
                </a:lnSpc>
                <a:spcBef>
                  <a:spcPct val="0"/>
                </a:spcBef>
              </a:pPr>
            </a:p>
          </p:txBody>
        </p:sp>
      </p:grpSp>
      <p:sp>
        <p:nvSpPr>
          <p:cNvPr name="Freeform 5" id="5"/>
          <p:cNvSpPr/>
          <p:nvPr/>
        </p:nvSpPr>
        <p:spPr>
          <a:xfrm flipH="false" flipV="false" rot="0">
            <a:off x="16815378" y="1166754"/>
            <a:ext cx="296763" cy="308325"/>
          </a:xfrm>
          <a:custGeom>
            <a:avLst/>
            <a:gdLst/>
            <a:ahLst/>
            <a:cxnLst/>
            <a:rect r="r" b="b" t="t" l="l"/>
            <a:pathLst>
              <a:path h="308325" w="296763">
                <a:moveTo>
                  <a:pt x="0" y="0"/>
                </a:moveTo>
                <a:lnTo>
                  <a:pt x="296763" y="0"/>
                </a:lnTo>
                <a:lnTo>
                  <a:pt x="296763" y="308325"/>
                </a:lnTo>
                <a:lnTo>
                  <a:pt x="0" y="30832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2145208">
            <a:off x="-4074482" y="2541597"/>
            <a:ext cx="14525775" cy="6496983"/>
          </a:xfrm>
          <a:custGeom>
            <a:avLst/>
            <a:gdLst/>
            <a:ahLst/>
            <a:cxnLst/>
            <a:rect r="r" b="b" t="t" l="l"/>
            <a:pathLst>
              <a:path h="6496983" w="14525775">
                <a:moveTo>
                  <a:pt x="0" y="0"/>
                </a:moveTo>
                <a:lnTo>
                  <a:pt x="14525775" y="0"/>
                </a:lnTo>
                <a:lnTo>
                  <a:pt x="14525775" y="6496983"/>
                </a:lnTo>
                <a:lnTo>
                  <a:pt x="0" y="64969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2145208">
            <a:off x="12600536" y="5752755"/>
            <a:ext cx="8429684" cy="3770368"/>
          </a:xfrm>
          <a:custGeom>
            <a:avLst/>
            <a:gdLst/>
            <a:ahLst/>
            <a:cxnLst/>
            <a:rect r="r" b="b" t="t" l="l"/>
            <a:pathLst>
              <a:path h="3770368" w="8429684">
                <a:moveTo>
                  <a:pt x="0" y="0"/>
                </a:moveTo>
                <a:lnTo>
                  <a:pt x="8429684" y="0"/>
                </a:lnTo>
                <a:lnTo>
                  <a:pt x="8429684" y="3770368"/>
                </a:lnTo>
                <a:lnTo>
                  <a:pt x="0" y="377036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028700" y="1049653"/>
            <a:ext cx="647545" cy="495666"/>
          </a:xfrm>
          <a:custGeom>
            <a:avLst/>
            <a:gdLst/>
            <a:ahLst/>
            <a:cxnLst/>
            <a:rect r="r" b="b" t="t" l="l"/>
            <a:pathLst>
              <a:path h="495666" w="647545">
                <a:moveTo>
                  <a:pt x="0" y="0"/>
                </a:moveTo>
                <a:lnTo>
                  <a:pt x="647545" y="0"/>
                </a:lnTo>
                <a:lnTo>
                  <a:pt x="647545" y="495666"/>
                </a:lnTo>
                <a:lnTo>
                  <a:pt x="0" y="49566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10577904">
            <a:off x="15336566" y="8524547"/>
            <a:ext cx="3845468" cy="4114800"/>
          </a:xfrm>
          <a:custGeom>
            <a:avLst/>
            <a:gdLst/>
            <a:ahLst/>
            <a:cxnLst/>
            <a:rect r="r" b="b" t="t" l="l"/>
            <a:pathLst>
              <a:path h="4114800" w="3845468">
                <a:moveTo>
                  <a:pt x="0" y="0"/>
                </a:moveTo>
                <a:lnTo>
                  <a:pt x="3845468" y="0"/>
                </a:lnTo>
                <a:lnTo>
                  <a:pt x="3845468"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6034560">
            <a:off x="-1502391" y="7200900"/>
            <a:ext cx="3845468" cy="4114800"/>
          </a:xfrm>
          <a:custGeom>
            <a:avLst/>
            <a:gdLst/>
            <a:ahLst/>
            <a:cxnLst/>
            <a:rect r="r" b="b" t="t" l="l"/>
            <a:pathLst>
              <a:path h="4114800" w="3845468">
                <a:moveTo>
                  <a:pt x="0" y="0"/>
                </a:moveTo>
                <a:lnTo>
                  <a:pt x="3845468" y="0"/>
                </a:lnTo>
                <a:lnTo>
                  <a:pt x="384546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4124654">
            <a:off x="16866407" y="3148635"/>
            <a:ext cx="626952" cy="392130"/>
          </a:xfrm>
          <a:custGeom>
            <a:avLst/>
            <a:gdLst/>
            <a:ahLst/>
            <a:cxnLst/>
            <a:rect r="r" b="b" t="t" l="l"/>
            <a:pathLst>
              <a:path h="392130" w="626952">
                <a:moveTo>
                  <a:pt x="0" y="0"/>
                </a:moveTo>
                <a:lnTo>
                  <a:pt x="626952" y="0"/>
                </a:lnTo>
                <a:lnTo>
                  <a:pt x="626952" y="392130"/>
                </a:lnTo>
                <a:lnTo>
                  <a:pt x="0" y="39213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2" id="12"/>
          <p:cNvSpPr/>
          <p:nvPr/>
        </p:nvSpPr>
        <p:spPr>
          <a:xfrm flipH="false" flipV="false" rot="-9344170">
            <a:off x="1659141" y="8782232"/>
            <a:ext cx="626952" cy="392130"/>
          </a:xfrm>
          <a:custGeom>
            <a:avLst/>
            <a:gdLst/>
            <a:ahLst/>
            <a:cxnLst/>
            <a:rect r="r" b="b" t="t" l="l"/>
            <a:pathLst>
              <a:path h="392130" w="626952">
                <a:moveTo>
                  <a:pt x="0" y="0"/>
                </a:moveTo>
                <a:lnTo>
                  <a:pt x="626952" y="0"/>
                </a:lnTo>
                <a:lnTo>
                  <a:pt x="626952" y="392130"/>
                </a:lnTo>
                <a:lnTo>
                  <a:pt x="0" y="39213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3" id="13"/>
          <p:cNvSpPr/>
          <p:nvPr/>
        </p:nvSpPr>
        <p:spPr>
          <a:xfrm flipH="false" flipV="false" rot="-7638806">
            <a:off x="692725" y="3680746"/>
            <a:ext cx="1034860" cy="383329"/>
          </a:xfrm>
          <a:custGeom>
            <a:avLst/>
            <a:gdLst/>
            <a:ahLst/>
            <a:cxnLst/>
            <a:rect r="r" b="b" t="t" l="l"/>
            <a:pathLst>
              <a:path h="383329" w="1034860">
                <a:moveTo>
                  <a:pt x="0" y="0"/>
                </a:moveTo>
                <a:lnTo>
                  <a:pt x="1034860" y="0"/>
                </a:lnTo>
                <a:lnTo>
                  <a:pt x="1034860" y="383329"/>
                </a:lnTo>
                <a:lnTo>
                  <a:pt x="0" y="383329"/>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4" id="14"/>
          <p:cNvSpPr/>
          <p:nvPr/>
        </p:nvSpPr>
        <p:spPr>
          <a:xfrm flipH="false" flipV="false" rot="8999904">
            <a:off x="9220070" y="9006778"/>
            <a:ext cx="1034860" cy="383329"/>
          </a:xfrm>
          <a:custGeom>
            <a:avLst/>
            <a:gdLst/>
            <a:ahLst/>
            <a:cxnLst/>
            <a:rect r="r" b="b" t="t" l="l"/>
            <a:pathLst>
              <a:path h="383329" w="1034860">
                <a:moveTo>
                  <a:pt x="0" y="0"/>
                </a:moveTo>
                <a:lnTo>
                  <a:pt x="1034860" y="0"/>
                </a:lnTo>
                <a:lnTo>
                  <a:pt x="1034860" y="383329"/>
                </a:lnTo>
                <a:lnTo>
                  <a:pt x="0" y="383329"/>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grpSp>
        <p:nvGrpSpPr>
          <p:cNvPr name="Group 15" id="15"/>
          <p:cNvGrpSpPr/>
          <p:nvPr/>
        </p:nvGrpSpPr>
        <p:grpSpPr>
          <a:xfrm rot="0">
            <a:off x="1972617" y="2222666"/>
            <a:ext cx="6589085" cy="377803"/>
            <a:chOff x="0" y="0"/>
            <a:chExt cx="8785446" cy="503737"/>
          </a:xfrm>
        </p:grpSpPr>
        <p:grpSp>
          <p:nvGrpSpPr>
            <p:cNvPr name="Group 16" id="16"/>
            <p:cNvGrpSpPr/>
            <p:nvPr/>
          </p:nvGrpSpPr>
          <p:grpSpPr>
            <a:xfrm rot="0">
              <a:off x="0" y="76200"/>
              <a:ext cx="289415" cy="289415"/>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A607"/>
              </a:solidFill>
            </p:spPr>
          </p:sp>
          <p:sp>
            <p:nvSpPr>
              <p:cNvPr name="TextBox 18" id="18"/>
              <p:cNvSpPr txBox="true"/>
              <p:nvPr/>
            </p:nvSpPr>
            <p:spPr>
              <a:xfrm>
                <a:off x="76200" y="104775"/>
                <a:ext cx="660400" cy="631825"/>
              </a:xfrm>
              <a:prstGeom prst="rect">
                <a:avLst/>
              </a:prstGeom>
            </p:spPr>
            <p:txBody>
              <a:bodyPr anchor="ctr" rtlCol="false" tIns="50800" lIns="50800" bIns="50800" rIns="50800"/>
              <a:lstStyle/>
              <a:p>
                <a:pPr algn="ctr">
                  <a:lnSpc>
                    <a:spcPts val="2000"/>
                  </a:lnSpc>
                </a:pPr>
              </a:p>
            </p:txBody>
          </p:sp>
        </p:grpSp>
        <p:sp>
          <p:nvSpPr>
            <p:cNvPr name="TextBox 19" id="19"/>
            <p:cNvSpPr txBox="true"/>
            <p:nvPr/>
          </p:nvSpPr>
          <p:spPr>
            <a:xfrm rot="0">
              <a:off x="401700" y="47625"/>
              <a:ext cx="8383746" cy="456112"/>
            </a:xfrm>
            <a:prstGeom prst="rect">
              <a:avLst/>
            </a:prstGeom>
          </p:spPr>
          <p:txBody>
            <a:bodyPr anchor="t" rtlCol="false" tIns="0" lIns="0" bIns="0" rIns="0">
              <a:spAutoFit/>
            </a:bodyPr>
            <a:lstStyle/>
            <a:p>
              <a:pPr algn="l">
                <a:lnSpc>
                  <a:spcPts val="2499"/>
                </a:lnSpc>
              </a:pPr>
              <a:r>
                <a:rPr lang="en-US" b="true" sz="2499">
                  <a:solidFill>
                    <a:srgbClr val="5D4FCA"/>
                  </a:solidFill>
                  <a:latin typeface="Open Sans Bold"/>
                  <a:ea typeface="Open Sans Bold"/>
                  <a:cs typeface="Open Sans Bold"/>
                  <a:sym typeface="Open Sans Bold"/>
                </a:rPr>
                <a:t>STACKED BAR CHART</a:t>
              </a:r>
            </a:p>
          </p:txBody>
        </p:sp>
      </p:grpSp>
      <p:sp>
        <p:nvSpPr>
          <p:cNvPr name="Freeform 20" id="20"/>
          <p:cNvSpPr/>
          <p:nvPr/>
        </p:nvSpPr>
        <p:spPr>
          <a:xfrm flipH="false" flipV="false" rot="0">
            <a:off x="2338973" y="4344576"/>
            <a:ext cx="10221618" cy="5278578"/>
          </a:xfrm>
          <a:custGeom>
            <a:avLst/>
            <a:gdLst/>
            <a:ahLst/>
            <a:cxnLst/>
            <a:rect r="r" b="b" t="t" l="l"/>
            <a:pathLst>
              <a:path h="5278578" w="10221618">
                <a:moveTo>
                  <a:pt x="0" y="0"/>
                </a:moveTo>
                <a:lnTo>
                  <a:pt x="10221618" y="0"/>
                </a:lnTo>
                <a:lnTo>
                  <a:pt x="10221618" y="5278578"/>
                </a:lnTo>
                <a:lnTo>
                  <a:pt x="0" y="5278578"/>
                </a:lnTo>
                <a:lnTo>
                  <a:pt x="0" y="0"/>
                </a:lnTo>
                <a:close/>
              </a:path>
            </a:pathLst>
          </a:custGeom>
          <a:blipFill>
            <a:blip r:embed="rId20"/>
            <a:stretch>
              <a:fillRect l="0" t="0" r="0" b="0"/>
            </a:stretch>
          </a:blipFill>
        </p:spPr>
      </p:sp>
      <p:sp>
        <p:nvSpPr>
          <p:cNvPr name="TextBox 21" id="21"/>
          <p:cNvSpPr txBox="true"/>
          <p:nvPr/>
        </p:nvSpPr>
        <p:spPr>
          <a:xfrm rot="0">
            <a:off x="11428284" y="1200266"/>
            <a:ext cx="1370528" cy="269875"/>
          </a:xfrm>
          <a:prstGeom prst="rect">
            <a:avLst/>
          </a:prstGeom>
        </p:spPr>
        <p:txBody>
          <a:bodyPr anchor="t" rtlCol="false" tIns="0" lIns="0" bIns="0" rIns="0">
            <a:spAutoFit/>
          </a:bodyPr>
          <a:lstStyle/>
          <a:p>
            <a:pPr algn="ctr">
              <a:lnSpc>
                <a:spcPts val="2000"/>
              </a:lnSpc>
            </a:pPr>
            <a:r>
              <a:rPr lang="en-US" sz="2000">
                <a:solidFill>
                  <a:srgbClr val="27194D">
                    <a:alpha val="55686"/>
                  </a:srgbClr>
                </a:solidFill>
                <a:latin typeface="Open Sans"/>
                <a:ea typeface="Open Sans"/>
                <a:cs typeface="Open Sans"/>
                <a:sym typeface="Open Sans"/>
              </a:rPr>
              <a:t>LAYANAN</a:t>
            </a:r>
          </a:p>
        </p:txBody>
      </p:sp>
      <p:sp>
        <p:nvSpPr>
          <p:cNvPr name="TextBox 22" id="22"/>
          <p:cNvSpPr txBox="true"/>
          <p:nvPr/>
        </p:nvSpPr>
        <p:spPr>
          <a:xfrm rot="0">
            <a:off x="9810993" y="1200266"/>
            <a:ext cx="1293441" cy="269875"/>
          </a:xfrm>
          <a:prstGeom prst="rect">
            <a:avLst/>
          </a:prstGeom>
        </p:spPr>
        <p:txBody>
          <a:bodyPr anchor="t" rtlCol="false" tIns="0" lIns="0" bIns="0" rIns="0">
            <a:spAutoFit/>
          </a:bodyPr>
          <a:lstStyle/>
          <a:p>
            <a:pPr algn="ctr">
              <a:lnSpc>
                <a:spcPts val="2000"/>
              </a:lnSpc>
            </a:pPr>
            <a:r>
              <a:rPr lang="en-US" b="true" sz="2000">
                <a:solidFill>
                  <a:srgbClr val="5D4FCA"/>
                </a:solidFill>
                <a:latin typeface="Open Sans Bold"/>
                <a:ea typeface="Open Sans Bold"/>
                <a:cs typeface="Open Sans Bold"/>
                <a:sym typeface="Open Sans Bold"/>
              </a:rPr>
              <a:t>BERANDA</a:t>
            </a:r>
          </a:p>
        </p:txBody>
      </p:sp>
      <p:sp>
        <p:nvSpPr>
          <p:cNvPr name="TextBox 23" id="23"/>
          <p:cNvSpPr txBox="true"/>
          <p:nvPr/>
        </p:nvSpPr>
        <p:spPr>
          <a:xfrm rot="0">
            <a:off x="1847695" y="1109652"/>
            <a:ext cx="3115460" cy="422485"/>
          </a:xfrm>
          <a:prstGeom prst="rect">
            <a:avLst/>
          </a:prstGeom>
        </p:spPr>
        <p:txBody>
          <a:bodyPr anchor="t" rtlCol="false" tIns="0" lIns="0" bIns="0" rIns="0">
            <a:spAutoFit/>
          </a:bodyPr>
          <a:lstStyle/>
          <a:p>
            <a:pPr algn="l">
              <a:lnSpc>
                <a:spcPts val="3107"/>
              </a:lnSpc>
            </a:pPr>
            <a:r>
              <a:rPr lang="en-US" sz="2799" b="true">
                <a:solidFill>
                  <a:srgbClr val="5D4FCA"/>
                </a:solidFill>
                <a:latin typeface="Roboto Condensed Bold"/>
                <a:ea typeface="Roboto Condensed Bold"/>
                <a:cs typeface="Roboto Condensed Bold"/>
                <a:sym typeface="Roboto Condensed Bold"/>
              </a:rPr>
              <a:t>EKSPLORASI DATA</a:t>
            </a:r>
          </a:p>
        </p:txBody>
      </p:sp>
      <p:sp>
        <p:nvSpPr>
          <p:cNvPr name="TextBox 24" id="24"/>
          <p:cNvSpPr txBox="true"/>
          <p:nvPr/>
        </p:nvSpPr>
        <p:spPr>
          <a:xfrm rot="0">
            <a:off x="2338973" y="2752479"/>
            <a:ext cx="12868779" cy="1054780"/>
          </a:xfrm>
          <a:prstGeom prst="rect">
            <a:avLst/>
          </a:prstGeom>
        </p:spPr>
        <p:txBody>
          <a:bodyPr anchor="t" rtlCol="false" tIns="0" lIns="0" bIns="0" rIns="0">
            <a:spAutoFit/>
          </a:bodyPr>
          <a:lstStyle/>
          <a:p>
            <a:pPr algn="just">
              <a:lnSpc>
                <a:spcPts val="4339"/>
              </a:lnSpc>
            </a:pPr>
            <a:r>
              <a:rPr lang="en-US" sz="3099">
                <a:solidFill>
                  <a:srgbClr val="000000"/>
                </a:solidFill>
                <a:latin typeface="Open Sans"/>
                <a:ea typeface="Open Sans"/>
                <a:cs typeface="Open Sans"/>
                <a:sym typeface="Open Sans"/>
              </a:rPr>
              <a:t>Digunakan untuk melihat perbandingan antar kategori dalam bentuk proporsi.</a:t>
            </a:r>
          </a:p>
        </p:txBody>
      </p:sp>
      <p:sp>
        <p:nvSpPr>
          <p:cNvPr name="TextBox 25" id="25"/>
          <p:cNvSpPr txBox="true"/>
          <p:nvPr/>
        </p:nvSpPr>
        <p:spPr>
          <a:xfrm rot="0">
            <a:off x="13458040" y="1205248"/>
            <a:ext cx="1523008" cy="269831"/>
          </a:xfrm>
          <a:prstGeom prst="rect">
            <a:avLst/>
          </a:prstGeom>
        </p:spPr>
        <p:txBody>
          <a:bodyPr anchor="t" rtlCol="false" tIns="0" lIns="0" bIns="0" rIns="0">
            <a:spAutoFit/>
          </a:bodyPr>
          <a:lstStyle/>
          <a:p>
            <a:pPr algn="ctr">
              <a:lnSpc>
                <a:spcPts val="2000"/>
              </a:lnSpc>
              <a:spcBef>
                <a:spcPct val="0"/>
              </a:spcBef>
            </a:pPr>
            <a:r>
              <a:rPr lang="en-US" b="true" sz="2000">
                <a:solidFill>
                  <a:srgbClr val="FFF8E9"/>
                </a:solidFill>
                <a:latin typeface="Open Sans Bold"/>
                <a:ea typeface="Open Sans Bold"/>
                <a:cs typeface="Open Sans Bold"/>
                <a:sym typeface="Open Sans Bold"/>
              </a:rPr>
              <a:t>VISUALISASI</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FFF8E9"/>
        </a:solidFill>
      </p:bgPr>
    </p:bg>
    <p:spTree>
      <p:nvGrpSpPr>
        <p:cNvPr id="1" name=""/>
        <p:cNvGrpSpPr/>
        <p:nvPr/>
      </p:nvGrpSpPr>
      <p:grpSpPr>
        <a:xfrm>
          <a:off x="0" y="0"/>
          <a:ext cx="0" cy="0"/>
          <a:chOff x="0" y="0"/>
          <a:chExt cx="0" cy="0"/>
        </a:xfrm>
      </p:grpSpPr>
      <p:grpSp>
        <p:nvGrpSpPr>
          <p:cNvPr name="Group 2" id="2"/>
          <p:cNvGrpSpPr/>
          <p:nvPr/>
        </p:nvGrpSpPr>
        <p:grpSpPr>
          <a:xfrm rot="0">
            <a:off x="13138009" y="1035414"/>
            <a:ext cx="4121291" cy="571004"/>
            <a:chOff x="0" y="0"/>
            <a:chExt cx="1370603" cy="189897"/>
          </a:xfrm>
        </p:grpSpPr>
        <p:sp>
          <p:nvSpPr>
            <p:cNvPr name="Freeform 3" id="3"/>
            <p:cNvSpPr/>
            <p:nvPr/>
          </p:nvSpPr>
          <p:spPr>
            <a:xfrm flipH="false" flipV="false" rot="0">
              <a:off x="0" y="0"/>
              <a:ext cx="1370603" cy="189897"/>
            </a:xfrm>
            <a:custGeom>
              <a:avLst/>
              <a:gdLst/>
              <a:ahLst/>
              <a:cxnLst/>
              <a:rect r="r" b="b" t="t" l="l"/>
              <a:pathLst>
                <a:path h="189897" w="1370603">
                  <a:moveTo>
                    <a:pt x="94948" y="0"/>
                  </a:moveTo>
                  <a:lnTo>
                    <a:pt x="1275655" y="0"/>
                  </a:lnTo>
                  <a:cubicBezTo>
                    <a:pt x="1300837" y="0"/>
                    <a:pt x="1324987" y="10003"/>
                    <a:pt x="1342794" y="27810"/>
                  </a:cubicBezTo>
                  <a:cubicBezTo>
                    <a:pt x="1360600" y="45616"/>
                    <a:pt x="1370603" y="69767"/>
                    <a:pt x="1370603" y="94948"/>
                  </a:cubicBezTo>
                  <a:lnTo>
                    <a:pt x="1370603" y="94948"/>
                  </a:lnTo>
                  <a:cubicBezTo>
                    <a:pt x="1370603" y="147387"/>
                    <a:pt x="1328094" y="189897"/>
                    <a:pt x="1275655" y="189897"/>
                  </a:cubicBezTo>
                  <a:lnTo>
                    <a:pt x="94948" y="189897"/>
                  </a:lnTo>
                  <a:cubicBezTo>
                    <a:pt x="42510" y="189897"/>
                    <a:pt x="0" y="147387"/>
                    <a:pt x="0" y="94948"/>
                  </a:cubicBezTo>
                  <a:lnTo>
                    <a:pt x="0" y="94948"/>
                  </a:lnTo>
                  <a:cubicBezTo>
                    <a:pt x="0" y="42510"/>
                    <a:pt x="42510" y="0"/>
                    <a:pt x="94948" y="0"/>
                  </a:cubicBezTo>
                  <a:close/>
                </a:path>
              </a:pathLst>
            </a:custGeom>
            <a:solidFill>
              <a:srgbClr val="FAA607"/>
            </a:solidFill>
            <a:ln cap="rnd">
              <a:noFill/>
              <a:prstDash val="solid"/>
              <a:round/>
            </a:ln>
          </p:spPr>
        </p:sp>
        <p:sp>
          <p:nvSpPr>
            <p:cNvPr name="TextBox 4" id="4"/>
            <p:cNvSpPr txBox="true"/>
            <p:nvPr/>
          </p:nvSpPr>
          <p:spPr>
            <a:xfrm>
              <a:off x="0" y="-57150"/>
              <a:ext cx="1370603" cy="247047"/>
            </a:xfrm>
            <a:prstGeom prst="rect">
              <a:avLst/>
            </a:prstGeom>
          </p:spPr>
          <p:txBody>
            <a:bodyPr anchor="ctr" rtlCol="false" tIns="50800" lIns="50800" bIns="50800" rIns="50800"/>
            <a:lstStyle/>
            <a:p>
              <a:pPr algn="ctr" marL="0" indent="0" lvl="0">
                <a:lnSpc>
                  <a:spcPts val="2824"/>
                </a:lnSpc>
                <a:spcBef>
                  <a:spcPct val="0"/>
                </a:spcBef>
              </a:pPr>
            </a:p>
          </p:txBody>
        </p:sp>
      </p:grpSp>
      <p:sp>
        <p:nvSpPr>
          <p:cNvPr name="Freeform 5" id="5"/>
          <p:cNvSpPr/>
          <p:nvPr/>
        </p:nvSpPr>
        <p:spPr>
          <a:xfrm flipH="false" flipV="false" rot="0">
            <a:off x="16815378" y="1166754"/>
            <a:ext cx="296763" cy="308325"/>
          </a:xfrm>
          <a:custGeom>
            <a:avLst/>
            <a:gdLst/>
            <a:ahLst/>
            <a:cxnLst/>
            <a:rect r="r" b="b" t="t" l="l"/>
            <a:pathLst>
              <a:path h="308325" w="296763">
                <a:moveTo>
                  <a:pt x="0" y="0"/>
                </a:moveTo>
                <a:lnTo>
                  <a:pt x="296763" y="0"/>
                </a:lnTo>
                <a:lnTo>
                  <a:pt x="296763" y="308325"/>
                </a:lnTo>
                <a:lnTo>
                  <a:pt x="0" y="30832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2145208">
            <a:off x="-4074482" y="2541597"/>
            <a:ext cx="14525775" cy="6496983"/>
          </a:xfrm>
          <a:custGeom>
            <a:avLst/>
            <a:gdLst/>
            <a:ahLst/>
            <a:cxnLst/>
            <a:rect r="r" b="b" t="t" l="l"/>
            <a:pathLst>
              <a:path h="6496983" w="14525775">
                <a:moveTo>
                  <a:pt x="0" y="0"/>
                </a:moveTo>
                <a:lnTo>
                  <a:pt x="14525775" y="0"/>
                </a:lnTo>
                <a:lnTo>
                  <a:pt x="14525775" y="6496983"/>
                </a:lnTo>
                <a:lnTo>
                  <a:pt x="0" y="64969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2145208">
            <a:off x="12600536" y="5752755"/>
            <a:ext cx="8429684" cy="3770368"/>
          </a:xfrm>
          <a:custGeom>
            <a:avLst/>
            <a:gdLst/>
            <a:ahLst/>
            <a:cxnLst/>
            <a:rect r="r" b="b" t="t" l="l"/>
            <a:pathLst>
              <a:path h="3770368" w="8429684">
                <a:moveTo>
                  <a:pt x="0" y="0"/>
                </a:moveTo>
                <a:lnTo>
                  <a:pt x="8429684" y="0"/>
                </a:lnTo>
                <a:lnTo>
                  <a:pt x="8429684" y="3770368"/>
                </a:lnTo>
                <a:lnTo>
                  <a:pt x="0" y="377036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028700" y="1049653"/>
            <a:ext cx="647545" cy="495666"/>
          </a:xfrm>
          <a:custGeom>
            <a:avLst/>
            <a:gdLst/>
            <a:ahLst/>
            <a:cxnLst/>
            <a:rect r="r" b="b" t="t" l="l"/>
            <a:pathLst>
              <a:path h="495666" w="647545">
                <a:moveTo>
                  <a:pt x="0" y="0"/>
                </a:moveTo>
                <a:lnTo>
                  <a:pt x="647545" y="0"/>
                </a:lnTo>
                <a:lnTo>
                  <a:pt x="647545" y="495666"/>
                </a:lnTo>
                <a:lnTo>
                  <a:pt x="0" y="49566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10577904">
            <a:off x="15336566" y="8524547"/>
            <a:ext cx="3845468" cy="4114800"/>
          </a:xfrm>
          <a:custGeom>
            <a:avLst/>
            <a:gdLst/>
            <a:ahLst/>
            <a:cxnLst/>
            <a:rect r="r" b="b" t="t" l="l"/>
            <a:pathLst>
              <a:path h="4114800" w="3845468">
                <a:moveTo>
                  <a:pt x="0" y="0"/>
                </a:moveTo>
                <a:lnTo>
                  <a:pt x="3845468" y="0"/>
                </a:lnTo>
                <a:lnTo>
                  <a:pt x="3845468"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6034560">
            <a:off x="-1502391" y="7200900"/>
            <a:ext cx="3845468" cy="4114800"/>
          </a:xfrm>
          <a:custGeom>
            <a:avLst/>
            <a:gdLst/>
            <a:ahLst/>
            <a:cxnLst/>
            <a:rect r="r" b="b" t="t" l="l"/>
            <a:pathLst>
              <a:path h="4114800" w="3845468">
                <a:moveTo>
                  <a:pt x="0" y="0"/>
                </a:moveTo>
                <a:lnTo>
                  <a:pt x="3845468" y="0"/>
                </a:lnTo>
                <a:lnTo>
                  <a:pt x="384546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4124654">
            <a:off x="16866407" y="3148635"/>
            <a:ext cx="626952" cy="392130"/>
          </a:xfrm>
          <a:custGeom>
            <a:avLst/>
            <a:gdLst/>
            <a:ahLst/>
            <a:cxnLst/>
            <a:rect r="r" b="b" t="t" l="l"/>
            <a:pathLst>
              <a:path h="392130" w="626952">
                <a:moveTo>
                  <a:pt x="0" y="0"/>
                </a:moveTo>
                <a:lnTo>
                  <a:pt x="626952" y="0"/>
                </a:lnTo>
                <a:lnTo>
                  <a:pt x="626952" y="392130"/>
                </a:lnTo>
                <a:lnTo>
                  <a:pt x="0" y="39213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2" id="12"/>
          <p:cNvSpPr/>
          <p:nvPr/>
        </p:nvSpPr>
        <p:spPr>
          <a:xfrm flipH="false" flipV="false" rot="-9344170">
            <a:off x="1659141" y="8782232"/>
            <a:ext cx="626952" cy="392130"/>
          </a:xfrm>
          <a:custGeom>
            <a:avLst/>
            <a:gdLst/>
            <a:ahLst/>
            <a:cxnLst/>
            <a:rect r="r" b="b" t="t" l="l"/>
            <a:pathLst>
              <a:path h="392130" w="626952">
                <a:moveTo>
                  <a:pt x="0" y="0"/>
                </a:moveTo>
                <a:lnTo>
                  <a:pt x="626952" y="0"/>
                </a:lnTo>
                <a:lnTo>
                  <a:pt x="626952" y="392130"/>
                </a:lnTo>
                <a:lnTo>
                  <a:pt x="0" y="39213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3" id="13"/>
          <p:cNvSpPr/>
          <p:nvPr/>
        </p:nvSpPr>
        <p:spPr>
          <a:xfrm flipH="false" flipV="false" rot="-7638806">
            <a:off x="692725" y="3680746"/>
            <a:ext cx="1034860" cy="383329"/>
          </a:xfrm>
          <a:custGeom>
            <a:avLst/>
            <a:gdLst/>
            <a:ahLst/>
            <a:cxnLst/>
            <a:rect r="r" b="b" t="t" l="l"/>
            <a:pathLst>
              <a:path h="383329" w="1034860">
                <a:moveTo>
                  <a:pt x="0" y="0"/>
                </a:moveTo>
                <a:lnTo>
                  <a:pt x="1034860" y="0"/>
                </a:lnTo>
                <a:lnTo>
                  <a:pt x="1034860" y="383329"/>
                </a:lnTo>
                <a:lnTo>
                  <a:pt x="0" y="383329"/>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4" id="14"/>
          <p:cNvSpPr/>
          <p:nvPr/>
        </p:nvSpPr>
        <p:spPr>
          <a:xfrm flipH="false" flipV="false" rot="8999904">
            <a:off x="9220070" y="9006778"/>
            <a:ext cx="1034860" cy="383329"/>
          </a:xfrm>
          <a:custGeom>
            <a:avLst/>
            <a:gdLst/>
            <a:ahLst/>
            <a:cxnLst/>
            <a:rect r="r" b="b" t="t" l="l"/>
            <a:pathLst>
              <a:path h="383329" w="1034860">
                <a:moveTo>
                  <a:pt x="0" y="0"/>
                </a:moveTo>
                <a:lnTo>
                  <a:pt x="1034860" y="0"/>
                </a:lnTo>
                <a:lnTo>
                  <a:pt x="1034860" y="383329"/>
                </a:lnTo>
                <a:lnTo>
                  <a:pt x="0" y="383329"/>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grpSp>
        <p:nvGrpSpPr>
          <p:cNvPr name="Group 15" id="15"/>
          <p:cNvGrpSpPr/>
          <p:nvPr/>
        </p:nvGrpSpPr>
        <p:grpSpPr>
          <a:xfrm rot="0">
            <a:off x="1972617" y="2222666"/>
            <a:ext cx="6589085" cy="377803"/>
            <a:chOff x="0" y="0"/>
            <a:chExt cx="8785446" cy="503737"/>
          </a:xfrm>
        </p:grpSpPr>
        <p:grpSp>
          <p:nvGrpSpPr>
            <p:cNvPr name="Group 16" id="16"/>
            <p:cNvGrpSpPr/>
            <p:nvPr/>
          </p:nvGrpSpPr>
          <p:grpSpPr>
            <a:xfrm rot="0">
              <a:off x="0" y="76200"/>
              <a:ext cx="289415" cy="289415"/>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A607"/>
              </a:solidFill>
            </p:spPr>
          </p:sp>
          <p:sp>
            <p:nvSpPr>
              <p:cNvPr name="TextBox 18" id="18"/>
              <p:cNvSpPr txBox="true"/>
              <p:nvPr/>
            </p:nvSpPr>
            <p:spPr>
              <a:xfrm>
                <a:off x="76200" y="104775"/>
                <a:ext cx="660400" cy="631825"/>
              </a:xfrm>
              <a:prstGeom prst="rect">
                <a:avLst/>
              </a:prstGeom>
            </p:spPr>
            <p:txBody>
              <a:bodyPr anchor="ctr" rtlCol="false" tIns="50800" lIns="50800" bIns="50800" rIns="50800"/>
              <a:lstStyle/>
              <a:p>
                <a:pPr algn="ctr">
                  <a:lnSpc>
                    <a:spcPts val="2000"/>
                  </a:lnSpc>
                </a:pPr>
              </a:p>
            </p:txBody>
          </p:sp>
        </p:grpSp>
        <p:sp>
          <p:nvSpPr>
            <p:cNvPr name="TextBox 19" id="19"/>
            <p:cNvSpPr txBox="true"/>
            <p:nvPr/>
          </p:nvSpPr>
          <p:spPr>
            <a:xfrm rot="0">
              <a:off x="401700" y="47625"/>
              <a:ext cx="8383746" cy="456112"/>
            </a:xfrm>
            <a:prstGeom prst="rect">
              <a:avLst/>
            </a:prstGeom>
          </p:spPr>
          <p:txBody>
            <a:bodyPr anchor="t" rtlCol="false" tIns="0" lIns="0" bIns="0" rIns="0">
              <a:spAutoFit/>
            </a:bodyPr>
            <a:lstStyle/>
            <a:p>
              <a:pPr algn="l">
                <a:lnSpc>
                  <a:spcPts val="2499"/>
                </a:lnSpc>
              </a:pPr>
              <a:r>
                <a:rPr lang="en-US" b="true" sz="2499">
                  <a:solidFill>
                    <a:srgbClr val="5D4FCA"/>
                  </a:solidFill>
                  <a:latin typeface="Open Sans Bold"/>
                  <a:ea typeface="Open Sans Bold"/>
                  <a:cs typeface="Open Sans Bold"/>
                  <a:sym typeface="Open Sans Bold"/>
                </a:rPr>
                <a:t>STACKED BAR CHART</a:t>
              </a:r>
            </a:p>
          </p:txBody>
        </p:sp>
      </p:grpSp>
      <p:sp>
        <p:nvSpPr>
          <p:cNvPr name="Freeform 20" id="20"/>
          <p:cNvSpPr/>
          <p:nvPr/>
        </p:nvSpPr>
        <p:spPr>
          <a:xfrm flipH="false" flipV="false" rot="0">
            <a:off x="1847695" y="2914759"/>
            <a:ext cx="6714007" cy="3825560"/>
          </a:xfrm>
          <a:custGeom>
            <a:avLst/>
            <a:gdLst/>
            <a:ahLst/>
            <a:cxnLst/>
            <a:rect r="r" b="b" t="t" l="l"/>
            <a:pathLst>
              <a:path h="3825560" w="6714007">
                <a:moveTo>
                  <a:pt x="0" y="0"/>
                </a:moveTo>
                <a:lnTo>
                  <a:pt x="6714007" y="0"/>
                </a:lnTo>
                <a:lnTo>
                  <a:pt x="6714007" y="3825560"/>
                </a:lnTo>
                <a:lnTo>
                  <a:pt x="0" y="3825560"/>
                </a:lnTo>
                <a:lnTo>
                  <a:pt x="0" y="0"/>
                </a:lnTo>
                <a:close/>
              </a:path>
            </a:pathLst>
          </a:custGeom>
          <a:blipFill>
            <a:blip r:embed="rId20"/>
            <a:stretch>
              <a:fillRect l="0" t="0" r="0" b="0"/>
            </a:stretch>
          </a:blipFill>
        </p:spPr>
      </p:sp>
      <p:sp>
        <p:nvSpPr>
          <p:cNvPr name="Freeform 21" id="21"/>
          <p:cNvSpPr/>
          <p:nvPr/>
        </p:nvSpPr>
        <p:spPr>
          <a:xfrm flipH="false" flipV="false" rot="0">
            <a:off x="9193563" y="2795118"/>
            <a:ext cx="7317726" cy="4195496"/>
          </a:xfrm>
          <a:custGeom>
            <a:avLst/>
            <a:gdLst/>
            <a:ahLst/>
            <a:cxnLst/>
            <a:rect r="r" b="b" t="t" l="l"/>
            <a:pathLst>
              <a:path h="4195496" w="7317726">
                <a:moveTo>
                  <a:pt x="0" y="0"/>
                </a:moveTo>
                <a:lnTo>
                  <a:pt x="7317726" y="0"/>
                </a:lnTo>
                <a:lnTo>
                  <a:pt x="7317726" y="4195496"/>
                </a:lnTo>
                <a:lnTo>
                  <a:pt x="0" y="4195496"/>
                </a:lnTo>
                <a:lnTo>
                  <a:pt x="0" y="0"/>
                </a:lnTo>
                <a:close/>
              </a:path>
            </a:pathLst>
          </a:custGeom>
          <a:blipFill>
            <a:blip r:embed="rId21"/>
            <a:stretch>
              <a:fillRect l="0" t="0" r="0" b="0"/>
            </a:stretch>
          </a:blipFill>
        </p:spPr>
      </p:sp>
      <p:sp>
        <p:nvSpPr>
          <p:cNvPr name="TextBox 22" id="22"/>
          <p:cNvSpPr txBox="true"/>
          <p:nvPr/>
        </p:nvSpPr>
        <p:spPr>
          <a:xfrm rot="0">
            <a:off x="11428284" y="1200266"/>
            <a:ext cx="1370528" cy="269875"/>
          </a:xfrm>
          <a:prstGeom prst="rect">
            <a:avLst/>
          </a:prstGeom>
        </p:spPr>
        <p:txBody>
          <a:bodyPr anchor="t" rtlCol="false" tIns="0" lIns="0" bIns="0" rIns="0">
            <a:spAutoFit/>
          </a:bodyPr>
          <a:lstStyle/>
          <a:p>
            <a:pPr algn="ctr">
              <a:lnSpc>
                <a:spcPts val="2000"/>
              </a:lnSpc>
            </a:pPr>
            <a:r>
              <a:rPr lang="en-US" sz="2000">
                <a:solidFill>
                  <a:srgbClr val="27194D">
                    <a:alpha val="55686"/>
                  </a:srgbClr>
                </a:solidFill>
                <a:latin typeface="Open Sans"/>
                <a:ea typeface="Open Sans"/>
                <a:cs typeface="Open Sans"/>
                <a:sym typeface="Open Sans"/>
              </a:rPr>
              <a:t>LAYANAN</a:t>
            </a:r>
          </a:p>
        </p:txBody>
      </p:sp>
      <p:sp>
        <p:nvSpPr>
          <p:cNvPr name="TextBox 23" id="23"/>
          <p:cNvSpPr txBox="true"/>
          <p:nvPr/>
        </p:nvSpPr>
        <p:spPr>
          <a:xfrm rot="0">
            <a:off x="9810993" y="1200266"/>
            <a:ext cx="1293441" cy="269875"/>
          </a:xfrm>
          <a:prstGeom prst="rect">
            <a:avLst/>
          </a:prstGeom>
        </p:spPr>
        <p:txBody>
          <a:bodyPr anchor="t" rtlCol="false" tIns="0" lIns="0" bIns="0" rIns="0">
            <a:spAutoFit/>
          </a:bodyPr>
          <a:lstStyle/>
          <a:p>
            <a:pPr algn="ctr">
              <a:lnSpc>
                <a:spcPts val="2000"/>
              </a:lnSpc>
            </a:pPr>
            <a:r>
              <a:rPr lang="en-US" b="true" sz="2000">
                <a:solidFill>
                  <a:srgbClr val="5D4FCA"/>
                </a:solidFill>
                <a:latin typeface="Open Sans Bold"/>
                <a:ea typeface="Open Sans Bold"/>
                <a:cs typeface="Open Sans Bold"/>
                <a:sym typeface="Open Sans Bold"/>
              </a:rPr>
              <a:t>BERANDA</a:t>
            </a:r>
          </a:p>
        </p:txBody>
      </p:sp>
      <p:sp>
        <p:nvSpPr>
          <p:cNvPr name="TextBox 24" id="24"/>
          <p:cNvSpPr txBox="true"/>
          <p:nvPr/>
        </p:nvSpPr>
        <p:spPr>
          <a:xfrm rot="0">
            <a:off x="1847695" y="1109652"/>
            <a:ext cx="3115460" cy="422485"/>
          </a:xfrm>
          <a:prstGeom prst="rect">
            <a:avLst/>
          </a:prstGeom>
        </p:spPr>
        <p:txBody>
          <a:bodyPr anchor="t" rtlCol="false" tIns="0" lIns="0" bIns="0" rIns="0">
            <a:spAutoFit/>
          </a:bodyPr>
          <a:lstStyle/>
          <a:p>
            <a:pPr algn="l">
              <a:lnSpc>
                <a:spcPts val="3107"/>
              </a:lnSpc>
            </a:pPr>
            <a:r>
              <a:rPr lang="en-US" sz="2799" b="true">
                <a:solidFill>
                  <a:srgbClr val="5D4FCA"/>
                </a:solidFill>
                <a:latin typeface="Roboto Condensed Bold"/>
                <a:ea typeface="Roboto Condensed Bold"/>
                <a:cs typeface="Roboto Condensed Bold"/>
                <a:sym typeface="Roboto Condensed Bold"/>
              </a:rPr>
              <a:t>EKSPLORASI DATA</a:t>
            </a:r>
          </a:p>
        </p:txBody>
      </p:sp>
      <p:sp>
        <p:nvSpPr>
          <p:cNvPr name="TextBox 25" id="25"/>
          <p:cNvSpPr txBox="true"/>
          <p:nvPr/>
        </p:nvSpPr>
        <p:spPr>
          <a:xfrm rot="0">
            <a:off x="13458040" y="1205248"/>
            <a:ext cx="1523008" cy="269831"/>
          </a:xfrm>
          <a:prstGeom prst="rect">
            <a:avLst/>
          </a:prstGeom>
        </p:spPr>
        <p:txBody>
          <a:bodyPr anchor="t" rtlCol="false" tIns="0" lIns="0" bIns="0" rIns="0">
            <a:spAutoFit/>
          </a:bodyPr>
          <a:lstStyle/>
          <a:p>
            <a:pPr algn="ctr">
              <a:lnSpc>
                <a:spcPts val="2000"/>
              </a:lnSpc>
              <a:spcBef>
                <a:spcPct val="0"/>
              </a:spcBef>
            </a:pPr>
            <a:r>
              <a:rPr lang="en-US" b="true" sz="2000">
                <a:solidFill>
                  <a:srgbClr val="FFF8E9"/>
                </a:solidFill>
                <a:latin typeface="Open Sans Bold"/>
                <a:ea typeface="Open Sans Bold"/>
                <a:cs typeface="Open Sans Bold"/>
                <a:sym typeface="Open Sans Bold"/>
              </a:rPr>
              <a:t>VISUALISASI</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FFF8E9"/>
        </a:solidFill>
      </p:bgPr>
    </p:bg>
    <p:spTree>
      <p:nvGrpSpPr>
        <p:cNvPr id="1" name=""/>
        <p:cNvGrpSpPr/>
        <p:nvPr/>
      </p:nvGrpSpPr>
      <p:grpSpPr>
        <a:xfrm>
          <a:off x="0" y="0"/>
          <a:ext cx="0" cy="0"/>
          <a:chOff x="0" y="0"/>
          <a:chExt cx="0" cy="0"/>
        </a:xfrm>
      </p:grpSpPr>
      <p:grpSp>
        <p:nvGrpSpPr>
          <p:cNvPr name="Group 2" id="2"/>
          <p:cNvGrpSpPr/>
          <p:nvPr/>
        </p:nvGrpSpPr>
        <p:grpSpPr>
          <a:xfrm rot="0">
            <a:off x="13138009" y="1035414"/>
            <a:ext cx="4121291" cy="571004"/>
            <a:chOff x="0" y="0"/>
            <a:chExt cx="1370603" cy="189897"/>
          </a:xfrm>
        </p:grpSpPr>
        <p:sp>
          <p:nvSpPr>
            <p:cNvPr name="Freeform 3" id="3"/>
            <p:cNvSpPr/>
            <p:nvPr/>
          </p:nvSpPr>
          <p:spPr>
            <a:xfrm flipH="false" flipV="false" rot="0">
              <a:off x="0" y="0"/>
              <a:ext cx="1370603" cy="189897"/>
            </a:xfrm>
            <a:custGeom>
              <a:avLst/>
              <a:gdLst/>
              <a:ahLst/>
              <a:cxnLst/>
              <a:rect r="r" b="b" t="t" l="l"/>
              <a:pathLst>
                <a:path h="189897" w="1370603">
                  <a:moveTo>
                    <a:pt x="94948" y="0"/>
                  </a:moveTo>
                  <a:lnTo>
                    <a:pt x="1275655" y="0"/>
                  </a:lnTo>
                  <a:cubicBezTo>
                    <a:pt x="1300837" y="0"/>
                    <a:pt x="1324987" y="10003"/>
                    <a:pt x="1342794" y="27810"/>
                  </a:cubicBezTo>
                  <a:cubicBezTo>
                    <a:pt x="1360600" y="45616"/>
                    <a:pt x="1370603" y="69767"/>
                    <a:pt x="1370603" y="94948"/>
                  </a:cubicBezTo>
                  <a:lnTo>
                    <a:pt x="1370603" y="94948"/>
                  </a:lnTo>
                  <a:cubicBezTo>
                    <a:pt x="1370603" y="147387"/>
                    <a:pt x="1328094" y="189897"/>
                    <a:pt x="1275655" y="189897"/>
                  </a:cubicBezTo>
                  <a:lnTo>
                    <a:pt x="94948" y="189897"/>
                  </a:lnTo>
                  <a:cubicBezTo>
                    <a:pt x="42510" y="189897"/>
                    <a:pt x="0" y="147387"/>
                    <a:pt x="0" y="94948"/>
                  </a:cubicBezTo>
                  <a:lnTo>
                    <a:pt x="0" y="94948"/>
                  </a:lnTo>
                  <a:cubicBezTo>
                    <a:pt x="0" y="42510"/>
                    <a:pt x="42510" y="0"/>
                    <a:pt x="94948" y="0"/>
                  </a:cubicBezTo>
                  <a:close/>
                </a:path>
              </a:pathLst>
            </a:custGeom>
            <a:solidFill>
              <a:srgbClr val="FAA607"/>
            </a:solidFill>
            <a:ln cap="rnd">
              <a:noFill/>
              <a:prstDash val="solid"/>
              <a:round/>
            </a:ln>
          </p:spPr>
        </p:sp>
        <p:sp>
          <p:nvSpPr>
            <p:cNvPr name="TextBox 4" id="4"/>
            <p:cNvSpPr txBox="true"/>
            <p:nvPr/>
          </p:nvSpPr>
          <p:spPr>
            <a:xfrm>
              <a:off x="0" y="-57150"/>
              <a:ext cx="1370603" cy="247047"/>
            </a:xfrm>
            <a:prstGeom prst="rect">
              <a:avLst/>
            </a:prstGeom>
          </p:spPr>
          <p:txBody>
            <a:bodyPr anchor="ctr" rtlCol="false" tIns="50800" lIns="50800" bIns="50800" rIns="50800"/>
            <a:lstStyle/>
            <a:p>
              <a:pPr algn="ctr" marL="0" indent="0" lvl="0">
                <a:lnSpc>
                  <a:spcPts val="2824"/>
                </a:lnSpc>
                <a:spcBef>
                  <a:spcPct val="0"/>
                </a:spcBef>
              </a:pPr>
            </a:p>
          </p:txBody>
        </p:sp>
      </p:grpSp>
      <p:sp>
        <p:nvSpPr>
          <p:cNvPr name="Freeform 5" id="5"/>
          <p:cNvSpPr/>
          <p:nvPr/>
        </p:nvSpPr>
        <p:spPr>
          <a:xfrm flipH="false" flipV="false" rot="0">
            <a:off x="16815378" y="1166754"/>
            <a:ext cx="296763" cy="308325"/>
          </a:xfrm>
          <a:custGeom>
            <a:avLst/>
            <a:gdLst/>
            <a:ahLst/>
            <a:cxnLst/>
            <a:rect r="r" b="b" t="t" l="l"/>
            <a:pathLst>
              <a:path h="308325" w="296763">
                <a:moveTo>
                  <a:pt x="0" y="0"/>
                </a:moveTo>
                <a:lnTo>
                  <a:pt x="296763" y="0"/>
                </a:lnTo>
                <a:lnTo>
                  <a:pt x="296763" y="308325"/>
                </a:lnTo>
                <a:lnTo>
                  <a:pt x="0" y="30832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2145208">
            <a:off x="-4074482" y="2541597"/>
            <a:ext cx="14525775" cy="6496983"/>
          </a:xfrm>
          <a:custGeom>
            <a:avLst/>
            <a:gdLst/>
            <a:ahLst/>
            <a:cxnLst/>
            <a:rect r="r" b="b" t="t" l="l"/>
            <a:pathLst>
              <a:path h="6496983" w="14525775">
                <a:moveTo>
                  <a:pt x="0" y="0"/>
                </a:moveTo>
                <a:lnTo>
                  <a:pt x="14525775" y="0"/>
                </a:lnTo>
                <a:lnTo>
                  <a:pt x="14525775" y="6496983"/>
                </a:lnTo>
                <a:lnTo>
                  <a:pt x="0" y="64969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2145208">
            <a:off x="12600536" y="5752755"/>
            <a:ext cx="8429684" cy="3770368"/>
          </a:xfrm>
          <a:custGeom>
            <a:avLst/>
            <a:gdLst/>
            <a:ahLst/>
            <a:cxnLst/>
            <a:rect r="r" b="b" t="t" l="l"/>
            <a:pathLst>
              <a:path h="3770368" w="8429684">
                <a:moveTo>
                  <a:pt x="0" y="0"/>
                </a:moveTo>
                <a:lnTo>
                  <a:pt x="8429684" y="0"/>
                </a:lnTo>
                <a:lnTo>
                  <a:pt x="8429684" y="3770368"/>
                </a:lnTo>
                <a:lnTo>
                  <a:pt x="0" y="377036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028700" y="1049653"/>
            <a:ext cx="647545" cy="495666"/>
          </a:xfrm>
          <a:custGeom>
            <a:avLst/>
            <a:gdLst/>
            <a:ahLst/>
            <a:cxnLst/>
            <a:rect r="r" b="b" t="t" l="l"/>
            <a:pathLst>
              <a:path h="495666" w="647545">
                <a:moveTo>
                  <a:pt x="0" y="0"/>
                </a:moveTo>
                <a:lnTo>
                  <a:pt x="647545" y="0"/>
                </a:lnTo>
                <a:lnTo>
                  <a:pt x="647545" y="495666"/>
                </a:lnTo>
                <a:lnTo>
                  <a:pt x="0" y="49566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10577904">
            <a:off x="15336566" y="8524547"/>
            <a:ext cx="3845468" cy="4114800"/>
          </a:xfrm>
          <a:custGeom>
            <a:avLst/>
            <a:gdLst/>
            <a:ahLst/>
            <a:cxnLst/>
            <a:rect r="r" b="b" t="t" l="l"/>
            <a:pathLst>
              <a:path h="4114800" w="3845468">
                <a:moveTo>
                  <a:pt x="0" y="0"/>
                </a:moveTo>
                <a:lnTo>
                  <a:pt x="3845468" y="0"/>
                </a:lnTo>
                <a:lnTo>
                  <a:pt x="3845468"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6034560">
            <a:off x="-1502391" y="7200900"/>
            <a:ext cx="3845468" cy="4114800"/>
          </a:xfrm>
          <a:custGeom>
            <a:avLst/>
            <a:gdLst/>
            <a:ahLst/>
            <a:cxnLst/>
            <a:rect r="r" b="b" t="t" l="l"/>
            <a:pathLst>
              <a:path h="4114800" w="3845468">
                <a:moveTo>
                  <a:pt x="0" y="0"/>
                </a:moveTo>
                <a:lnTo>
                  <a:pt x="3845468" y="0"/>
                </a:lnTo>
                <a:lnTo>
                  <a:pt x="384546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4124654">
            <a:off x="16866407" y="3148635"/>
            <a:ext cx="626952" cy="392130"/>
          </a:xfrm>
          <a:custGeom>
            <a:avLst/>
            <a:gdLst/>
            <a:ahLst/>
            <a:cxnLst/>
            <a:rect r="r" b="b" t="t" l="l"/>
            <a:pathLst>
              <a:path h="392130" w="626952">
                <a:moveTo>
                  <a:pt x="0" y="0"/>
                </a:moveTo>
                <a:lnTo>
                  <a:pt x="626952" y="0"/>
                </a:lnTo>
                <a:lnTo>
                  <a:pt x="626952" y="392130"/>
                </a:lnTo>
                <a:lnTo>
                  <a:pt x="0" y="39213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2" id="12"/>
          <p:cNvSpPr/>
          <p:nvPr/>
        </p:nvSpPr>
        <p:spPr>
          <a:xfrm flipH="false" flipV="false" rot="-9344170">
            <a:off x="1659141" y="8782232"/>
            <a:ext cx="626952" cy="392130"/>
          </a:xfrm>
          <a:custGeom>
            <a:avLst/>
            <a:gdLst/>
            <a:ahLst/>
            <a:cxnLst/>
            <a:rect r="r" b="b" t="t" l="l"/>
            <a:pathLst>
              <a:path h="392130" w="626952">
                <a:moveTo>
                  <a:pt x="0" y="0"/>
                </a:moveTo>
                <a:lnTo>
                  <a:pt x="626952" y="0"/>
                </a:lnTo>
                <a:lnTo>
                  <a:pt x="626952" y="392130"/>
                </a:lnTo>
                <a:lnTo>
                  <a:pt x="0" y="39213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3" id="13"/>
          <p:cNvSpPr/>
          <p:nvPr/>
        </p:nvSpPr>
        <p:spPr>
          <a:xfrm flipH="false" flipV="false" rot="-7638806">
            <a:off x="692725" y="3680746"/>
            <a:ext cx="1034860" cy="383329"/>
          </a:xfrm>
          <a:custGeom>
            <a:avLst/>
            <a:gdLst/>
            <a:ahLst/>
            <a:cxnLst/>
            <a:rect r="r" b="b" t="t" l="l"/>
            <a:pathLst>
              <a:path h="383329" w="1034860">
                <a:moveTo>
                  <a:pt x="0" y="0"/>
                </a:moveTo>
                <a:lnTo>
                  <a:pt x="1034860" y="0"/>
                </a:lnTo>
                <a:lnTo>
                  <a:pt x="1034860" y="383329"/>
                </a:lnTo>
                <a:lnTo>
                  <a:pt x="0" y="383329"/>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4" id="14"/>
          <p:cNvSpPr/>
          <p:nvPr/>
        </p:nvSpPr>
        <p:spPr>
          <a:xfrm flipH="false" flipV="false" rot="8999904">
            <a:off x="9220070" y="9006778"/>
            <a:ext cx="1034860" cy="383329"/>
          </a:xfrm>
          <a:custGeom>
            <a:avLst/>
            <a:gdLst/>
            <a:ahLst/>
            <a:cxnLst/>
            <a:rect r="r" b="b" t="t" l="l"/>
            <a:pathLst>
              <a:path h="383329" w="1034860">
                <a:moveTo>
                  <a:pt x="0" y="0"/>
                </a:moveTo>
                <a:lnTo>
                  <a:pt x="1034860" y="0"/>
                </a:lnTo>
                <a:lnTo>
                  <a:pt x="1034860" y="383329"/>
                </a:lnTo>
                <a:lnTo>
                  <a:pt x="0" y="383329"/>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grpSp>
        <p:nvGrpSpPr>
          <p:cNvPr name="Group 15" id="15"/>
          <p:cNvGrpSpPr/>
          <p:nvPr/>
        </p:nvGrpSpPr>
        <p:grpSpPr>
          <a:xfrm rot="0">
            <a:off x="1972617" y="2222666"/>
            <a:ext cx="6589085" cy="377803"/>
            <a:chOff x="0" y="0"/>
            <a:chExt cx="8785446" cy="503737"/>
          </a:xfrm>
        </p:grpSpPr>
        <p:grpSp>
          <p:nvGrpSpPr>
            <p:cNvPr name="Group 16" id="16"/>
            <p:cNvGrpSpPr/>
            <p:nvPr/>
          </p:nvGrpSpPr>
          <p:grpSpPr>
            <a:xfrm rot="0">
              <a:off x="0" y="76200"/>
              <a:ext cx="289415" cy="289415"/>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A607"/>
              </a:solidFill>
            </p:spPr>
          </p:sp>
          <p:sp>
            <p:nvSpPr>
              <p:cNvPr name="TextBox 18" id="18"/>
              <p:cNvSpPr txBox="true"/>
              <p:nvPr/>
            </p:nvSpPr>
            <p:spPr>
              <a:xfrm>
                <a:off x="76200" y="104775"/>
                <a:ext cx="660400" cy="631825"/>
              </a:xfrm>
              <a:prstGeom prst="rect">
                <a:avLst/>
              </a:prstGeom>
            </p:spPr>
            <p:txBody>
              <a:bodyPr anchor="ctr" rtlCol="false" tIns="50800" lIns="50800" bIns="50800" rIns="50800"/>
              <a:lstStyle/>
              <a:p>
                <a:pPr algn="ctr">
                  <a:lnSpc>
                    <a:spcPts val="2000"/>
                  </a:lnSpc>
                </a:pPr>
              </a:p>
            </p:txBody>
          </p:sp>
        </p:grpSp>
        <p:sp>
          <p:nvSpPr>
            <p:cNvPr name="TextBox 19" id="19"/>
            <p:cNvSpPr txBox="true"/>
            <p:nvPr/>
          </p:nvSpPr>
          <p:spPr>
            <a:xfrm rot="0">
              <a:off x="401700" y="47625"/>
              <a:ext cx="8383746" cy="456112"/>
            </a:xfrm>
            <a:prstGeom prst="rect">
              <a:avLst/>
            </a:prstGeom>
          </p:spPr>
          <p:txBody>
            <a:bodyPr anchor="t" rtlCol="false" tIns="0" lIns="0" bIns="0" rIns="0">
              <a:spAutoFit/>
            </a:bodyPr>
            <a:lstStyle/>
            <a:p>
              <a:pPr algn="l">
                <a:lnSpc>
                  <a:spcPts val="2499"/>
                </a:lnSpc>
              </a:pPr>
              <a:r>
                <a:rPr lang="en-US" b="true" sz="2499">
                  <a:solidFill>
                    <a:srgbClr val="5D4FCA"/>
                  </a:solidFill>
                  <a:latin typeface="Open Sans Bold"/>
                  <a:ea typeface="Open Sans Bold"/>
                  <a:cs typeface="Open Sans Bold"/>
                  <a:sym typeface="Open Sans Bold"/>
                </a:rPr>
                <a:t>HEATMAP</a:t>
              </a:r>
            </a:p>
          </p:txBody>
        </p:sp>
      </p:grpSp>
      <p:sp>
        <p:nvSpPr>
          <p:cNvPr name="Freeform 20" id="20"/>
          <p:cNvSpPr/>
          <p:nvPr/>
        </p:nvSpPr>
        <p:spPr>
          <a:xfrm flipH="false" flipV="false" rot="0">
            <a:off x="5704240" y="4007284"/>
            <a:ext cx="7094572" cy="5694800"/>
          </a:xfrm>
          <a:custGeom>
            <a:avLst/>
            <a:gdLst/>
            <a:ahLst/>
            <a:cxnLst/>
            <a:rect r="r" b="b" t="t" l="l"/>
            <a:pathLst>
              <a:path h="5694800" w="7094572">
                <a:moveTo>
                  <a:pt x="0" y="0"/>
                </a:moveTo>
                <a:lnTo>
                  <a:pt x="7094572" y="0"/>
                </a:lnTo>
                <a:lnTo>
                  <a:pt x="7094572" y="5694800"/>
                </a:lnTo>
                <a:lnTo>
                  <a:pt x="0" y="5694800"/>
                </a:lnTo>
                <a:lnTo>
                  <a:pt x="0" y="0"/>
                </a:lnTo>
                <a:close/>
              </a:path>
            </a:pathLst>
          </a:custGeom>
          <a:blipFill>
            <a:blip r:embed="rId20"/>
            <a:stretch>
              <a:fillRect l="0" t="0" r="0" b="0"/>
            </a:stretch>
          </a:blipFill>
        </p:spPr>
      </p:sp>
      <p:sp>
        <p:nvSpPr>
          <p:cNvPr name="TextBox 21" id="21"/>
          <p:cNvSpPr txBox="true"/>
          <p:nvPr/>
        </p:nvSpPr>
        <p:spPr>
          <a:xfrm rot="0">
            <a:off x="11428284" y="1200266"/>
            <a:ext cx="1370528" cy="269875"/>
          </a:xfrm>
          <a:prstGeom prst="rect">
            <a:avLst/>
          </a:prstGeom>
        </p:spPr>
        <p:txBody>
          <a:bodyPr anchor="t" rtlCol="false" tIns="0" lIns="0" bIns="0" rIns="0">
            <a:spAutoFit/>
          </a:bodyPr>
          <a:lstStyle/>
          <a:p>
            <a:pPr algn="ctr">
              <a:lnSpc>
                <a:spcPts val="2000"/>
              </a:lnSpc>
            </a:pPr>
            <a:r>
              <a:rPr lang="en-US" sz="2000">
                <a:solidFill>
                  <a:srgbClr val="27194D">
                    <a:alpha val="55686"/>
                  </a:srgbClr>
                </a:solidFill>
                <a:latin typeface="Open Sans"/>
                <a:ea typeface="Open Sans"/>
                <a:cs typeface="Open Sans"/>
                <a:sym typeface="Open Sans"/>
              </a:rPr>
              <a:t>LAYANAN</a:t>
            </a:r>
          </a:p>
        </p:txBody>
      </p:sp>
      <p:sp>
        <p:nvSpPr>
          <p:cNvPr name="TextBox 22" id="22"/>
          <p:cNvSpPr txBox="true"/>
          <p:nvPr/>
        </p:nvSpPr>
        <p:spPr>
          <a:xfrm rot="0">
            <a:off x="9810993" y="1200266"/>
            <a:ext cx="1293441" cy="269875"/>
          </a:xfrm>
          <a:prstGeom prst="rect">
            <a:avLst/>
          </a:prstGeom>
        </p:spPr>
        <p:txBody>
          <a:bodyPr anchor="t" rtlCol="false" tIns="0" lIns="0" bIns="0" rIns="0">
            <a:spAutoFit/>
          </a:bodyPr>
          <a:lstStyle/>
          <a:p>
            <a:pPr algn="ctr">
              <a:lnSpc>
                <a:spcPts val="2000"/>
              </a:lnSpc>
            </a:pPr>
            <a:r>
              <a:rPr lang="en-US" b="true" sz="2000">
                <a:solidFill>
                  <a:srgbClr val="5D4FCA"/>
                </a:solidFill>
                <a:latin typeface="Open Sans Bold"/>
                <a:ea typeface="Open Sans Bold"/>
                <a:cs typeface="Open Sans Bold"/>
                <a:sym typeface="Open Sans Bold"/>
              </a:rPr>
              <a:t>BERANDA</a:t>
            </a:r>
          </a:p>
        </p:txBody>
      </p:sp>
      <p:sp>
        <p:nvSpPr>
          <p:cNvPr name="TextBox 23" id="23"/>
          <p:cNvSpPr txBox="true"/>
          <p:nvPr/>
        </p:nvSpPr>
        <p:spPr>
          <a:xfrm rot="0">
            <a:off x="1847695" y="1109652"/>
            <a:ext cx="3115460" cy="422485"/>
          </a:xfrm>
          <a:prstGeom prst="rect">
            <a:avLst/>
          </a:prstGeom>
        </p:spPr>
        <p:txBody>
          <a:bodyPr anchor="t" rtlCol="false" tIns="0" lIns="0" bIns="0" rIns="0">
            <a:spAutoFit/>
          </a:bodyPr>
          <a:lstStyle/>
          <a:p>
            <a:pPr algn="l">
              <a:lnSpc>
                <a:spcPts val="3107"/>
              </a:lnSpc>
            </a:pPr>
            <a:r>
              <a:rPr lang="en-US" sz="2799" b="true">
                <a:solidFill>
                  <a:srgbClr val="5D4FCA"/>
                </a:solidFill>
                <a:latin typeface="Roboto Condensed Bold"/>
                <a:ea typeface="Roboto Condensed Bold"/>
                <a:cs typeface="Roboto Condensed Bold"/>
                <a:sym typeface="Roboto Condensed Bold"/>
              </a:rPr>
              <a:t>EKSPLORASI DATA</a:t>
            </a:r>
          </a:p>
        </p:txBody>
      </p:sp>
      <p:sp>
        <p:nvSpPr>
          <p:cNvPr name="TextBox 24" id="24"/>
          <p:cNvSpPr txBox="true"/>
          <p:nvPr/>
        </p:nvSpPr>
        <p:spPr>
          <a:xfrm rot="0">
            <a:off x="2338973" y="2752479"/>
            <a:ext cx="12868779" cy="1054780"/>
          </a:xfrm>
          <a:prstGeom prst="rect">
            <a:avLst/>
          </a:prstGeom>
        </p:spPr>
        <p:txBody>
          <a:bodyPr anchor="t" rtlCol="false" tIns="0" lIns="0" bIns="0" rIns="0">
            <a:spAutoFit/>
          </a:bodyPr>
          <a:lstStyle/>
          <a:p>
            <a:pPr algn="just">
              <a:lnSpc>
                <a:spcPts val="4339"/>
              </a:lnSpc>
            </a:pPr>
            <a:r>
              <a:rPr lang="en-US" sz="3099">
                <a:solidFill>
                  <a:srgbClr val="000000"/>
                </a:solidFill>
                <a:latin typeface="Open Sans"/>
                <a:ea typeface="Open Sans"/>
                <a:cs typeface="Open Sans"/>
                <a:sym typeface="Open Sans"/>
              </a:rPr>
              <a:t>Digunakan untuk melihat  korelasi antar variabel dalam bentuk visualisasi matriks berwarna.</a:t>
            </a:r>
          </a:p>
        </p:txBody>
      </p:sp>
      <p:sp>
        <p:nvSpPr>
          <p:cNvPr name="TextBox 25" id="25"/>
          <p:cNvSpPr txBox="true"/>
          <p:nvPr/>
        </p:nvSpPr>
        <p:spPr>
          <a:xfrm rot="0">
            <a:off x="13450786" y="1195329"/>
            <a:ext cx="4121291" cy="269831"/>
          </a:xfrm>
          <a:prstGeom prst="rect">
            <a:avLst/>
          </a:prstGeom>
        </p:spPr>
        <p:txBody>
          <a:bodyPr anchor="t" rtlCol="false" tIns="0" lIns="0" bIns="0" rIns="0">
            <a:spAutoFit/>
          </a:bodyPr>
          <a:lstStyle/>
          <a:p>
            <a:pPr algn="l">
              <a:lnSpc>
                <a:spcPts val="2000"/>
              </a:lnSpc>
              <a:spcBef>
                <a:spcPct val="0"/>
              </a:spcBef>
            </a:pPr>
            <a:r>
              <a:rPr lang="en-US" b="true" sz="2000">
                <a:solidFill>
                  <a:srgbClr val="FFF8E9"/>
                </a:solidFill>
                <a:latin typeface="Open Sans Bold"/>
                <a:ea typeface="Open Sans Bold"/>
                <a:cs typeface="Open Sans Bold"/>
                <a:sym typeface="Open Sans Bold"/>
              </a:rPr>
              <a:t>VISUALISASI</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FFF8E9"/>
        </a:solidFill>
      </p:bgPr>
    </p:bg>
    <p:spTree>
      <p:nvGrpSpPr>
        <p:cNvPr id="1" name=""/>
        <p:cNvGrpSpPr/>
        <p:nvPr/>
      </p:nvGrpSpPr>
      <p:grpSpPr>
        <a:xfrm>
          <a:off x="0" y="0"/>
          <a:ext cx="0" cy="0"/>
          <a:chOff x="0" y="0"/>
          <a:chExt cx="0" cy="0"/>
        </a:xfrm>
      </p:grpSpPr>
      <p:grpSp>
        <p:nvGrpSpPr>
          <p:cNvPr name="Group 2" id="2"/>
          <p:cNvGrpSpPr/>
          <p:nvPr/>
        </p:nvGrpSpPr>
        <p:grpSpPr>
          <a:xfrm rot="0">
            <a:off x="13138009" y="1035414"/>
            <a:ext cx="4121291" cy="571004"/>
            <a:chOff x="0" y="0"/>
            <a:chExt cx="1370603" cy="189897"/>
          </a:xfrm>
        </p:grpSpPr>
        <p:sp>
          <p:nvSpPr>
            <p:cNvPr name="Freeform 3" id="3"/>
            <p:cNvSpPr/>
            <p:nvPr/>
          </p:nvSpPr>
          <p:spPr>
            <a:xfrm flipH="false" flipV="false" rot="0">
              <a:off x="0" y="0"/>
              <a:ext cx="1370603" cy="189897"/>
            </a:xfrm>
            <a:custGeom>
              <a:avLst/>
              <a:gdLst/>
              <a:ahLst/>
              <a:cxnLst/>
              <a:rect r="r" b="b" t="t" l="l"/>
              <a:pathLst>
                <a:path h="189897" w="1370603">
                  <a:moveTo>
                    <a:pt x="94948" y="0"/>
                  </a:moveTo>
                  <a:lnTo>
                    <a:pt x="1275655" y="0"/>
                  </a:lnTo>
                  <a:cubicBezTo>
                    <a:pt x="1300837" y="0"/>
                    <a:pt x="1324987" y="10003"/>
                    <a:pt x="1342794" y="27810"/>
                  </a:cubicBezTo>
                  <a:cubicBezTo>
                    <a:pt x="1360600" y="45616"/>
                    <a:pt x="1370603" y="69767"/>
                    <a:pt x="1370603" y="94948"/>
                  </a:cubicBezTo>
                  <a:lnTo>
                    <a:pt x="1370603" y="94948"/>
                  </a:lnTo>
                  <a:cubicBezTo>
                    <a:pt x="1370603" y="147387"/>
                    <a:pt x="1328094" y="189897"/>
                    <a:pt x="1275655" y="189897"/>
                  </a:cubicBezTo>
                  <a:lnTo>
                    <a:pt x="94948" y="189897"/>
                  </a:lnTo>
                  <a:cubicBezTo>
                    <a:pt x="42510" y="189897"/>
                    <a:pt x="0" y="147387"/>
                    <a:pt x="0" y="94948"/>
                  </a:cubicBezTo>
                  <a:lnTo>
                    <a:pt x="0" y="94948"/>
                  </a:lnTo>
                  <a:cubicBezTo>
                    <a:pt x="0" y="42510"/>
                    <a:pt x="42510" y="0"/>
                    <a:pt x="94948" y="0"/>
                  </a:cubicBezTo>
                  <a:close/>
                </a:path>
              </a:pathLst>
            </a:custGeom>
            <a:solidFill>
              <a:srgbClr val="FAA607"/>
            </a:solidFill>
            <a:ln cap="rnd">
              <a:noFill/>
              <a:prstDash val="solid"/>
              <a:round/>
            </a:ln>
          </p:spPr>
        </p:sp>
        <p:sp>
          <p:nvSpPr>
            <p:cNvPr name="TextBox 4" id="4"/>
            <p:cNvSpPr txBox="true"/>
            <p:nvPr/>
          </p:nvSpPr>
          <p:spPr>
            <a:xfrm>
              <a:off x="0" y="-57150"/>
              <a:ext cx="1370603" cy="247047"/>
            </a:xfrm>
            <a:prstGeom prst="rect">
              <a:avLst/>
            </a:prstGeom>
          </p:spPr>
          <p:txBody>
            <a:bodyPr anchor="ctr" rtlCol="false" tIns="50800" lIns="50800" bIns="50800" rIns="50800"/>
            <a:lstStyle/>
            <a:p>
              <a:pPr algn="ctr" marL="0" indent="0" lvl="0">
                <a:lnSpc>
                  <a:spcPts val="2824"/>
                </a:lnSpc>
                <a:spcBef>
                  <a:spcPct val="0"/>
                </a:spcBef>
              </a:pPr>
            </a:p>
          </p:txBody>
        </p:sp>
      </p:grpSp>
      <p:sp>
        <p:nvSpPr>
          <p:cNvPr name="Freeform 5" id="5"/>
          <p:cNvSpPr/>
          <p:nvPr/>
        </p:nvSpPr>
        <p:spPr>
          <a:xfrm flipH="false" flipV="false" rot="0">
            <a:off x="16815378" y="1166754"/>
            <a:ext cx="296763" cy="308325"/>
          </a:xfrm>
          <a:custGeom>
            <a:avLst/>
            <a:gdLst/>
            <a:ahLst/>
            <a:cxnLst/>
            <a:rect r="r" b="b" t="t" l="l"/>
            <a:pathLst>
              <a:path h="308325" w="296763">
                <a:moveTo>
                  <a:pt x="0" y="0"/>
                </a:moveTo>
                <a:lnTo>
                  <a:pt x="296763" y="0"/>
                </a:lnTo>
                <a:lnTo>
                  <a:pt x="296763" y="308325"/>
                </a:lnTo>
                <a:lnTo>
                  <a:pt x="0" y="30832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2145208">
            <a:off x="-4074482" y="2541597"/>
            <a:ext cx="14525775" cy="6496983"/>
          </a:xfrm>
          <a:custGeom>
            <a:avLst/>
            <a:gdLst/>
            <a:ahLst/>
            <a:cxnLst/>
            <a:rect r="r" b="b" t="t" l="l"/>
            <a:pathLst>
              <a:path h="6496983" w="14525775">
                <a:moveTo>
                  <a:pt x="0" y="0"/>
                </a:moveTo>
                <a:lnTo>
                  <a:pt x="14525775" y="0"/>
                </a:lnTo>
                <a:lnTo>
                  <a:pt x="14525775" y="6496983"/>
                </a:lnTo>
                <a:lnTo>
                  <a:pt x="0" y="64969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2145208">
            <a:off x="12600536" y="5752755"/>
            <a:ext cx="8429684" cy="3770368"/>
          </a:xfrm>
          <a:custGeom>
            <a:avLst/>
            <a:gdLst/>
            <a:ahLst/>
            <a:cxnLst/>
            <a:rect r="r" b="b" t="t" l="l"/>
            <a:pathLst>
              <a:path h="3770368" w="8429684">
                <a:moveTo>
                  <a:pt x="0" y="0"/>
                </a:moveTo>
                <a:lnTo>
                  <a:pt x="8429684" y="0"/>
                </a:lnTo>
                <a:lnTo>
                  <a:pt x="8429684" y="3770368"/>
                </a:lnTo>
                <a:lnTo>
                  <a:pt x="0" y="377036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028700" y="1049653"/>
            <a:ext cx="647545" cy="495666"/>
          </a:xfrm>
          <a:custGeom>
            <a:avLst/>
            <a:gdLst/>
            <a:ahLst/>
            <a:cxnLst/>
            <a:rect r="r" b="b" t="t" l="l"/>
            <a:pathLst>
              <a:path h="495666" w="647545">
                <a:moveTo>
                  <a:pt x="0" y="0"/>
                </a:moveTo>
                <a:lnTo>
                  <a:pt x="647545" y="0"/>
                </a:lnTo>
                <a:lnTo>
                  <a:pt x="647545" y="495666"/>
                </a:lnTo>
                <a:lnTo>
                  <a:pt x="0" y="49566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10577904">
            <a:off x="15336566" y="8524547"/>
            <a:ext cx="3845468" cy="4114800"/>
          </a:xfrm>
          <a:custGeom>
            <a:avLst/>
            <a:gdLst/>
            <a:ahLst/>
            <a:cxnLst/>
            <a:rect r="r" b="b" t="t" l="l"/>
            <a:pathLst>
              <a:path h="4114800" w="3845468">
                <a:moveTo>
                  <a:pt x="0" y="0"/>
                </a:moveTo>
                <a:lnTo>
                  <a:pt x="3845468" y="0"/>
                </a:lnTo>
                <a:lnTo>
                  <a:pt x="3845468"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6034560">
            <a:off x="-1502391" y="7200900"/>
            <a:ext cx="3845468" cy="4114800"/>
          </a:xfrm>
          <a:custGeom>
            <a:avLst/>
            <a:gdLst/>
            <a:ahLst/>
            <a:cxnLst/>
            <a:rect r="r" b="b" t="t" l="l"/>
            <a:pathLst>
              <a:path h="4114800" w="3845468">
                <a:moveTo>
                  <a:pt x="0" y="0"/>
                </a:moveTo>
                <a:lnTo>
                  <a:pt x="3845468" y="0"/>
                </a:lnTo>
                <a:lnTo>
                  <a:pt x="384546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4124654">
            <a:off x="16866407" y="3148635"/>
            <a:ext cx="626952" cy="392130"/>
          </a:xfrm>
          <a:custGeom>
            <a:avLst/>
            <a:gdLst/>
            <a:ahLst/>
            <a:cxnLst/>
            <a:rect r="r" b="b" t="t" l="l"/>
            <a:pathLst>
              <a:path h="392130" w="626952">
                <a:moveTo>
                  <a:pt x="0" y="0"/>
                </a:moveTo>
                <a:lnTo>
                  <a:pt x="626952" y="0"/>
                </a:lnTo>
                <a:lnTo>
                  <a:pt x="626952" y="392130"/>
                </a:lnTo>
                <a:lnTo>
                  <a:pt x="0" y="39213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2" id="12"/>
          <p:cNvSpPr/>
          <p:nvPr/>
        </p:nvSpPr>
        <p:spPr>
          <a:xfrm flipH="false" flipV="false" rot="-9344170">
            <a:off x="1659141" y="8782232"/>
            <a:ext cx="626952" cy="392130"/>
          </a:xfrm>
          <a:custGeom>
            <a:avLst/>
            <a:gdLst/>
            <a:ahLst/>
            <a:cxnLst/>
            <a:rect r="r" b="b" t="t" l="l"/>
            <a:pathLst>
              <a:path h="392130" w="626952">
                <a:moveTo>
                  <a:pt x="0" y="0"/>
                </a:moveTo>
                <a:lnTo>
                  <a:pt x="626952" y="0"/>
                </a:lnTo>
                <a:lnTo>
                  <a:pt x="626952" y="392130"/>
                </a:lnTo>
                <a:lnTo>
                  <a:pt x="0" y="39213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3" id="13"/>
          <p:cNvSpPr/>
          <p:nvPr/>
        </p:nvSpPr>
        <p:spPr>
          <a:xfrm flipH="false" flipV="false" rot="-7638806">
            <a:off x="692725" y="3680746"/>
            <a:ext cx="1034860" cy="383329"/>
          </a:xfrm>
          <a:custGeom>
            <a:avLst/>
            <a:gdLst/>
            <a:ahLst/>
            <a:cxnLst/>
            <a:rect r="r" b="b" t="t" l="l"/>
            <a:pathLst>
              <a:path h="383329" w="1034860">
                <a:moveTo>
                  <a:pt x="0" y="0"/>
                </a:moveTo>
                <a:lnTo>
                  <a:pt x="1034860" y="0"/>
                </a:lnTo>
                <a:lnTo>
                  <a:pt x="1034860" y="383329"/>
                </a:lnTo>
                <a:lnTo>
                  <a:pt x="0" y="383329"/>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4" id="14"/>
          <p:cNvSpPr/>
          <p:nvPr/>
        </p:nvSpPr>
        <p:spPr>
          <a:xfrm flipH="false" flipV="false" rot="8999904">
            <a:off x="9220070" y="9006778"/>
            <a:ext cx="1034860" cy="383329"/>
          </a:xfrm>
          <a:custGeom>
            <a:avLst/>
            <a:gdLst/>
            <a:ahLst/>
            <a:cxnLst/>
            <a:rect r="r" b="b" t="t" l="l"/>
            <a:pathLst>
              <a:path h="383329" w="1034860">
                <a:moveTo>
                  <a:pt x="0" y="0"/>
                </a:moveTo>
                <a:lnTo>
                  <a:pt x="1034860" y="0"/>
                </a:lnTo>
                <a:lnTo>
                  <a:pt x="1034860" y="383329"/>
                </a:lnTo>
                <a:lnTo>
                  <a:pt x="0" y="383329"/>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grpSp>
        <p:nvGrpSpPr>
          <p:cNvPr name="Group 15" id="15"/>
          <p:cNvGrpSpPr/>
          <p:nvPr/>
        </p:nvGrpSpPr>
        <p:grpSpPr>
          <a:xfrm rot="0">
            <a:off x="1972617" y="2222666"/>
            <a:ext cx="6589085" cy="377803"/>
            <a:chOff x="0" y="0"/>
            <a:chExt cx="8785446" cy="503737"/>
          </a:xfrm>
        </p:grpSpPr>
        <p:grpSp>
          <p:nvGrpSpPr>
            <p:cNvPr name="Group 16" id="16"/>
            <p:cNvGrpSpPr/>
            <p:nvPr/>
          </p:nvGrpSpPr>
          <p:grpSpPr>
            <a:xfrm rot="0">
              <a:off x="0" y="76200"/>
              <a:ext cx="289415" cy="289415"/>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A607"/>
              </a:solidFill>
            </p:spPr>
          </p:sp>
          <p:sp>
            <p:nvSpPr>
              <p:cNvPr name="TextBox 18" id="18"/>
              <p:cNvSpPr txBox="true"/>
              <p:nvPr/>
            </p:nvSpPr>
            <p:spPr>
              <a:xfrm>
                <a:off x="76200" y="104775"/>
                <a:ext cx="660400" cy="631825"/>
              </a:xfrm>
              <a:prstGeom prst="rect">
                <a:avLst/>
              </a:prstGeom>
            </p:spPr>
            <p:txBody>
              <a:bodyPr anchor="ctr" rtlCol="false" tIns="50800" lIns="50800" bIns="50800" rIns="50800"/>
              <a:lstStyle/>
              <a:p>
                <a:pPr algn="ctr">
                  <a:lnSpc>
                    <a:spcPts val="2000"/>
                  </a:lnSpc>
                </a:pPr>
              </a:p>
            </p:txBody>
          </p:sp>
        </p:grpSp>
        <p:sp>
          <p:nvSpPr>
            <p:cNvPr name="TextBox 19" id="19"/>
            <p:cNvSpPr txBox="true"/>
            <p:nvPr/>
          </p:nvSpPr>
          <p:spPr>
            <a:xfrm rot="0">
              <a:off x="401700" y="47625"/>
              <a:ext cx="8383746" cy="456112"/>
            </a:xfrm>
            <a:prstGeom prst="rect">
              <a:avLst/>
            </a:prstGeom>
          </p:spPr>
          <p:txBody>
            <a:bodyPr anchor="t" rtlCol="false" tIns="0" lIns="0" bIns="0" rIns="0">
              <a:spAutoFit/>
            </a:bodyPr>
            <a:lstStyle/>
            <a:p>
              <a:pPr algn="l">
                <a:lnSpc>
                  <a:spcPts val="2499"/>
                </a:lnSpc>
              </a:pPr>
              <a:r>
                <a:rPr lang="en-US" b="true" sz="2499">
                  <a:solidFill>
                    <a:srgbClr val="5D4FCA"/>
                  </a:solidFill>
                  <a:latin typeface="Open Sans Bold"/>
                  <a:ea typeface="Open Sans Bold"/>
                  <a:cs typeface="Open Sans Bold"/>
                  <a:sym typeface="Open Sans Bold"/>
                </a:rPr>
                <a:t>HEATMAP</a:t>
              </a:r>
            </a:p>
          </p:txBody>
        </p:sp>
      </p:grpSp>
      <p:sp>
        <p:nvSpPr>
          <p:cNvPr name="Freeform 20" id="20"/>
          <p:cNvSpPr/>
          <p:nvPr/>
        </p:nvSpPr>
        <p:spPr>
          <a:xfrm flipH="false" flipV="false" rot="0">
            <a:off x="2338973" y="2786282"/>
            <a:ext cx="7149487" cy="5987449"/>
          </a:xfrm>
          <a:custGeom>
            <a:avLst/>
            <a:gdLst/>
            <a:ahLst/>
            <a:cxnLst/>
            <a:rect r="r" b="b" t="t" l="l"/>
            <a:pathLst>
              <a:path h="5987449" w="7149487">
                <a:moveTo>
                  <a:pt x="0" y="0"/>
                </a:moveTo>
                <a:lnTo>
                  <a:pt x="7149487" y="0"/>
                </a:lnTo>
                <a:lnTo>
                  <a:pt x="7149487" y="5987450"/>
                </a:lnTo>
                <a:lnTo>
                  <a:pt x="0" y="5987450"/>
                </a:lnTo>
                <a:lnTo>
                  <a:pt x="0" y="0"/>
                </a:lnTo>
                <a:close/>
              </a:path>
            </a:pathLst>
          </a:custGeom>
          <a:blipFill>
            <a:blip r:embed="rId20"/>
            <a:stretch>
              <a:fillRect l="0" t="0" r="0" b="0"/>
            </a:stretch>
          </a:blipFill>
        </p:spPr>
      </p:sp>
      <p:sp>
        <p:nvSpPr>
          <p:cNvPr name="Freeform 21" id="21"/>
          <p:cNvSpPr/>
          <p:nvPr/>
        </p:nvSpPr>
        <p:spPr>
          <a:xfrm flipH="false" flipV="false" rot="0">
            <a:off x="9989256" y="2849920"/>
            <a:ext cx="7122885" cy="5554787"/>
          </a:xfrm>
          <a:custGeom>
            <a:avLst/>
            <a:gdLst/>
            <a:ahLst/>
            <a:cxnLst/>
            <a:rect r="r" b="b" t="t" l="l"/>
            <a:pathLst>
              <a:path h="5554787" w="7122885">
                <a:moveTo>
                  <a:pt x="0" y="0"/>
                </a:moveTo>
                <a:lnTo>
                  <a:pt x="7122885" y="0"/>
                </a:lnTo>
                <a:lnTo>
                  <a:pt x="7122885" y="5554787"/>
                </a:lnTo>
                <a:lnTo>
                  <a:pt x="0" y="5554787"/>
                </a:lnTo>
                <a:lnTo>
                  <a:pt x="0" y="0"/>
                </a:lnTo>
                <a:close/>
              </a:path>
            </a:pathLst>
          </a:custGeom>
          <a:blipFill>
            <a:blip r:embed="rId21"/>
            <a:stretch>
              <a:fillRect l="0" t="0" r="0" b="0"/>
            </a:stretch>
          </a:blipFill>
        </p:spPr>
      </p:sp>
      <p:sp>
        <p:nvSpPr>
          <p:cNvPr name="TextBox 22" id="22"/>
          <p:cNvSpPr txBox="true"/>
          <p:nvPr/>
        </p:nvSpPr>
        <p:spPr>
          <a:xfrm rot="0">
            <a:off x="11428284" y="1200266"/>
            <a:ext cx="1370528" cy="269875"/>
          </a:xfrm>
          <a:prstGeom prst="rect">
            <a:avLst/>
          </a:prstGeom>
        </p:spPr>
        <p:txBody>
          <a:bodyPr anchor="t" rtlCol="false" tIns="0" lIns="0" bIns="0" rIns="0">
            <a:spAutoFit/>
          </a:bodyPr>
          <a:lstStyle/>
          <a:p>
            <a:pPr algn="ctr">
              <a:lnSpc>
                <a:spcPts val="2000"/>
              </a:lnSpc>
            </a:pPr>
            <a:r>
              <a:rPr lang="en-US" sz="2000">
                <a:solidFill>
                  <a:srgbClr val="27194D">
                    <a:alpha val="55686"/>
                  </a:srgbClr>
                </a:solidFill>
                <a:latin typeface="Open Sans"/>
                <a:ea typeface="Open Sans"/>
                <a:cs typeface="Open Sans"/>
                <a:sym typeface="Open Sans"/>
              </a:rPr>
              <a:t>LAYANAN</a:t>
            </a:r>
          </a:p>
        </p:txBody>
      </p:sp>
      <p:sp>
        <p:nvSpPr>
          <p:cNvPr name="TextBox 23" id="23"/>
          <p:cNvSpPr txBox="true"/>
          <p:nvPr/>
        </p:nvSpPr>
        <p:spPr>
          <a:xfrm rot="0">
            <a:off x="9810993" y="1200266"/>
            <a:ext cx="1293441" cy="269875"/>
          </a:xfrm>
          <a:prstGeom prst="rect">
            <a:avLst/>
          </a:prstGeom>
        </p:spPr>
        <p:txBody>
          <a:bodyPr anchor="t" rtlCol="false" tIns="0" lIns="0" bIns="0" rIns="0">
            <a:spAutoFit/>
          </a:bodyPr>
          <a:lstStyle/>
          <a:p>
            <a:pPr algn="ctr">
              <a:lnSpc>
                <a:spcPts val="2000"/>
              </a:lnSpc>
            </a:pPr>
            <a:r>
              <a:rPr lang="en-US" b="true" sz="2000">
                <a:solidFill>
                  <a:srgbClr val="5D4FCA"/>
                </a:solidFill>
                <a:latin typeface="Open Sans Bold"/>
                <a:ea typeface="Open Sans Bold"/>
                <a:cs typeface="Open Sans Bold"/>
                <a:sym typeface="Open Sans Bold"/>
              </a:rPr>
              <a:t>BERANDA</a:t>
            </a:r>
          </a:p>
        </p:txBody>
      </p:sp>
      <p:sp>
        <p:nvSpPr>
          <p:cNvPr name="TextBox 24" id="24"/>
          <p:cNvSpPr txBox="true"/>
          <p:nvPr/>
        </p:nvSpPr>
        <p:spPr>
          <a:xfrm rot="0">
            <a:off x="1847695" y="1109652"/>
            <a:ext cx="3115460" cy="422485"/>
          </a:xfrm>
          <a:prstGeom prst="rect">
            <a:avLst/>
          </a:prstGeom>
        </p:spPr>
        <p:txBody>
          <a:bodyPr anchor="t" rtlCol="false" tIns="0" lIns="0" bIns="0" rIns="0">
            <a:spAutoFit/>
          </a:bodyPr>
          <a:lstStyle/>
          <a:p>
            <a:pPr algn="l">
              <a:lnSpc>
                <a:spcPts val="3107"/>
              </a:lnSpc>
            </a:pPr>
            <a:r>
              <a:rPr lang="en-US" sz="2799" b="true">
                <a:solidFill>
                  <a:srgbClr val="5D4FCA"/>
                </a:solidFill>
                <a:latin typeface="Roboto Condensed Bold"/>
                <a:ea typeface="Roboto Condensed Bold"/>
                <a:cs typeface="Roboto Condensed Bold"/>
                <a:sym typeface="Roboto Condensed Bold"/>
              </a:rPr>
              <a:t>EKSPLORASI DATA</a:t>
            </a:r>
          </a:p>
        </p:txBody>
      </p:sp>
      <p:sp>
        <p:nvSpPr>
          <p:cNvPr name="TextBox 25" id="25"/>
          <p:cNvSpPr txBox="true"/>
          <p:nvPr/>
        </p:nvSpPr>
        <p:spPr>
          <a:xfrm rot="0">
            <a:off x="13450786" y="1195329"/>
            <a:ext cx="4121291" cy="269831"/>
          </a:xfrm>
          <a:prstGeom prst="rect">
            <a:avLst/>
          </a:prstGeom>
        </p:spPr>
        <p:txBody>
          <a:bodyPr anchor="t" rtlCol="false" tIns="0" lIns="0" bIns="0" rIns="0">
            <a:spAutoFit/>
          </a:bodyPr>
          <a:lstStyle/>
          <a:p>
            <a:pPr algn="l">
              <a:lnSpc>
                <a:spcPts val="2000"/>
              </a:lnSpc>
              <a:spcBef>
                <a:spcPct val="0"/>
              </a:spcBef>
            </a:pPr>
            <a:r>
              <a:rPr lang="en-US" b="true" sz="2000">
                <a:solidFill>
                  <a:srgbClr val="FFF8E9"/>
                </a:solidFill>
                <a:latin typeface="Open Sans Bold"/>
                <a:ea typeface="Open Sans Bold"/>
                <a:cs typeface="Open Sans Bold"/>
                <a:sym typeface="Open Sans Bold"/>
              </a:rPr>
              <a:t>VISUALISASI</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FFF8E9"/>
        </a:solidFill>
      </p:bgPr>
    </p:bg>
    <p:spTree>
      <p:nvGrpSpPr>
        <p:cNvPr id="1" name=""/>
        <p:cNvGrpSpPr/>
        <p:nvPr/>
      </p:nvGrpSpPr>
      <p:grpSpPr>
        <a:xfrm>
          <a:off x="0" y="0"/>
          <a:ext cx="0" cy="0"/>
          <a:chOff x="0" y="0"/>
          <a:chExt cx="0" cy="0"/>
        </a:xfrm>
      </p:grpSpPr>
      <p:sp>
        <p:nvSpPr>
          <p:cNvPr name="Freeform 2" id="2"/>
          <p:cNvSpPr/>
          <p:nvPr/>
        </p:nvSpPr>
        <p:spPr>
          <a:xfrm flipH="false" flipV="false" rot="-5687936">
            <a:off x="15336566" y="-1307732"/>
            <a:ext cx="3845468" cy="4114800"/>
          </a:xfrm>
          <a:custGeom>
            <a:avLst/>
            <a:gdLst/>
            <a:ahLst/>
            <a:cxnLst/>
            <a:rect r="r" b="b" t="t" l="l"/>
            <a:pathLst>
              <a:path h="4114800" w="3845468">
                <a:moveTo>
                  <a:pt x="0" y="0"/>
                </a:moveTo>
                <a:lnTo>
                  <a:pt x="3845468" y="0"/>
                </a:lnTo>
                <a:lnTo>
                  <a:pt x="3845468"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6034560">
            <a:off x="-1502391" y="7200900"/>
            <a:ext cx="3845468" cy="4114800"/>
          </a:xfrm>
          <a:custGeom>
            <a:avLst/>
            <a:gdLst/>
            <a:ahLst/>
            <a:cxnLst/>
            <a:rect r="r" b="b" t="t" l="l"/>
            <a:pathLst>
              <a:path h="4114800" w="3845468">
                <a:moveTo>
                  <a:pt x="0" y="0"/>
                </a:moveTo>
                <a:lnTo>
                  <a:pt x="3845468" y="0"/>
                </a:lnTo>
                <a:lnTo>
                  <a:pt x="3845468"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2145208">
            <a:off x="7697412" y="4335480"/>
            <a:ext cx="13333067" cy="5963517"/>
          </a:xfrm>
          <a:custGeom>
            <a:avLst/>
            <a:gdLst/>
            <a:ahLst/>
            <a:cxnLst/>
            <a:rect r="r" b="b" t="t" l="l"/>
            <a:pathLst>
              <a:path h="5963517" w="13333067">
                <a:moveTo>
                  <a:pt x="0" y="0"/>
                </a:moveTo>
                <a:lnTo>
                  <a:pt x="13333067" y="0"/>
                </a:lnTo>
                <a:lnTo>
                  <a:pt x="13333067" y="5963518"/>
                </a:lnTo>
                <a:lnTo>
                  <a:pt x="0" y="596351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2145208">
            <a:off x="-4801739" y="2802959"/>
            <a:ext cx="11211722" cy="5014698"/>
          </a:xfrm>
          <a:custGeom>
            <a:avLst/>
            <a:gdLst/>
            <a:ahLst/>
            <a:cxnLst/>
            <a:rect r="r" b="b" t="t" l="l"/>
            <a:pathLst>
              <a:path h="5014698" w="11211722">
                <a:moveTo>
                  <a:pt x="0" y="0"/>
                </a:moveTo>
                <a:lnTo>
                  <a:pt x="11211722" y="0"/>
                </a:lnTo>
                <a:lnTo>
                  <a:pt x="11211722" y="5014698"/>
                </a:lnTo>
                <a:lnTo>
                  <a:pt x="0" y="501469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13138009" y="1035414"/>
            <a:ext cx="4121291" cy="571004"/>
            <a:chOff x="0" y="0"/>
            <a:chExt cx="1370603" cy="189897"/>
          </a:xfrm>
        </p:grpSpPr>
        <p:sp>
          <p:nvSpPr>
            <p:cNvPr name="Freeform 7" id="7"/>
            <p:cNvSpPr/>
            <p:nvPr/>
          </p:nvSpPr>
          <p:spPr>
            <a:xfrm flipH="false" flipV="false" rot="0">
              <a:off x="0" y="0"/>
              <a:ext cx="1370603" cy="189897"/>
            </a:xfrm>
            <a:custGeom>
              <a:avLst/>
              <a:gdLst/>
              <a:ahLst/>
              <a:cxnLst/>
              <a:rect r="r" b="b" t="t" l="l"/>
              <a:pathLst>
                <a:path h="189897" w="1370603">
                  <a:moveTo>
                    <a:pt x="94948" y="0"/>
                  </a:moveTo>
                  <a:lnTo>
                    <a:pt x="1275655" y="0"/>
                  </a:lnTo>
                  <a:cubicBezTo>
                    <a:pt x="1300837" y="0"/>
                    <a:pt x="1324987" y="10003"/>
                    <a:pt x="1342794" y="27810"/>
                  </a:cubicBezTo>
                  <a:cubicBezTo>
                    <a:pt x="1360600" y="45616"/>
                    <a:pt x="1370603" y="69767"/>
                    <a:pt x="1370603" y="94948"/>
                  </a:cubicBezTo>
                  <a:lnTo>
                    <a:pt x="1370603" y="94948"/>
                  </a:lnTo>
                  <a:cubicBezTo>
                    <a:pt x="1370603" y="147387"/>
                    <a:pt x="1328094" y="189897"/>
                    <a:pt x="1275655" y="189897"/>
                  </a:cubicBezTo>
                  <a:lnTo>
                    <a:pt x="94948" y="189897"/>
                  </a:lnTo>
                  <a:cubicBezTo>
                    <a:pt x="42510" y="189897"/>
                    <a:pt x="0" y="147387"/>
                    <a:pt x="0" y="94948"/>
                  </a:cubicBezTo>
                  <a:lnTo>
                    <a:pt x="0" y="94948"/>
                  </a:lnTo>
                  <a:cubicBezTo>
                    <a:pt x="0" y="42510"/>
                    <a:pt x="42510" y="0"/>
                    <a:pt x="94948" y="0"/>
                  </a:cubicBezTo>
                  <a:close/>
                </a:path>
              </a:pathLst>
            </a:custGeom>
            <a:solidFill>
              <a:srgbClr val="FAA607"/>
            </a:solidFill>
            <a:ln cap="rnd">
              <a:noFill/>
              <a:prstDash val="solid"/>
              <a:round/>
            </a:ln>
          </p:spPr>
        </p:sp>
        <p:sp>
          <p:nvSpPr>
            <p:cNvPr name="TextBox 8" id="8"/>
            <p:cNvSpPr txBox="true"/>
            <p:nvPr/>
          </p:nvSpPr>
          <p:spPr>
            <a:xfrm>
              <a:off x="0" y="-57150"/>
              <a:ext cx="1370603" cy="247047"/>
            </a:xfrm>
            <a:prstGeom prst="rect">
              <a:avLst/>
            </a:prstGeom>
          </p:spPr>
          <p:txBody>
            <a:bodyPr anchor="ctr" rtlCol="false" tIns="50800" lIns="50800" bIns="50800" rIns="50800"/>
            <a:lstStyle/>
            <a:p>
              <a:pPr algn="ctr" marL="0" indent="0" lvl="0">
                <a:lnSpc>
                  <a:spcPts val="2824"/>
                </a:lnSpc>
                <a:spcBef>
                  <a:spcPct val="0"/>
                </a:spcBef>
              </a:pPr>
            </a:p>
          </p:txBody>
        </p:sp>
      </p:grpSp>
      <p:sp>
        <p:nvSpPr>
          <p:cNvPr name="Freeform 9" id="9"/>
          <p:cNvSpPr/>
          <p:nvPr/>
        </p:nvSpPr>
        <p:spPr>
          <a:xfrm flipH="false" flipV="false" rot="0">
            <a:off x="16815378" y="1166754"/>
            <a:ext cx="296763" cy="308325"/>
          </a:xfrm>
          <a:custGeom>
            <a:avLst/>
            <a:gdLst/>
            <a:ahLst/>
            <a:cxnLst/>
            <a:rect r="r" b="b" t="t" l="l"/>
            <a:pathLst>
              <a:path h="308325" w="296763">
                <a:moveTo>
                  <a:pt x="0" y="0"/>
                </a:moveTo>
                <a:lnTo>
                  <a:pt x="296763" y="0"/>
                </a:lnTo>
                <a:lnTo>
                  <a:pt x="296763" y="308325"/>
                </a:lnTo>
                <a:lnTo>
                  <a:pt x="0" y="30832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10548510" y="2730690"/>
            <a:ext cx="6563631" cy="6366722"/>
          </a:xfrm>
          <a:custGeom>
            <a:avLst/>
            <a:gdLst/>
            <a:ahLst/>
            <a:cxnLst/>
            <a:rect r="r" b="b" t="t" l="l"/>
            <a:pathLst>
              <a:path h="6366722" w="6563631">
                <a:moveTo>
                  <a:pt x="0" y="0"/>
                </a:moveTo>
                <a:lnTo>
                  <a:pt x="6563631" y="0"/>
                </a:lnTo>
                <a:lnTo>
                  <a:pt x="6563631" y="6366722"/>
                </a:lnTo>
                <a:lnTo>
                  <a:pt x="0" y="636672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11" id="11"/>
          <p:cNvGrpSpPr/>
          <p:nvPr/>
        </p:nvGrpSpPr>
        <p:grpSpPr>
          <a:xfrm rot="0">
            <a:off x="2174055" y="3717348"/>
            <a:ext cx="7454047" cy="3599891"/>
            <a:chOff x="0" y="0"/>
            <a:chExt cx="1963206" cy="948120"/>
          </a:xfrm>
        </p:grpSpPr>
        <p:sp>
          <p:nvSpPr>
            <p:cNvPr name="Freeform 12" id="12"/>
            <p:cNvSpPr/>
            <p:nvPr/>
          </p:nvSpPr>
          <p:spPr>
            <a:xfrm flipH="false" flipV="false" rot="0">
              <a:off x="0" y="0"/>
              <a:ext cx="1963206" cy="948120"/>
            </a:xfrm>
            <a:custGeom>
              <a:avLst/>
              <a:gdLst/>
              <a:ahLst/>
              <a:cxnLst/>
              <a:rect r="r" b="b" t="t" l="l"/>
              <a:pathLst>
                <a:path h="948120" w="1963206">
                  <a:moveTo>
                    <a:pt x="27004" y="0"/>
                  </a:moveTo>
                  <a:lnTo>
                    <a:pt x="1936202" y="0"/>
                  </a:lnTo>
                  <a:cubicBezTo>
                    <a:pt x="1951116" y="0"/>
                    <a:pt x="1963206" y="12090"/>
                    <a:pt x="1963206" y="27004"/>
                  </a:cubicBezTo>
                  <a:lnTo>
                    <a:pt x="1963206" y="921115"/>
                  </a:lnTo>
                  <a:cubicBezTo>
                    <a:pt x="1963206" y="928277"/>
                    <a:pt x="1960361" y="935146"/>
                    <a:pt x="1955296" y="940210"/>
                  </a:cubicBezTo>
                  <a:cubicBezTo>
                    <a:pt x="1950232" y="945274"/>
                    <a:pt x="1943364" y="948120"/>
                    <a:pt x="1936202" y="948120"/>
                  </a:cubicBezTo>
                  <a:lnTo>
                    <a:pt x="27004" y="948120"/>
                  </a:lnTo>
                  <a:cubicBezTo>
                    <a:pt x="19842" y="948120"/>
                    <a:pt x="12974" y="945274"/>
                    <a:pt x="7909" y="940210"/>
                  </a:cubicBezTo>
                  <a:cubicBezTo>
                    <a:pt x="2845" y="935146"/>
                    <a:pt x="0" y="928277"/>
                    <a:pt x="0" y="921115"/>
                  </a:cubicBezTo>
                  <a:lnTo>
                    <a:pt x="0" y="27004"/>
                  </a:lnTo>
                  <a:cubicBezTo>
                    <a:pt x="0" y="19842"/>
                    <a:pt x="2845" y="12974"/>
                    <a:pt x="7909" y="7909"/>
                  </a:cubicBezTo>
                  <a:cubicBezTo>
                    <a:pt x="12974" y="2845"/>
                    <a:pt x="19842" y="0"/>
                    <a:pt x="27004" y="0"/>
                  </a:cubicBezTo>
                  <a:close/>
                </a:path>
              </a:pathLst>
            </a:custGeom>
            <a:solidFill>
              <a:srgbClr val="FAA607"/>
            </a:solidFill>
          </p:spPr>
        </p:sp>
        <p:sp>
          <p:nvSpPr>
            <p:cNvPr name="TextBox 13" id="13"/>
            <p:cNvSpPr txBox="true"/>
            <p:nvPr/>
          </p:nvSpPr>
          <p:spPr>
            <a:xfrm>
              <a:off x="0" y="28575"/>
              <a:ext cx="1963206" cy="919545"/>
            </a:xfrm>
            <a:prstGeom prst="rect">
              <a:avLst/>
            </a:prstGeom>
          </p:spPr>
          <p:txBody>
            <a:bodyPr anchor="ctr" rtlCol="false" tIns="50800" lIns="50800" bIns="50800" rIns="50800"/>
            <a:lstStyle/>
            <a:p>
              <a:pPr algn="ctr">
                <a:lnSpc>
                  <a:spcPts val="2000"/>
                </a:lnSpc>
              </a:pPr>
            </a:p>
          </p:txBody>
        </p:sp>
      </p:grpSp>
      <p:sp>
        <p:nvSpPr>
          <p:cNvPr name="TextBox 14" id="14"/>
          <p:cNvSpPr txBox="true"/>
          <p:nvPr/>
        </p:nvSpPr>
        <p:spPr>
          <a:xfrm rot="0">
            <a:off x="11428284" y="1200266"/>
            <a:ext cx="1370528" cy="269875"/>
          </a:xfrm>
          <a:prstGeom prst="rect">
            <a:avLst/>
          </a:prstGeom>
        </p:spPr>
        <p:txBody>
          <a:bodyPr anchor="t" rtlCol="false" tIns="0" lIns="0" bIns="0" rIns="0">
            <a:spAutoFit/>
          </a:bodyPr>
          <a:lstStyle/>
          <a:p>
            <a:pPr algn="ctr">
              <a:lnSpc>
                <a:spcPts val="2000"/>
              </a:lnSpc>
            </a:pPr>
            <a:r>
              <a:rPr lang="en-US" sz="2000">
                <a:solidFill>
                  <a:srgbClr val="27194D">
                    <a:alpha val="55686"/>
                  </a:srgbClr>
                </a:solidFill>
                <a:latin typeface="Open Sans"/>
                <a:ea typeface="Open Sans"/>
                <a:cs typeface="Open Sans"/>
                <a:sym typeface="Open Sans"/>
              </a:rPr>
              <a:t>LAYANAN</a:t>
            </a:r>
          </a:p>
        </p:txBody>
      </p:sp>
      <p:sp>
        <p:nvSpPr>
          <p:cNvPr name="TextBox 15" id="15"/>
          <p:cNvSpPr txBox="true"/>
          <p:nvPr/>
        </p:nvSpPr>
        <p:spPr>
          <a:xfrm rot="0">
            <a:off x="9810993" y="1200266"/>
            <a:ext cx="1293441" cy="269875"/>
          </a:xfrm>
          <a:prstGeom prst="rect">
            <a:avLst/>
          </a:prstGeom>
        </p:spPr>
        <p:txBody>
          <a:bodyPr anchor="t" rtlCol="false" tIns="0" lIns="0" bIns="0" rIns="0">
            <a:spAutoFit/>
          </a:bodyPr>
          <a:lstStyle/>
          <a:p>
            <a:pPr algn="ctr">
              <a:lnSpc>
                <a:spcPts val="2000"/>
              </a:lnSpc>
            </a:pPr>
            <a:r>
              <a:rPr lang="en-US" b="true" sz="2000">
                <a:solidFill>
                  <a:srgbClr val="5D4FCA"/>
                </a:solidFill>
                <a:latin typeface="Open Sans Bold"/>
                <a:ea typeface="Open Sans Bold"/>
                <a:cs typeface="Open Sans Bold"/>
                <a:sym typeface="Open Sans Bold"/>
              </a:rPr>
              <a:t>BERANDA</a:t>
            </a:r>
          </a:p>
        </p:txBody>
      </p:sp>
      <p:sp>
        <p:nvSpPr>
          <p:cNvPr name="TextBox 16" id="16"/>
          <p:cNvSpPr txBox="true"/>
          <p:nvPr/>
        </p:nvSpPr>
        <p:spPr>
          <a:xfrm rot="0">
            <a:off x="2174055" y="2398479"/>
            <a:ext cx="8283658" cy="1264202"/>
          </a:xfrm>
          <a:prstGeom prst="rect">
            <a:avLst/>
          </a:prstGeom>
        </p:spPr>
        <p:txBody>
          <a:bodyPr anchor="t" rtlCol="false" tIns="0" lIns="0" bIns="0" rIns="0">
            <a:spAutoFit/>
          </a:bodyPr>
          <a:lstStyle/>
          <a:p>
            <a:pPr algn="l">
              <a:lnSpc>
                <a:spcPts val="10085"/>
              </a:lnSpc>
            </a:pPr>
            <a:r>
              <a:rPr lang="en-US" sz="8199" b="true">
                <a:solidFill>
                  <a:srgbClr val="27194D"/>
                </a:solidFill>
                <a:latin typeface="Roboto Condensed Bold"/>
                <a:ea typeface="Roboto Condensed Bold"/>
                <a:cs typeface="Roboto Condensed Bold"/>
                <a:sym typeface="Roboto Condensed Bold"/>
              </a:rPr>
              <a:t>DATA PUBLISHING</a:t>
            </a:r>
          </a:p>
        </p:txBody>
      </p:sp>
      <p:sp>
        <p:nvSpPr>
          <p:cNvPr name="TextBox 17" id="17"/>
          <p:cNvSpPr txBox="true"/>
          <p:nvPr/>
        </p:nvSpPr>
        <p:spPr>
          <a:xfrm rot="0">
            <a:off x="2321142" y="4313336"/>
            <a:ext cx="7159872" cy="1898694"/>
          </a:xfrm>
          <a:prstGeom prst="rect">
            <a:avLst/>
          </a:prstGeom>
        </p:spPr>
        <p:txBody>
          <a:bodyPr anchor="t" rtlCol="false" tIns="0" lIns="0" bIns="0" rIns="0">
            <a:spAutoFit/>
          </a:bodyPr>
          <a:lstStyle/>
          <a:p>
            <a:pPr algn="ctr">
              <a:lnSpc>
                <a:spcPts val="7699"/>
              </a:lnSpc>
            </a:pPr>
            <a:r>
              <a:rPr lang="en-US" b="true" sz="5499" u="sng">
                <a:solidFill>
                  <a:srgbClr val="FFF8E9"/>
                </a:solidFill>
                <a:latin typeface="Open Sans Bold"/>
                <a:ea typeface="Open Sans Bold"/>
                <a:cs typeface="Open Sans Bold"/>
                <a:sym typeface="Open Sans Bold"/>
                <a:hlinkClick r:id="rId12" tooltip="https://github.com/septianiamalia/Projek-Data-Wrangling-Kelompok-3_2024C"/>
              </a:rPr>
              <a:t>Link GitHub Projek Data Wrangling</a:t>
            </a:r>
          </a:p>
        </p:txBody>
      </p:sp>
      <p:sp>
        <p:nvSpPr>
          <p:cNvPr name="TextBox 18" id="18"/>
          <p:cNvSpPr txBox="true"/>
          <p:nvPr/>
        </p:nvSpPr>
        <p:spPr>
          <a:xfrm rot="0">
            <a:off x="1847695" y="1109652"/>
            <a:ext cx="3632762" cy="422485"/>
          </a:xfrm>
          <a:prstGeom prst="rect">
            <a:avLst/>
          </a:prstGeom>
        </p:spPr>
        <p:txBody>
          <a:bodyPr anchor="t" rtlCol="false" tIns="0" lIns="0" bIns="0" rIns="0">
            <a:spAutoFit/>
          </a:bodyPr>
          <a:lstStyle/>
          <a:p>
            <a:pPr algn="l">
              <a:lnSpc>
                <a:spcPts val="3107"/>
              </a:lnSpc>
            </a:pPr>
            <a:r>
              <a:rPr lang="en-US" sz="2799" b="true">
                <a:solidFill>
                  <a:srgbClr val="5D4FCA"/>
                </a:solidFill>
                <a:latin typeface="Roboto Condensed Bold"/>
                <a:ea typeface="Roboto Condensed Bold"/>
                <a:cs typeface="Roboto Condensed Bold"/>
                <a:sym typeface="Roboto Condensed Bold"/>
              </a:rPr>
              <a:t>KENDALA DAN RENCANA</a:t>
            </a:r>
          </a:p>
        </p:txBody>
      </p:sp>
      <p:sp>
        <p:nvSpPr>
          <p:cNvPr name="Freeform 19" id="19"/>
          <p:cNvSpPr/>
          <p:nvPr/>
        </p:nvSpPr>
        <p:spPr>
          <a:xfrm flipH="false" flipV="false" rot="0">
            <a:off x="1028700" y="1049653"/>
            <a:ext cx="647545" cy="495666"/>
          </a:xfrm>
          <a:custGeom>
            <a:avLst/>
            <a:gdLst/>
            <a:ahLst/>
            <a:cxnLst/>
            <a:rect r="r" b="b" t="t" l="l"/>
            <a:pathLst>
              <a:path h="495666" w="647545">
                <a:moveTo>
                  <a:pt x="0" y="0"/>
                </a:moveTo>
                <a:lnTo>
                  <a:pt x="647545" y="0"/>
                </a:lnTo>
                <a:lnTo>
                  <a:pt x="647545" y="495666"/>
                </a:lnTo>
                <a:lnTo>
                  <a:pt x="0" y="495666"/>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20" id="20"/>
          <p:cNvSpPr/>
          <p:nvPr/>
        </p:nvSpPr>
        <p:spPr>
          <a:xfrm flipH="false" flipV="false" rot="720432">
            <a:off x="16866407" y="2641717"/>
            <a:ext cx="626952" cy="392130"/>
          </a:xfrm>
          <a:custGeom>
            <a:avLst/>
            <a:gdLst/>
            <a:ahLst/>
            <a:cxnLst/>
            <a:rect r="r" b="b" t="t" l="l"/>
            <a:pathLst>
              <a:path h="392130" w="626952">
                <a:moveTo>
                  <a:pt x="0" y="0"/>
                </a:moveTo>
                <a:lnTo>
                  <a:pt x="626952" y="0"/>
                </a:lnTo>
                <a:lnTo>
                  <a:pt x="626952" y="392130"/>
                </a:lnTo>
                <a:lnTo>
                  <a:pt x="0" y="392130"/>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21" id="21"/>
          <p:cNvSpPr/>
          <p:nvPr/>
        </p:nvSpPr>
        <p:spPr>
          <a:xfrm flipH="false" flipV="false" rot="-3346249">
            <a:off x="286692" y="4006637"/>
            <a:ext cx="1034860" cy="383329"/>
          </a:xfrm>
          <a:custGeom>
            <a:avLst/>
            <a:gdLst/>
            <a:ahLst/>
            <a:cxnLst/>
            <a:rect r="r" b="b" t="t" l="l"/>
            <a:pathLst>
              <a:path h="383329" w="1034860">
                <a:moveTo>
                  <a:pt x="0" y="0"/>
                </a:moveTo>
                <a:lnTo>
                  <a:pt x="1034860" y="0"/>
                </a:lnTo>
                <a:lnTo>
                  <a:pt x="1034860" y="383329"/>
                </a:lnTo>
                <a:lnTo>
                  <a:pt x="0" y="383329"/>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FFF8E9"/>
        </a:solidFill>
      </p:bgPr>
    </p:bg>
    <p:spTree>
      <p:nvGrpSpPr>
        <p:cNvPr id="1" name=""/>
        <p:cNvGrpSpPr/>
        <p:nvPr/>
      </p:nvGrpSpPr>
      <p:grpSpPr>
        <a:xfrm>
          <a:off x="0" y="0"/>
          <a:ext cx="0" cy="0"/>
          <a:chOff x="0" y="0"/>
          <a:chExt cx="0" cy="0"/>
        </a:xfrm>
      </p:grpSpPr>
      <p:grpSp>
        <p:nvGrpSpPr>
          <p:cNvPr name="Group 2" id="2"/>
          <p:cNvGrpSpPr/>
          <p:nvPr/>
        </p:nvGrpSpPr>
        <p:grpSpPr>
          <a:xfrm rot="0">
            <a:off x="13138009" y="1035414"/>
            <a:ext cx="4121291" cy="571004"/>
            <a:chOff x="0" y="0"/>
            <a:chExt cx="1370603" cy="189897"/>
          </a:xfrm>
        </p:grpSpPr>
        <p:sp>
          <p:nvSpPr>
            <p:cNvPr name="Freeform 3" id="3"/>
            <p:cNvSpPr/>
            <p:nvPr/>
          </p:nvSpPr>
          <p:spPr>
            <a:xfrm flipH="false" flipV="false" rot="0">
              <a:off x="0" y="0"/>
              <a:ext cx="1370603" cy="189897"/>
            </a:xfrm>
            <a:custGeom>
              <a:avLst/>
              <a:gdLst/>
              <a:ahLst/>
              <a:cxnLst/>
              <a:rect r="r" b="b" t="t" l="l"/>
              <a:pathLst>
                <a:path h="189897" w="1370603">
                  <a:moveTo>
                    <a:pt x="94948" y="0"/>
                  </a:moveTo>
                  <a:lnTo>
                    <a:pt x="1275655" y="0"/>
                  </a:lnTo>
                  <a:cubicBezTo>
                    <a:pt x="1300837" y="0"/>
                    <a:pt x="1324987" y="10003"/>
                    <a:pt x="1342794" y="27810"/>
                  </a:cubicBezTo>
                  <a:cubicBezTo>
                    <a:pt x="1360600" y="45616"/>
                    <a:pt x="1370603" y="69767"/>
                    <a:pt x="1370603" y="94948"/>
                  </a:cubicBezTo>
                  <a:lnTo>
                    <a:pt x="1370603" y="94948"/>
                  </a:lnTo>
                  <a:cubicBezTo>
                    <a:pt x="1370603" y="147387"/>
                    <a:pt x="1328094" y="189897"/>
                    <a:pt x="1275655" y="189897"/>
                  </a:cubicBezTo>
                  <a:lnTo>
                    <a:pt x="94948" y="189897"/>
                  </a:lnTo>
                  <a:cubicBezTo>
                    <a:pt x="42510" y="189897"/>
                    <a:pt x="0" y="147387"/>
                    <a:pt x="0" y="94948"/>
                  </a:cubicBezTo>
                  <a:lnTo>
                    <a:pt x="0" y="94948"/>
                  </a:lnTo>
                  <a:cubicBezTo>
                    <a:pt x="0" y="42510"/>
                    <a:pt x="42510" y="0"/>
                    <a:pt x="94948" y="0"/>
                  </a:cubicBezTo>
                  <a:close/>
                </a:path>
              </a:pathLst>
            </a:custGeom>
            <a:solidFill>
              <a:srgbClr val="FAA607"/>
            </a:solidFill>
            <a:ln cap="rnd">
              <a:noFill/>
              <a:prstDash val="solid"/>
              <a:round/>
            </a:ln>
          </p:spPr>
        </p:sp>
        <p:sp>
          <p:nvSpPr>
            <p:cNvPr name="TextBox 4" id="4"/>
            <p:cNvSpPr txBox="true"/>
            <p:nvPr/>
          </p:nvSpPr>
          <p:spPr>
            <a:xfrm>
              <a:off x="0" y="-57150"/>
              <a:ext cx="1370603" cy="247047"/>
            </a:xfrm>
            <a:prstGeom prst="rect">
              <a:avLst/>
            </a:prstGeom>
          </p:spPr>
          <p:txBody>
            <a:bodyPr anchor="ctr" rtlCol="false" tIns="50800" lIns="50800" bIns="50800" rIns="50800"/>
            <a:lstStyle/>
            <a:p>
              <a:pPr algn="ctr" marL="0" indent="0" lvl="0">
                <a:lnSpc>
                  <a:spcPts val="2824"/>
                </a:lnSpc>
                <a:spcBef>
                  <a:spcPct val="0"/>
                </a:spcBef>
              </a:pPr>
            </a:p>
          </p:txBody>
        </p:sp>
      </p:grpSp>
      <p:sp>
        <p:nvSpPr>
          <p:cNvPr name="Freeform 5" id="5"/>
          <p:cNvSpPr/>
          <p:nvPr/>
        </p:nvSpPr>
        <p:spPr>
          <a:xfrm flipH="false" flipV="false" rot="0">
            <a:off x="16815378" y="1166754"/>
            <a:ext cx="296763" cy="308325"/>
          </a:xfrm>
          <a:custGeom>
            <a:avLst/>
            <a:gdLst/>
            <a:ahLst/>
            <a:cxnLst/>
            <a:rect r="r" b="b" t="t" l="l"/>
            <a:pathLst>
              <a:path h="308325" w="296763">
                <a:moveTo>
                  <a:pt x="0" y="0"/>
                </a:moveTo>
                <a:lnTo>
                  <a:pt x="296763" y="0"/>
                </a:lnTo>
                <a:lnTo>
                  <a:pt x="296763" y="308325"/>
                </a:lnTo>
                <a:lnTo>
                  <a:pt x="0" y="30832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2145208">
            <a:off x="-4074482" y="2541597"/>
            <a:ext cx="14525775" cy="6496983"/>
          </a:xfrm>
          <a:custGeom>
            <a:avLst/>
            <a:gdLst/>
            <a:ahLst/>
            <a:cxnLst/>
            <a:rect r="r" b="b" t="t" l="l"/>
            <a:pathLst>
              <a:path h="6496983" w="14525775">
                <a:moveTo>
                  <a:pt x="0" y="0"/>
                </a:moveTo>
                <a:lnTo>
                  <a:pt x="14525775" y="0"/>
                </a:lnTo>
                <a:lnTo>
                  <a:pt x="14525775" y="6496983"/>
                </a:lnTo>
                <a:lnTo>
                  <a:pt x="0" y="64969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2145208">
            <a:off x="12600536" y="5752755"/>
            <a:ext cx="8429684" cy="3770368"/>
          </a:xfrm>
          <a:custGeom>
            <a:avLst/>
            <a:gdLst/>
            <a:ahLst/>
            <a:cxnLst/>
            <a:rect r="r" b="b" t="t" l="l"/>
            <a:pathLst>
              <a:path h="3770368" w="8429684">
                <a:moveTo>
                  <a:pt x="0" y="0"/>
                </a:moveTo>
                <a:lnTo>
                  <a:pt x="8429684" y="0"/>
                </a:lnTo>
                <a:lnTo>
                  <a:pt x="8429684" y="3770368"/>
                </a:lnTo>
                <a:lnTo>
                  <a:pt x="0" y="377036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028700" y="1049653"/>
            <a:ext cx="647545" cy="495666"/>
          </a:xfrm>
          <a:custGeom>
            <a:avLst/>
            <a:gdLst/>
            <a:ahLst/>
            <a:cxnLst/>
            <a:rect r="r" b="b" t="t" l="l"/>
            <a:pathLst>
              <a:path h="495666" w="647545">
                <a:moveTo>
                  <a:pt x="0" y="0"/>
                </a:moveTo>
                <a:lnTo>
                  <a:pt x="647545" y="0"/>
                </a:lnTo>
                <a:lnTo>
                  <a:pt x="647545" y="495666"/>
                </a:lnTo>
                <a:lnTo>
                  <a:pt x="0" y="49566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10577904">
            <a:off x="15336566" y="8524547"/>
            <a:ext cx="3845468" cy="4114800"/>
          </a:xfrm>
          <a:custGeom>
            <a:avLst/>
            <a:gdLst/>
            <a:ahLst/>
            <a:cxnLst/>
            <a:rect r="r" b="b" t="t" l="l"/>
            <a:pathLst>
              <a:path h="4114800" w="3845468">
                <a:moveTo>
                  <a:pt x="0" y="0"/>
                </a:moveTo>
                <a:lnTo>
                  <a:pt x="3845468" y="0"/>
                </a:lnTo>
                <a:lnTo>
                  <a:pt x="3845468"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6034560">
            <a:off x="-1502391" y="7200900"/>
            <a:ext cx="3845468" cy="4114800"/>
          </a:xfrm>
          <a:custGeom>
            <a:avLst/>
            <a:gdLst/>
            <a:ahLst/>
            <a:cxnLst/>
            <a:rect r="r" b="b" t="t" l="l"/>
            <a:pathLst>
              <a:path h="4114800" w="3845468">
                <a:moveTo>
                  <a:pt x="0" y="0"/>
                </a:moveTo>
                <a:lnTo>
                  <a:pt x="3845468" y="0"/>
                </a:lnTo>
                <a:lnTo>
                  <a:pt x="384546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4124654">
            <a:off x="16866407" y="3148635"/>
            <a:ext cx="626952" cy="392130"/>
          </a:xfrm>
          <a:custGeom>
            <a:avLst/>
            <a:gdLst/>
            <a:ahLst/>
            <a:cxnLst/>
            <a:rect r="r" b="b" t="t" l="l"/>
            <a:pathLst>
              <a:path h="392130" w="626952">
                <a:moveTo>
                  <a:pt x="0" y="0"/>
                </a:moveTo>
                <a:lnTo>
                  <a:pt x="626952" y="0"/>
                </a:lnTo>
                <a:lnTo>
                  <a:pt x="626952" y="392130"/>
                </a:lnTo>
                <a:lnTo>
                  <a:pt x="0" y="39213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2" id="12"/>
          <p:cNvSpPr/>
          <p:nvPr/>
        </p:nvSpPr>
        <p:spPr>
          <a:xfrm flipH="false" flipV="false" rot="-9344170">
            <a:off x="1659141" y="8782232"/>
            <a:ext cx="626952" cy="392130"/>
          </a:xfrm>
          <a:custGeom>
            <a:avLst/>
            <a:gdLst/>
            <a:ahLst/>
            <a:cxnLst/>
            <a:rect r="r" b="b" t="t" l="l"/>
            <a:pathLst>
              <a:path h="392130" w="626952">
                <a:moveTo>
                  <a:pt x="0" y="0"/>
                </a:moveTo>
                <a:lnTo>
                  <a:pt x="626952" y="0"/>
                </a:lnTo>
                <a:lnTo>
                  <a:pt x="626952" y="392130"/>
                </a:lnTo>
                <a:lnTo>
                  <a:pt x="0" y="39213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3" id="13"/>
          <p:cNvSpPr/>
          <p:nvPr/>
        </p:nvSpPr>
        <p:spPr>
          <a:xfrm flipH="false" flipV="false" rot="-7638806">
            <a:off x="692725" y="3680746"/>
            <a:ext cx="1034860" cy="383329"/>
          </a:xfrm>
          <a:custGeom>
            <a:avLst/>
            <a:gdLst/>
            <a:ahLst/>
            <a:cxnLst/>
            <a:rect r="r" b="b" t="t" l="l"/>
            <a:pathLst>
              <a:path h="383329" w="1034860">
                <a:moveTo>
                  <a:pt x="0" y="0"/>
                </a:moveTo>
                <a:lnTo>
                  <a:pt x="1034860" y="0"/>
                </a:lnTo>
                <a:lnTo>
                  <a:pt x="1034860" y="383329"/>
                </a:lnTo>
                <a:lnTo>
                  <a:pt x="0" y="383329"/>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grpSp>
        <p:nvGrpSpPr>
          <p:cNvPr name="Group 14" id="14"/>
          <p:cNvGrpSpPr/>
          <p:nvPr/>
        </p:nvGrpSpPr>
        <p:grpSpPr>
          <a:xfrm rot="0">
            <a:off x="1972617" y="1877424"/>
            <a:ext cx="6589085" cy="377803"/>
            <a:chOff x="0" y="0"/>
            <a:chExt cx="8785446" cy="503737"/>
          </a:xfrm>
        </p:grpSpPr>
        <p:grpSp>
          <p:nvGrpSpPr>
            <p:cNvPr name="Group 15" id="15"/>
            <p:cNvGrpSpPr/>
            <p:nvPr/>
          </p:nvGrpSpPr>
          <p:grpSpPr>
            <a:xfrm rot="0">
              <a:off x="0" y="76200"/>
              <a:ext cx="289415" cy="289415"/>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A607"/>
              </a:solidFill>
            </p:spPr>
          </p:sp>
          <p:sp>
            <p:nvSpPr>
              <p:cNvPr name="TextBox 17" id="17"/>
              <p:cNvSpPr txBox="true"/>
              <p:nvPr/>
            </p:nvSpPr>
            <p:spPr>
              <a:xfrm>
                <a:off x="76200" y="104775"/>
                <a:ext cx="660400" cy="631825"/>
              </a:xfrm>
              <a:prstGeom prst="rect">
                <a:avLst/>
              </a:prstGeom>
            </p:spPr>
            <p:txBody>
              <a:bodyPr anchor="ctr" rtlCol="false" tIns="50800" lIns="50800" bIns="50800" rIns="50800"/>
              <a:lstStyle/>
              <a:p>
                <a:pPr algn="ctr">
                  <a:lnSpc>
                    <a:spcPts val="2000"/>
                  </a:lnSpc>
                </a:pPr>
              </a:p>
            </p:txBody>
          </p:sp>
        </p:grpSp>
        <p:sp>
          <p:nvSpPr>
            <p:cNvPr name="TextBox 18" id="18"/>
            <p:cNvSpPr txBox="true"/>
            <p:nvPr/>
          </p:nvSpPr>
          <p:spPr>
            <a:xfrm rot="0">
              <a:off x="401700" y="47625"/>
              <a:ext cx="8383746" cy="456112"/>
            </a:xfrm>
            <a:prstGeom prst="rect">
              <a:avLst/>
            </a:prstGeom>
          </p:spPr>
          <p:txBody>
            <a:bodyPr anchor="t" rtlCol="false" tIns="0" lIns="0" bIns="0" rIns="0">
              <a:spAutoFit/>
            </a:bodyPr>
            <a:lstStyle/>
            <a:p>
              <a:pPr algn="l">
                <a:lnSpc>
                  <a:spcPts val="2499"/>
                </a:lnSpc>
              </a:pPr>
              <a:r>
                <a:rPr lang="en-US" b="true" sz="2499">
                  <a:solidFill>
                    <a:srgbClr val="5D4FCA"/>
                  </a:solidFill>
                  <a:latin typeface="Open Sans Bold"/>
                  <a:ea typeface="Open Sans Bold"/>
                  <a:cs typeface="Open Sans Bold"/>
                  <a:sym typeface="Open Sans Bold"/>
                </a:rPr>
                <a:t>DOKUMENTASI PIPELINE</a:t>
              </a:r>
            </a:p>
          </p:txBody>
        </p:sp>
      </p:grpSp>
      <p:sp>
        <p:nvSpPr>
          <p:cNvPr name="Freeform 19" id="19"/>
          <p:cNvSpPr/>
          <p:nvPr/>
        </p:nvSpPr>
        <p:spPr>
          <a:xfrm flipH="false" flipV="false" rot="0">
            <a:off x="1345322" y="2521926"/>
            <a:ext cx="15597357" cy="7213459"/>
          </a:xfrm>
          <a:custGeom>
            <a:avLst/>
            <a:gdLst/>
            <a:ahLst/>
            <a:cxnLst/>
            <a:rect r="r" b="b" t="t" l="l"/>
            <a:pathLst>
              <a:path h="7213459" w="15597357">
                <a:moveTo>
                  <a:pt x="0" y="0"/>
                </a:moveTo>
                <a:lnTo>
                  <a:pt x="15597356" y="0"/>
                </a:lnTo>
                <a:lnTo>
                  <a:pt x="15597356" y="7213460"/>
                </a:lnTo>
                <a:lnTo>
                  <a:pt x="0" y="7213460"/>
                </a:lnTo>
                <a:lnTo>
                  <a:pt x="0" y="0"/>
                </a:lnTo>
                <a:close/>
              </a:path>
            </a:pathLst>
          </a:custGeom>
          <a:blipFill>
            <a:blip r:embed="rId18"/>
            <a:stretch>
              <a:fillRect l="-9068" t="-34094" r="-3275" b="-2545"/>
            </a:stretch>
          </a:blipFill>
        </p:spPr>
      </p:sp>
      <p:sp>
        <p:nvSpPr>
          <p:cNvPr name="TextBox 20" id="20"/>
          <p:cNvSpPr txBox="true"/>
          <p:nvPr/>
        </p:nvSpPr>
        <p:spPr>
          <a:xfrm rot="0">
            <a:off x="11428284" y="1200266"/>
            <a:ext cx="1370528" cy="269875"/>
          </a:xfrm>
          <a:prstGeom prst="rect">
            <a:avLst/>
          </a:prstGeom>
        </p:spPr>
        <p:txBody>
          <a:bodyPr anchor="t" rtlCol="false" tIns="0" lIns="0" bIns="0" rIns="0">
            <a:spAutoFit/>
          </a:bodyPr>
          <a:lstStyle/>
          <a:p>
            <a:pPr algn="ctr">
              <a:lnSpc>
                <a:spcPts val="2000"/>
              </a:lnSpc>
            </a:pPr>
            <a:r>
              <a:rPr lang="en-US" sz="2000">
                <a:solidFill>
                  <a:srgbClr val="27194D">
                    <a:alpha val="55686"/>
                  </a:srgbClr>
                </a:solidFill>
                <a:latin typeface="Open Sans"/>
                <a:ea typeface="Open Sans"/>
                <a:cs typeface="Open Sans"/>
                <a:sym typeface="Open Sans"/>
              </a:rPr>
              <a:t>LAYANAN</a:t>
            </a:r>
          </a:p>
        </p:txBody>
      </p:sp>
      <p:sp>
        <p:nvSpPr>
          <p:cNvPr name="TextBox 21" id="21"/>
          <p:cNvSpPr txBox="true"/>
          <p:nvPr/>
        </p:nvSpPr>
        <p:spPr>
          <a:xfrm rot="0">
            <a:off x="9810993" y="1200266"/>
            <a:ext cx="1293441" cy="269875"/>
          </a:xfrm>
          <a:prstGeom prst="rect">
            <a:avLst/>
          </a:prstGeom>
        </p:spPr>
        <p:txBody>
          <a:bodyPr anchor="t" rtlCol="false" tIns="0" lIns="0" bIns="0" rIns="0">
            <a:spAutoFit/>
          </a:bodyPr>
          <a:lstStyle/>
          <a:p>
            <a:pPr algn="ctr">
              <a:lnSpc>
                <a:spcPts val="2000"/>
              </a:lnSpc>
            </a:pPr>
            <a:r>
              <a:rPr lang="en-US" b="true" sz="2000">
                <a:solidFill>
                  <a:srgbClr val="5D4FCA"/>
                </a:solidFill>
                <a:latin typeface="Open Sans Bold"/>
                <a:ea typeface="Open Sans Bold"/>
                <a:cs typeface="Open Sans Bold"/>
                <a:sym typeface="Open Sans Bold"/>
              </a:rPr>
              <a:t>BERANDA</a:t>
            </a:r>
          </a:p>
        </p:txBody>
      </p:sp>
      <p:sp>
        <p:nvSpPr>
          <p:cNvPr name="TextBox 22" id="22"/>
          <p:cNvSpPr txBox="true"/>
          <p:nvPr/>
        </p:nvSpPr>
        <p:spPr>
          <a:xfrm rot="0">
            <a:off x="1847695" y="1109652"/>
            <a:ext cx="3115460" cy="422529"/>
          </a:xfrm>
          <a:prstGeom prst="rect">
            <a:avLst/>
          </a:prstGeom>
        </p:spPr>
        <p:txBody>
          <a:bodyPr anchor="t" rtlCol="false" tIns="0" lIns="0" bIns="0" rIns="0">
            <a:spAutoFit/>
          </a:bodyPr>
          <a:lstStyle/>
          <a:p>
            <a:pPr algn="l">
              <a:lnSpc>
                <a:spcPts val="3107"/>
              </a:lnSpc>
            </a:pPr>
            <a:r>
              <a:rPr lang="en-US" sz="2799" b="true">
                <a:solidFill>
                  <a:srgbClr val="5D4FCA"/>
                </a:solidFill>
                <a:latin typeface="Roboto Condensed Bold"/>
                <a:ea typeface="Roboto Condensed Bold"/>
                <a:cs typeface="Roboto Condensed Bold"/>
                <a:sym typeface="Roboto Condensed Bold"/>
              </a:rPr>
              <a:t>DATA PUBLISHING</a:t>
            </a:r>
          </a:p>
        </p:txBody>
      </p:sp>
      <p:sp>
        <p:nvSpPr>
          <p:cNvPr name="TextBox 23" id="23"/>
          <p:cNvSpPr txBox="true"/>
          <p:nvPr/>
        </p:nvSpPr>
        <p:spPr>
          <a:xfrm rot="0">
            <a:off x="13450786" y="1195329"/>
            <a:ext cx="4121291" cy="269831"/>
          </a:xfrm>
          <a:prstGeom prst="rect">
            <a:avLst/>
          </a:prstGeom>
        </p:spPr>
        <p:txBody>
          <a:bodyPr anchor="t" rtlCol="false" tIns="0" lIns="0" bIns="0" rIns="0">
            <a:spAutoFit/>
          </a:bodyPr>
          <a:lstStyle/>
          <a:p>
            <a:pPr algn="l">
              <a:lnSpc>
                <a:spcPts val="2000"/>
              </a:lnSpc>
              <a:spcBef>
                <a:spcPct val="0"/>
              </a:spcBef>
            </a:pPr>
            <a:r>
              <a:rPr lang="en-US" b="true" sz="2000">
                <a:solidFill>
                  <a:srgbClr val="FFF8E9"/>
                </a:solidFill>
                <a:latin typeface="Open Sans Bold"/>
                <a:ea typeface="Open Sans Bold"/>
                <a:cs typeface="Open Sans Bold"/>
                <a:sym typeface="Open Sans Bold"/>
              </a:rPr>
              <a:t>VISUALISASI</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FFF8E9"/>
        </a:solidFill>
      </p:bgPr>
    </p:bg>
    <p:spTree>
      <p:nvGrpSpPr>
        <p:cNvPr id="1" name=""/>
        <p:cNvGrpSpPr/>
        <p:nvPr/>
      </p:nvGrpSpPr>
      <p:grpSpPr>
        <a:xfrm>
          <a:off x="0" y="0"/>
          <a:ext cx="0" cy="0"/>
          <a:chOff x="0" y="0"/>
          <a:chExt cx="0" cy="0"/>
        </a:xfrm>
      </p:grpSpPr>
      <p:sp>
        <p:nvSpPr>
          <p:cNvPr name="Freeform 2" id="2"/>
          <p:cNvSpPr/>
          <p:nvPr/>
        </p:nvSpPr>
        <p:spPr>
          <a:xfrm flipH="false" flipV="false" rot="-5687936">
            <a:off x="15336566" y="-1307732"/>
            <a:ext cx="3845468" cy="4114800"/>
          </a:xfrm>
          <a:custGeom>
            <a:avLst/>
            <a:gdLst/>
            <a:ahLst/>
            <a:cxnLst/>
            <a:rect r="r" b="b" t="t" l="l"/>
            <a:pathLst>
              <a:path h="4114800" w="3845468">
                <a:moveTo>
                  <a:pt x="0" y="0"/>
                </a:moveTo>
                <a:lnTo>
                  <a:pt x="3845468" y="0"/>
                </a:lnTo>
                <a:lnTo>
                  <a:pt x="3845468"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6034560">
            <a:off x="-1502391" y="7200900"/>
            <a:ext cx="3845468" cy="4114800"/>
          </a:xfrm>
          <a:custGeom>
            <a:avLst/>
            <a:gdLst/>
            <a:ahLst/>
            <a:cxnLst/>
            <a:rect r="r" b="b" t="t" l="l"/>
            <a:pathLst>
              <a:path h="4114800" w="3845468">
                <a:moveTo>
                  <a:pt x="0" y="0"/>
                </a:moveTo>
                <a:lnTo>
                  <a:pt x="3845468" y="0"/>
                </a:lnTo>
                <a:lnTo>
                  <a:pt x="3845468"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2145208">
            <a:off x="7697412" y="4335480"/>
            <a:ext cx="13333067" cy="5963517"/>
          </a:xfrm>
          <a:custGeom>
            <a:avLst/>
            <a:gdLst/>
            <a:ahLst/>
            <a:cxnLst/>
            <a:rect r="r" b="b" t="t" l="l"/>
            <a:pathLst>
              <a:path h="5963517" w="13333067">
                <a:moveTo>
                  <a:pt x="0" y="0"/>
                </a:moveTo>
                <a:lnTo>
                  <a:pt x="13333067" y="0"/>
                </a:lnTo>
                <a:lnTo>
                  <a:pt x="13333067" y="5963518"/>
                </a:lnTo>
                <a:lnTo>
                  <a:pt x="0" y="596351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2145208">
            <a:off x="-4801739" y="2802959"/>
            <a:ext cx="11211722" cy="5014698"/>
          </a:xfrm>
          <a:custGeom>
            <a:avLst/>
            <a:gdLst/>
            <a:ahLst/>
            <a:cxnLst/>
            <a:rect r="r" b="b" t="t" l="l"/>
            <a:pathLst>
              <a:path h="5014698" w="11211722">
                <a:moveTo>
                  <a:pt x="0" y="0"/>
                </a:moveTo>
                <a:lnTo>
                  <a:pt x="11211722" y="0"/>
                </a:lnTo>
                <a:lnTo>
                  <a:pt x="11211722" y="5014698"/>
                </a:lnTo>
                <a:lnTo>
                  <a:pt x="0" y="501469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13138009" y="1035414"/>
            <a:ext cx="4121291" cy="571004"/>
            <a:chOff x="0" y="0"/>
            <a:chExt cx="1370603" cy="189897"/>
          </a:xfrm>
        </p:grpSpPr>
        <p:sp>
          <p:nvSpPr>
            <p:cNvPr name="Freeform 7" id="7"/>
            <p:cNvSpPr/>
            <p:nvPr/>
          </p:nvSpPr>
          <p:spPr>
            <a:xfrm flipH="false" flipV="false" rot="0">
              <a:off x="0" y="0"/>
              <a:ext cx="1370603" cy="189897"/>
            </a:xfrm>
            <a:custGeom>
              <a:avLst/>
              <a:gdLst/>
              <a:ahLst/>
              <a:cxnLst/>
              <a:rect r="r" b="b" t="t" l="l"/>
              <a:pathLst>
                <a:path h="189897" w="1370603">
                  <a:moveTo>
                    <a:pt x="94948" y="0"/>
                  </a:moveTo>
                  <a:lnTo>
                    <a:pt x="1275655" y="0"/>
                  </a:lnTo>
                  <a:cubicBezTo>
                    <a:pt x="1300837" y="0"/>
                    <a:pt x="1324987" y="10003"/>
                    <a:pt x="1342794" y="27810"/>
                  </a:cubicBezTo>
                  <a:cubicBezTo>
                    <a:pt x="1360600" y="45616"/>
                    <a:pt x="1370603" y="69767"/>
                    <a:pt x="1370603" y="94948"/>
                  </a:cubicBezTo>
                  <a:lnTo>
                    <a:pt x="1370603" y="94948"/>
                  </a:lnTo>
                  <a:cubicBezTo>
                    <a:pt x="1370603" y="147387"/>
                    <a:pt x="1328094" y="189897"/>
                    <a:pt x="1275655" y="189897"/>
                  </a:cubicBezTo>
                  <a:lnTo>
                    <a:pt x="94948" y="189897"/>
                  </a:lnTo>
                  <a:cubicBezTo>
                    <a:pt x="42510" y="189897"/>
                    <a:pt x="0" y="147387"/>
                    <a:pt x="0" y="94948"/>
                  </a:cubicBezTo>
                  <a:lnTo>
                    <a:pt x="0" y="94948"/>
                  </a:lnTo>
                  <a:cubicBezTo>
                    <a:pt x="0" y="42510"/>
                    <a:pt x="42510" y="0"/>
                    <a:pt x="94948" y="0"/>
                  </a:cubicBezTo>
                  <a:close/>
                </a:path>
              </a:pathLst>
            </a:custGeom>
            <a:solidFill>
              <a:srgbClr val="FAA607"/>
            </a:solidFill>
            <a:ln cap="rnd">
              <a:noFill/>
              <a:prstDash val="solid"/>
              <a:round/>
            </a:ln>
          </p:spPr>
        </p:sp>
        <p:sp>
          <p:nvSpPr>
            <p:cNvPr name="TextBox 8" id="8"/>
            <p:cNvSpPr txBox="true"/>
            <p:nvPr/>
          </p:nvSpPr>
          <p:spPr>
            <a:xfrm>
              <a:off x="0" y="-57150"/>
              <a:ext cx="1370603" cy="247047"/>
            </a:xfrm>
            <a:prstGeom prst="rect">
              <a:avLst/>
            </a:prstGeom>
          </p:spPr>
          <p:txBody>
            <a:bodyPr anchor="ctr" rtlCol="false" tIns="50800" lIns="50800" bIns="50800" rIns="50800"/>
            <a:lstStyle/>
            <a:p>
              <a:pPr algn="ctr" marL="0" indent="0" lvl="0">
                <a:lnSpc>
                  <a:spcPts val="2824"/>
                </a:lnSpc>
                <a:spcBef>
                  <a:spcPct val="0"/>
                </a:spcBef>
              </a:pPr>
            </a:p>
          </p:txBody>
        </p:sp>
      </p:grpSp>
      <p:sp>
        <p:nvSpPr>
          <p:cNvPr name="Freeform 9" id="9"/>
          <p:cNvSpPr/>
          <p:nvPr/>
        </p:nvSpPr>
        <p:spPr>
          <a:xfrm flipH="false" flipV="false" rot="0">
            <a:off x="16815378" y="1166754"/>
            <a:ext cx="296763" cy="308325"/>
          </a:xfrm>
          <a:custGeom>
            <a:avLst/>
            <a:gdLst/>
            <a:ahLst/>
            <a:cxnLst/>
            <a:rect r="r" b="b" t="t" l="l"/>
            <a:pathLst>
              <a:path h="308325" w="296763">
                <a:moveTo>
                  <a:pt x="0" y="0"/>
                </a:moveTo>
                <a:lnTo>
                  <a:pt x="296763" y="0"/>
                </a:lnTo>
                <a:lnTo>
                  <a:pt x="296763" y="308325"/>
                </a:lnTo>
                <a:lnTo>
                  <a:pt x="0" y="30832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10548510" y="2730690"/>
            <a:ext cx="6563631" cy="6366722"/>
          </a:xfrm>
          <a:custGeom>
            <a:avLst/>
            <a:gdLst/>
            <a:ahLst/>
            <a:cxnLst/>
            <a:rect r="r" b="b" t="t" l="l"/>
            <a:pathLst>
              <a:path h="6366722" w="6563631">
                <a:moveTo>
                  <a:pt x="0" y="0"/>
                </a:moveTo>
                <a:lnTo>
                  <a:pt x="6563631" y="0"/>
                </a:lnTo>
                <a:lnTo>
                  <a:pt x="6563631" y="6366722"/>
                </a:lnTo>
                <a:lnTo>
                  <a:pt x="0" y="636672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1" id="11"/>
          <p:cNvSpPr txBox="true"/>
          <p:nvPr/>
        </p:nvSpPr>
        <p:spPr>
          <a:xfrm rot="0">
            <a:off x="11428284" y="1200266"/>
            <a:ext cx="1370528" cy="269875"/>
          </a:xfrm>
          <a:prstGeom prst="rect">
            <a:avLst/>
          </a:prstGeom>
        </p:spPr>
        <p:txBody>
          <a:bodyPr anchor="t" rtlCol="false" tIns="0" lIns="0" bIns="0" rIns="0">
            <a:spAutoFit/>
          </a:bodyPr>
          <a:lstStyle/>
          <a:p>
            <a:pPr algn="ctr">
              <a:lnSpc>
                <a:spcPts val="2000"/>
              </a:lnSpc>
            </a:pPr>
            <a:r>
              <a:rPr lang="en-US" sz="2000">
                <a:solidFill>
                  <a:srgbClr val="27194D">
                    <a:alpha val="55686"/>
                  </a:srgbClr>
                </a:solidFill>
                <a:latin typeface="Open Sans"/>
                <a:ea typeface="Open Sans"/>
                <a:cs typeface="Open Sans"/>
                <a:sym typeface="Open Sans"/>
              </a:rPr>
              <a:t>LAYANAN</a:t>
            </a:r>
          </a:p>
        </p:txBody>
      </p:sp>
      <p:sp>
        <p:nvSpPr>
          <p:cNvPr name="TextBox 12" id="12"/>
          <p:cNvSpPr txBox="true"/>
          <p:nvPr/>
        </p:nvSpPr>
        <p:spPr>
          <a:xfrm rot="0">
            <a:off x="9810993" y="1200266"/>
            <a:ext cx="1293441" cy="269875"/>
          </a:xfrm>
          <a:prstGeom prst="rect">
            <a:avLst/>
          </a:prstGeom>
        </p:spPr>
        <p:txBody>
          <a:bodyPr anchor="t" rtlCol="false" tIns="0" lIns="0" bIns="0" rIns="0">
            <a:spAutoFit/>
          </a:bodyPr>
          <a:lstStyle/>
          <a:p>
            <a:pPr algn="ctr">
              <a:lnSpc>
                <a:spcPts val="2000"/>
              </a:lnSpc>
            </a:pPr>
            <a:r>
              <a:rPr lang="en-US" b="true" sz="2000">
                <a:solidFill>
                  <a:srgbClr val="5D4FCA"/>
                </a:solidFill>
                <a:latin typeface="Open Sans Bold"/>
                <a:ea typeface="Open Sans Bold"/>
                <a:cs typeface="Open Sans Bold"/>
                <a:sym typeface="Open Sans Bold"/>
              </a:rPr>
              <a:t>BERANDA</a:t>
            </a:r>
          </a:p>
        </p:txBody>
      </p:sp>
      <p:sp>
        <p:nvSpPr>
          <p:cNvPr name="TextBox 13" id="13"/>
          <p:cNvSpPr txBox="true"/>
          <p:nvPr/>
        </p:nvSpPr>
        <p:spPr>
          <a:xfrm rot="0">
            <a:off x="1847695" y="2196156"/>
            <a:ext cx="7757779" cy="1264202"/>
          </a:xfrm>
          <a:prstGeom prst="rect">
            <a:avLst/>
          </a:prstGeom>
        </p:spPr>
        <p:txBody>
          <a:bodyPr anchor="t" rtlCol="false" tIns="0" lIns="0" bIns="0" rIns="0">
            <a:spAutoFit/>
          </a:bodyPr>
          <a:lstStyle/>
          <a:p>
            <a:pPr algn="l">
              <a:lnSpc>
                <a:spcPts val="10085"/>
              </a:lnSpc>
            </a:pPr>
            <a:r>
              <a:rPr lang="en-US" sz="8199" b="true">
                <a:solidFill>
                  <a:srgbClr val="27194D"/>
                </a:solidFill>
                <a:latin typeface="Roboto Condensed Bold"/>
                <a:ea typeface="Roboto Condensed Bold"/>
                <a:cs typeface="Roboto Condensed Bold"/>
                <a:sym typeface="Roboto Condensed Bold"/>
              </a:rPr>
              <a:t>KENDALA</a:t>
            </a:r>
          </a:p>
        </p:txBody>
      </p:sp>
      <p:grpSp>
        <p:nvGrpSpPr>
          <p:cNvPr name="Group 14" id="14"/>
          <p:cNvGrpSpPr/>
          <p:nvPr/>
        </p:nvGrpSpPr>
        <p:grpSpPr>
          <a:xfrm rot="0">
            <a:off x="1829652" y="3824606"/>
            <a:ext cx="7809891" cy="825766"/>
            <a:chOff x="0" y="0"/>
            <a:chExt cx="10413188" cy="1101022"/>
          </a:xfrm>
        </p:grpSpPr>
        <p:grpSp>
          <p:nvGrpSpPr>
            <p:cNvPr name="Group 15" id="15"/>
            <p:cNvGrpSpPr/>
            <p:nvPr/>
          </p:nvGrpSpPr>
          <p:grpSpPr>
            <a:xfrm rot="0">
              <a:off x="474459" y="0"/>
              <a:ext cx="9938729" cy="1101022"/>
              <a:chOff x="0" y="0"/>
              <a:chExt cx="1963206" cy="217486"/>
            </a:xfrm>
          </p:grpSpPr>
          <p:sp>
            <p:nvSpPr>
              <p:cNvPr name="Freeform 16" id="16"/>
              <p:cNvSpPr/>
              <p:nvPr/>
            </p:nvSpPr>
            <p:spPr>
              <a:xfrm flipH="false" flipV="false" rot="0">
                <a:off x="0" y="0"/>
                <a:ext cx="1963206" cy="217486"/>
              </a:xfrm>
              <a:custGeom>
                <a:avLst/>
                <a:gdLst/>
                <a:ahLst/>
                <a:cxnLst/>
                <a:rect r="r" b="b" t="t" l="l"/>
                <a:pathLst>
                  <a:path h="217486" w="1963206">
                    <a:moveTo>
                      <a:pt x="27004" y="0"/>
                    </a:moveTo>
                    <a:lnTo>
                      <a:pt x="1936202" y="0"/>
                    </a:lnTo>
                    <a:cubicBezTo>
                      <a:pt x="1951116" y="0"/>
                      <a:pt x="1963206" y="12090"/>
                      <a:pt x="1963206" y="27004"/>
                    </a:cubicBezTo>
                    <a:lnTo>
                      <a:pt x="1963206" y="190482"/>
                    </a:lnTo>
                    <a:cubicBezTo>
                      <a:pt x="1963206" y="197644"/>
                      <a:pt x="1960361" y="204512"/>
                      <a:pt x="1955296" y="209577"/>
                    </a:cubicBezTo>
                    <a:cubicBezTo>
                      <a:pt x="1950232" y="214641"/>
                      <a:pt x="1943364" y="217486"/>
                      <a:pt x="1936202" y="217486"/>
                    </a:cubicBezTo>
                    <a:lnTo>
                      <a:pt x="27004" y="217486"/>
                    </a:lnTo>
                    <a:cubicBezTo>
                      <a:pt x="19842" y="217486"/>
                      <a:pt x="12974" y="214641"/>
                      <a:pt x="7909" y="209577"/>
                    </a:cubicBezTo>
                    <a:cubicBezTo>
                      <a:pt x="2845" y="204512"/>
                      <a:pt x="0" y="197644"/>
                      <a:pt x="0" y="190482"/>
                    </a:cubicBezTo>
                    <a:lnTo>
                      <a:pt x="0" y="27004"/>
                    </a:lnTo>
                    <a:cubicBezTo>
                      <a:pt x="0" y="19842"/>
                      <a:pt x="2845" y="12974"/>
                      <a:pt x="7909" y="7909"/>
                    </a:cubicBezTo>
                    <a:cubicBezTo>
                      <a:pt x="12974" y="2845"/>
                      <a:pt x="19842" y="0"/>
                      <a:pt x="27004" y="0"/>
                    </a:cubicBezTo>
                    <a:close/>
                  </a:path>
                </a:pathLst>
              </a:custGeom>
              <a:solidFill>
                <a:srgbClr val="FAA607"/>
              </a:solidFill>
            </p:spPr>
          </p:sp>
          <p:sp>
            <p:nvSpPr>
              <p:cNvPr name="TextBox 17" id="17"/>
              <p:cNvSpPr txBox="true"/>
              <p:nvPr/>
            </p:nvSpPr>
            <p:spPr>
              <a:xfrm>
                <a:off x="0" y="28575"/>
                <a:ext cx="1963206" cy="188911"/>
              </a:xfrm>
              <a:prstGeom prst="rect">
                <a:avLst/>
              </a:prstGeom>
            </p:spPr>
            <p:txBody>
              <a:bodyPr anchor="ctr" rtlCol="false" tIns="50800" lIns="50800" bIns="50800" rIns="50800"/>
              <a:lstStyle/>
              <a:p>
                <a:pPr algn="ctr">
                  <a:lnSpc>
                    <a:spcPts val="2000"/>
                  </a:lnSpc>
                </a:pPr>
              </a:p>
            </p:txBody>
          </p:sp>
        </p:grpSp>
        <p:grpSp>
          <p:nvGrpSpPr>
            <p:cNvPr name="Group 18" id="18"/>
            <p:cNvGrpSpPr/>
            <p:nvPr/>
          </p:nvGrpSpPr>
          <p:grpSpPr>
            <a:xfrm rot="0">
              <a:off x="0" y="76052"/>
              <a:ext cx="948918" cy="948918"/>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D4FCA"/>
              </a:solidFill>
            </p:spPr>
          </p:sp>
          <p:sp>
            <p:nvSpPr>
              <p:cNvPr name="TextBox 20" id="20"/>
              <p:cNvSpPr txBox="true"/>
              <p:nvPr/>
            </p:nvSpPr>
            <p:spPr>
              <a:xfrm>
                <a:off x="76200" y="104775"/>
                <a:ext cx="660400" cy="631825"/>
              </a:xfrm>
              <a:prstGeom prst="rect">
                <a:avLst/>
              </a:prstGeom>
            </p:spPr>
            <p:txBody>
              <a:bodyPr anchor="ctr" rtlCol="false" tIns="50800" lIns="50800" bIns="50800" rIns="50800"/>
              <a:lstStyle/>
              <a:p>
                <a:pPr algn="ctr">
                  <a:lnSpc>
                    <a:spcPts val="2000"/>
                  </a:lnSpc>
                </a:pPr>
              </a:p>
            </p:txBody>
          </p:sp>
        </p:grpSp>
        <p:sp>
          <p:nvSpPr>
            <p:cNvPr name="TextBox 21" id="21"/>
            <p:cNvSpPr txBox="true"/>
            <p:nvPr/>
          </p:nvSpPr>
          <p:spPr>
            <a:xfrm rot="0">
              <a:off x="1189364" y="235288"/>
              <a:ext cx="8563100" cy="547100"/>
            </a:xfrm>
            <a:prstGeom prst="rect">
              <a:avLst/>
            </a:prstGeom>
          </p:spPr>
          <p:txBody>
            <a:bodyPr anchor="t" rtlCol="false" tIns="0" lIns="0" bIns="0" rIns="0">
              <a:spAutoFit/>
            </a:bodyPr>
            <a:lstStyle/>
            <a:p>
              <a:pPr algn="l" marL="0" indent="0" lvl="0">
                <a:lnSpc>
                  <a:spcPts val="3499"/>
                </a:lnSpc>
              </a:pPr>
              <a:r>
                <a:rPr lang="en-US" b="true" sz="2499">
                  <a:solidFill>
                    <a:srgbClr val="FFF8E9"/>
                  </a:solidFill>
                  <a:latin typeface="Open Sans Bold"/>
                  <a:ea typeface="Open Sans Bold"/>
                  <a:cs typeface="Open Sans Bold"/>
                  <a:sym typeface="Open Sans Bold"/>
                </a:rPr>
                <a:t>Perubahan ide dan data yang digunakan</a:t>
              </a:r>
            </a:p>
          </p:txBody>
        </p:sp>
        <p:sp>
          <p:nvSpPr>
            <p:cNvPr name="TextBox 22" id="22"/>
            <p:cNvSpPr txBox="true"/>
            <p:nvPr/>
          </p:nvSpPr>
          <p:spPr>
            <a:xfrm rot="0">
              <a:off x="119793" y="212664"/>
              <a:ext cx="709331" cy="620923"/>
            </a:xfrm>
            <a:prstGeom prst="rect">
              <a:avLst/>
            </a:prstGeom>
          </p:spPr>
          <p:txBody>
            <a:bodyPr anchor="t" rtlCol="false" tIns="0" lIns="0" bIns="0" rIns="0">
              <a:spAutoFit/>
            </a:bodyPr>
            <a:lstStyle/>
            <a:p>
              <a:pPr algn="ctr">
                <a:lnSpc>
                  <a:spcPts val="3691"/>
                </a:lnSpc>
              </a:pPr>
              <a:r>
                <a:rPr lang="en-US" b="true" sz="3001">
                  <a:solidFill>
                    <a:srgbClr val="FAA607"/>
                  </a:solidFill>
                  <a:latin typeface="Roboto Condensed Bold"/>
                  <a:ea typeface="Roboto Condensed Bold"/>
                  <a:cs typeface="Roboto Condensed Bold"/>
                  <a:sym typeface="Roboto Condensed Bold"/>
                </a:rPr>
                <a:t>01</a:t>
              </a:r>
            </a:p>
          </p:txBody>
        </p:sp>
      </p:grpSp>
      <p:sp>
        <p:nvSpPr>
          <p:cNvPr name="TextBox 23" id="23"/>
          <p:cNvSpPr txBox="true"/>
          <p:nvPr/>
        </p:nvSpPr>
        <p:spPr>
          <a:xfrm rot="0">
            <a:off x="1847695" y="1109652"/>
            <a:ext cx="3810199" cy="422485"/>
          </a:xfrm>
          <a:prstGeom prst="rect">
            <a:avLst/>
          </a:prstGeom>
        </p:spPr>
        <p:txBody>
          <a:bodyPr anchor="t" rtlCol="false" tIns="0" lIns="0" bIns="0" rIns="0">
            <a:spAutoFit/>
          </a:bodyPr>
          <a:lstStyle/>
          <a:p>
            <a:pPr algn="l">
              <a:lnSpc>
                <a:spcPts val="3107"/>
              </a:lnSpc>
            </a:pPr>
            <a:r>
              <a:rPr lang="en-US" sz="2799" b="true">
                <a:solidFill>
                  <a:srgbClr val="5D4FCA"/>
                </a:solidFill>
                <a:latin typeface="Roboto Condensed Bold"/>
                <a:ea typeface="Roboto Condensed Bold"/>
                <a:cs typeface="Roboto Condensed Bold"/>
                <a:sym typeface="Roboto Condensed Bold"/>
              </a:rPr>
              <a:t>KENDALA DAN RENCANA</a:t>
            </a:r>
          </a:p>
        </p:txBody>
      </p:sp>
      <p:sp>
        <p:nvSpPr>
          <p:cNvPr name="Freeform 24" id="24"/>
          <p:cNvSpPr/>
          <p:nvPr/>
        </p:nvSpPr>
        <p:spPr>
          <a:xfrm flipH="false" flipV="false" rot="0">
            <a:off x="1028700" y="1049653"/>
            <a:ext cx="647545" cy="495666"/>
          </a:xfrm>
          <a:custGeom>
            <a:avLst/>
            <a:gdLst/>
            <a:ahLst/>
            <a:cxnLst/>
            <a:rect r="r" b="b" t="t" l="l"/>
            <a:pathLst>
              <a:path h="495666" w="647545">
                <a:moveTo>
                  <a:pt x="0" y="0"/>
                </a:moveTo>
                <a:lnTo>
                  <a:pt x="647545" y="0"/>
                </a:lnTo>
                <a:lnTo>
                  <a:pt x="647545" y="495666"/>
                </a:lnTo>
                <a:lnTo>
                  <a:pt x="0" y="49566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5" id="25"/>
          <p:cNvSpPr/>
          <p:nvPr/>
        </p:nvSpPr>
        <p:spPr>
          <a:xfrm flipH="false" flipV="false" rot="720432">
            <a:off x="16866407" y="2641717"/>
            <a:ext cx="626952" cy="392130"/>
          </a:xfrm>
          <a:custGeom>
            <a:avLst/>
            <a:gdLst/>
            <a:ahLst/>
            <a:cxnLst/>
            <a:rect r="r" b="b" t="t" l="l"/>
            <a:pathLst>
              <a:path h="392130" w="626952">
                <a:moveTo>
                  <a:pt x="0" y="0"/>
                </a:moveTo>
                <a:lnTo>
                  <a:pt x="626952" y="0"/>
                </a:lnTo>
                <a:lnTo>
                  <a:pt x="626952" y="392130"/>
                </a:lnTo>
                <a:lnTo>
                  <a:pt x="0" y="39213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26" id="26"/>
          <p:cNvSpPr/>
          <p:nvPr/>
        </p:nvSpPr>
        <p:spPr>
          <a:xfrm flipH="false" flipV="false" rot="-3346249">
            <a:off x="286692" y="4006637"/>
            <a:ext cx="1034860" cy="383329"/>
          </a:xfrm>
          <a:custGeom>
            <a:avLst/>
            <a:gdLst/>
            <a:ahLst/>
            <a:cxnLst/>
            <a:rect r="r" b="b" t="t" l="l"/>
            <a:pathLst>
              <a:path h="383329" w="1034860">
                <a:moveTo>
                  <a:pt x="0" y="0"/>
                </a:moveTo>
                <a:lnTo>
                  <a:pt x="1034860" y="0"/>
                </a:lnTo>
                <a:lnTo>
                  <a:pt x="1034860" y="383329"/>
                </a:lnTo>
                <a:lnTo>
                  <a:pt x="0" y="383329"/>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grpSp>
        <p:nvGrpSpPr>
          <p:cNvPr name="Group 27" id="27"/>
          <p:cNvGrpSpPr/>
          <p:nvPr/>
        </p:nvGrpSpPr>
        <p:grpSpPr>
          <a:xfrm rot="0">
            <a:off x="1847695" y="4824129"/>
            <a:ext cx="7809891" cy="825766"/>
            <a:chOff x="0" y="0"/>
            <a:chExt cx="10413188" cy="1101022"/>
          </a:xfrm>
        </p:grpSpPr>
        <p:grpSp>
          <p:nvGrpSpPr>
            <p:cNvPr name="Group 28" id="28"/>
            <p:cNvGrpSpPr/>
            <p:nvPr/>
          </p:nvGrpSpPr>
          <p:grpSpPr>
            <a:xfrm rot="0">
              <a:off x="474459" y="0"/>
              <a:ext cx="9938729" cy="1101022"/>
              <a:chOff x="0" y="0"/>
              <a:chExt cx="1963206" cy="217486"/>
            </a:xfrm>
          </p:grpSpPr>
          <p:sp>
            <p:nvSpPr>
              <p:cNvPr name="Freeform 29" id="29"/>
              <p:cNvSpPr/>
              <p:nvPr/>
            </p:nvSpPr>
            <p:spPr>
              <a:xfrm flipH="false" flipV="false" rot="0">
                <a:off x="0" y="0"/>
                <a:ext cx="1963206" cy="217486"/>
              </a:xfrm>
              <a:custGeom>
                <a:avLst/>
                <a:gdLst/>
                <a:ahLst/>
                <a:cxnLst/>
                <a:rect r="r" b="b" t="t" l="l"/>
                <a:pathLst>
                  <a:path h="217486" w="1963206">
                    <a:moveTo>
                      <a:pt x="27004" y="0"/>
                    </a:moveTo>
                    <a:lnTo>
                      <a:pt x="1936202" y="0"/>
                    </a:lnTo>
                    <a:cubicBezTo>
                      <a:pt x="1951116" y="0"/>
                      <a:pt x="1963206" y="12090"/>
                      <a:pt x="1963206" y="27004"/>
                    </a:cubicBezTo>
                    <a:lnTo>
                      <a:pt x="1963206" y="190482"/>
                    </a:lnTo>
                    <a:cubicBezTo>
                      <a:pt x="1963206" y="197644"/>
                      <a:pt x="1960361" y="204512"/>
                      <a:pt x="1955296" y="209577"/>
                    </a:cubicBezTo>
                    <a:cubicBezTo>
                      <a:pt x="1950232" y="214641"/>
                      <a:pt x="1943364" y="217486"/>
                      <a:pt x="1936202" y="217486"/>
                    </a:cubicBezTo>
                    <a:lnTo>
                      <a:pt x="27004" y="217486"/>
                    </a:lnTo>
                    <a:cubicBezTo>
                      <a:pt x="19842" y="217486"/>
                      <a:pt x="12974" y="214641"/>
                      <a:pt x="7909" y="209577"/>
                    </a:cubicBezTo>
                    <a:cubicBezTo>
                      <a:pt x="2845" y="204512"/>
                      <a:pt x="0" y="197644"/>
                      <a:pt x="0" y="190482"/>
                    </a:cubicBezTo>
                    <a:lnTo>
                      <a:pt x="0" y="27004"/>
                    </a:lnTo>
                    <a:cubicBezTo>
                      <a:pt x="0" y="19842"/>
                      <a:pt x="2845" y="12974"/>
                      <a:pt x="7909" y="7909"/>
                    </a:cubicBezTo>
                    <a:cubicBezTo>
                      <a:pt x="12974" y="2845"/>
                      <a:pt x="19842" y="0"/>
                      <a:pt x="27004" y="0"/>
                    </a:cubicBezTo>
                    <a:close/>
                  </a:path>
                </a:pathLst>
              </a:custGeom>
              <a:solidFill>
                <a:srgbClr val="5D4FCA"/>
              </a:solidFill>
            </p:spPr>
          </p:sp>
          <p:sp>
            <p:nvSpPr>
              <p:cNvPr name="TextBox 30" id="30"/>
              <p:cNvSpPr txBox="true"/>
              <p:nvPr/>
            </p:nvSpPr>
            <p:spPr>
              <a:xfrm>
                <a:off x="0" y="28575"/>
                <a:ext cx="1963206" cy="188911"/>
              </a:xfrm>
              <a:prstGeom prst="rect">
                <a:avLst/>
              </a:prstGeom>
            </p:spPr>
            <p:txBody>
              <a:bodyPr anchor="ctr" rtlCol="false" tIns="50800" lIns="50800" bIns="50800" rIns="50800"/>
              <a:lstStyle/>
              <a:p>
                <a:pPr algn="ctr">
                  <a:lnSpc>
                    <a:spcPts val="2000"/>
                  </a:lnSpc>
                </a:pPr>
              </a:p>
            </p:txBody>
          </p:sp>
        </p:grpSp>
        <p:grpSp>
          <p:nvGrpSpPr>
            <p:cNvPr name="Group 31" id="31"/>
            <p:cNvGrpSpPr/>
            <p:nvPr/>
          </p:nvGrpSpPr>
          <p:grpSpPr>
            <a:xfrm rot="0">
              <a:off x="0" y="76052"/>
              <a:ext cx="948918" cy="948918"/>
              <a:chOff x="0" y="0"/>
              <a:chExt cx="812800" cy="812800"/>
            </a:xfrm>
          </p:grpSpPr>
          <p:sp>
            <p:nvSpPr>
              <p:cNvPr name="Freeform 32" id="3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A607"/>
              </a:solidFill>
            </p:spPr>
          </p:sp>
          <p:sp>
            <p:nvSpPr>
              <p:cNvPr name="TextBox 33" id="33"/>
              <p:cNvSpPr txBox="true"/>
              <p:nvPr/>
            </p:nvSpPr>
            <p:spPr>
              <a:xfrm>
                <a:off x="76200" y="104775"/>
                <a:ext cx="660400" cy="631825"/>
              </a:xfrm>
              <a:prstGeom prst="rect">
                <a:avLst/>
              </a:prstGeom>
            </p:spPr>
            <p:txBody>
              <a:bodyPr anchor="ctr" rtlCol="false" tIns="50800" lIns="50800" bIns="50800" rIns="50800"/>
              <a:lstStyle/>
              <a:p>
                <a:pPr algn="ctr">
                  <a:lnSpc>
                    <a:spcPts val="2000"/>
                  </a:lnSpc>
                </a:pPr>
              </a:p>
            </p:txBody>
          </p:sp>
        </p:grpSp>
        <p:sp>
          <p:nvSpPr>
            <p:cNvPr name="TextBox 34" id="34"/>
            <p:cNvSpPr txBox="true"/>
            <p:nvPr/>
          </p:nvSpPr>
          <p:spPr>
            <a:xfrm rot="0">
              <a:off x="1246210" y="235288"/>
              <a:ext cx="8974798" cy="533615"/>
            </a:xfrm>
            <a:prstGeom prst="rect">
              <a:avLst/>
            </a:prstGeom>
          </p:spPr>
          <p:txBody>
            <a:bodyPr anchor="t" rtlCol="false" tIns="0" lIns="0" bIns="0" rIns="0">
              <a:spAutoFit/>
            </a:bodyPr>
            <a:lstStyle/>
            <a:p>
              <a:pPr algn="l" marL="0" indent="0" lvl="0">
                <a:lnSpc>
                  <a:spcPts val="3405"/>
                </a:lnSpc>
              </a:pPr>
              <a:r>
                <a:rPr lang="en-US" b="true" sz="2432">
                  <a:solidFill>
                    <a:srgbClr val="FFF8E9"/>
                  </a:solidFill>
                  <a:latin typeface="Open Sans Bold"/>
                  <a:ea typeface="Open Sans Bold"/>
                  <a:cs typeface="Open Sans Bold"/>
                  <a:sym typeface="Open Sans Bold"/>
                </a:rPr>
                <a:t>Keterbatasan sumber data tingkat provinsi</a:t>
              </a:r>
            </a:p>
          </p:txBody>
        </p:sp>
        <p:sp>
          <p:nvSpPr>
            <p:cNvPr name="TextBox 35" id="35"/>
            <p:cNvSpPr txBox="true"/>
            <p:nvPr/>
          </p:nvSpPr>
          <p:spPr>
            <a:xfrm rot="0">
              <a:off x="119793" y="212664"/>
              <a:ext cx="709331" cy="620902"/>
            </a:xfrm>
            <a:prstGeom prst="rect">
              <a:avLst/>
            </a:prstGeom>
          </p:spPr>
          <p:txBody>
            <a:bodyPr anchor="t" rtlCol="false" tIns="0" lIns="0" bIns="0" rIns="0">
              <a:spAutoFit/>
            </a:bodyPr>
            <a:lstStyle/>
            <a:p>
              <a:pPr algn="ctr">
                <a:lnSpc>
                  <a:spcPts val="3691"/>
                </a:lnSpc>
              </a:pPr>
              <a:r>
                <a:rPr lang="en-US" b="true" sz="3001">
                  <a:solidFill>
                    <a:srgbClr val="F8F1E3"/>
                  </a:solidFill>
                  <a:latin typeface="Roboto Condensed Bold"/>
                  <a:ea typeface="Roboto Condensed Bold"/>
                  <a:cs typeface="Roboto Condensed Bold"/>
                  <a:sym typeface="Roboto Condensed Bold"/>
                </a:rPr>
                <a:t>02</a:t>
              </a:r>
            </a:p>
          </p:txBody>
        </p:sp>
      </p:grpSp>
      <p:grpSp>
        <p:nvGrpSpPr>
          <p:cNvPr name="Group 36" id="36"/>
          <p:cNvGrpSpPr/>
          <p:nvPr/>
        </p:nvGrpSpPr>
        <p:grpSpPr>
          <a:xfrm rot="0">
            <a:off x="1829652" y="5821345"/>
            <a:ext cx="7809891" cy="825766"/>
            <a:chOff x="0" y="0"/>
            <a:chExt cx="10413188" cy="1101022"/>
          </a:xfrm>
        </p:grpSpPr>
        <p:grpSp>
          <p:nvGrpSpPr>
            <p:cNvPr name="Group 37" id="37"/>
            <p:cNvGrpSpPr/>
            <p:nvPr/>
          </p:nvGrpSpPr>
          <p:grpSpPr>
            <a:xfrm rot="0">
              <a:off x="474459" y="0"/>
              <a:ext cx="9938729" cy="1101022"/>
              <a:chOff x="0" y="0"/>
              <a:chExt cx="1963206" cy="217486"/>
            </a:xfrm>
          </p:grpSpPr>
          <p:sp>
            <p:nvSpPr>
              <p:cNvPr name="Freeform 38" id="38"/>
              <p:cNvSpPr/>
              <p:nvPr/>
            </p:nvSpPr>
            <p:spPr>
              <a:xfrm flipH="false" flipV="false" rot="0">
                <a:off x="0" y="0"/>
                <a:ext cx="1963206" cy="217486"/>
              </a:xfrm>
              <a:custGeom>
                <a:avLst/>
                <a:gdLst/>
                <a:ahLst/>
                <a:cxnLst/>
                <a:rect r="r" b="b" t="t" l="l"/>
                <a:pathLst>
                  <a:path h="217486" w="1963206">
                    <a:moveTo>
                      <a:pt x="27004" y="0"/>
                    </a:moveTo>
                    <a:lnTo>
                      <a:pt x="1936202" y="0"/>
                    </a:lnTo>
                    <a:cubicBezTo>
                      <a:pt x="1951116" y="0"/>
                      <a:pt x="1963206" y="12090"/>
                      <a:pt x="1963206" y="27004"/>
                    </a:cubicBezTo>
                    <a:lnTo>
                      <a:pt x="1963206" y="190482"/>
                    </a:lnTo>
                    <a:cubicBezTo>
                      <a:pt x="1963206" y="197644"/>
                      <a:pt x="1960361" y="204512"/>
                      <a:pt x="1955296" y="209577"/>
                    </a:cubicBezTo>
                    <a:cubicBezTo>
                      <a:pt x="1950232" y="214641"/>
                      <a:pt x="1943364" y="217486"/>
                      <a:pt x="1936202" y="217486"/>
                    </a:cubicBezTo>
                    <a:lnTo>
                      <a:pt x="27004" y="217486"/>
                    </a:lnTo>
                    <a:cubicBezTo>
                      <a:pt x="19842" y="217486"/>
                      <a:pt x="12974" y="214641"/>
                      <a:pt x="7909" y="209577"/>
                    </a:cubicBezTo>
                    <a:cubicBezTo>
                      <a:pt x="2845" y="204512"/>
                      <a:pt x="0" y="197644"/>
                      <a:pt x="0" y="190482"/>
                    </a:cubicBezTo>
                    <a:lnTo>
                      <a:pt x="0" y="27004"/>
                    </a:lnTo>
                    <a:cubicBezTo>
                      <a:pt x="0" y="19842"/>
                      <a:pt x="2845" y="12974"/>
                      <a:pt x="7909" y="7909"/>
                    </a:cubicBezTo>
                    <a:cubicBezTo>
                      <a:pt x="12974" y="2845"/>
                      <a:pt x="19842" y="0"/>
                      <a:pt x="27004" y="0"/>
                    </a:cubicBezTo>
                    <a:close/>
                  </a:path>
                </a:pathLst>
              </a:custGeom>
              <a:solidFill>
                <a:srgbClr val="FAA607"/>
              </a:solidFill>
            </p:spPr>
          </p:sp>
          <p:sp>
            <p:nvSpPr>
              <p:cNvPr name="TextBox 39" id="39"/>
              <p:cNvSpPr txBox="true"/>
              <p:nvPr/>
            </p:nvSpPr>
            <p:spPr>
              <a:xfrm>
                <a:off x="0" y="28575"/>
                <a:ext cx="1963206" cy="188911"/>
              </a:xfrm>
              <a:prstGeom prst="rect">
                <a:avLst/>
              </a:prstGeom>
            </p:spPr>
            <p:txBody>
              <a:bodyPr anchor="ctr" rtlCol="false" tIns="50800" lIns="50800" bIns="50800" rIns="50800"/>
              <a:lstStyle/>
              <a:p>
                <a:pPr algn="ctr">
                  <a:lnSpc>
                    <a:spcPts val="2000"/>
                  </a:lnSpc>
                </a:pPr>
              </a:p>
            </p:txBody>
          </p:sp>
        </p:grpSp>
        <p:grpSp>
          <p:nvGrpSpPr>
            <p:cNvPr name="Group 40" id="40"/>
            <p:cNvGrpSpPr/>
            <p:nvPr/>
          </p:nvGrpSpPr>
          <p:grpSpPr>
            <a:xfrm rot="0">
              <a:off x="0" y="76052"/>
              <a:ext cx="948918" cy="948918"/>
              <a:chOff x="0" y="0"/>
              <a:chExt cx="812800" cy="812800"/>
            </a:xfrm>
          </p:grpSpPr>
          <p:sp>
            <p:nvSpPr>
              <p:cNvPr name="Freeform 41" id="4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D4FCA"/>
              </a:solidFill>
            </p:spPr>
          </p:sp>
          <p:sp>
            <p:nvSpPr>
              <p:cNvPr name="TextBox 42" id="42"/>
              <p:cNvSpPr txBox="true"/>
              <p:nvPr/>
            </p:nvSpPr>
            <p:spPr>
              <a:xfrm>
                <a:off x="76200" y="104775"/>
                <a:ext cx="660400" cy="631825"/>
              </a:xfrm>
              <a:prstGeom prst="rect">
                <a:avLst/>
              </a:prstGeom>
            </p:spPr>
            <p:txBody>
              <a:bodyPr anchor="ctr" rtlCol="false" tIns="50800" lIns="50800" bIns="50800" rIns="50800"/>
              <a:lstStyle/>
              <a:p>
                <a:pPr algn="ctr">
                  <a:lnSpc>
                    <a:spcPts val="2000"/>
                  </a:lnSpc>
                </a:pPr>
              </a:p>
            </p:txBody>
          </p:sp>
        </p:grpSp>
        <p:sp>
          <p:nvSpPr>
            <p:cNvPr name="TextBox 43" id="43"/>
            <p:cNvSpPr txBox="true"/>
            <p:nvPr/>
          </p:nvSpPr>
          <p:spPr>
            <a:xfrm rot="0">
              <a:off x="1189364" y="235288"/>
              <a:ext cx="8563100" cy="547100"/>
            </a:xfrm>
            <a:prstGeom prst="rect">
              <a:avLst/>
            </a:prstGeom>
          </p:spPr>
          <p:txBody>
            <a:bodyPr anchor="t" rtlCol="false" tIns="0" lIns="0" bIns="0" rIns="0">
              <a:spAutoFit/>
            </a:bodyPr>
            <a:lstStyle/>
            <a:p>
              <a:pPr algn="l" marL="0" indent="0" lvl="0">
                <a:lnSpc>
                  <a:spcPts val="3499"/>
                </a:lnSpc>
              </a:pPr>
              <a:r>
                <a:rPr lang="en-US" b="true" sz="2499">
                  <a:solidFill>
                    <a:srgbClr val="FFF8E9"/>
                  </a:solidFill>
                  <a:latin typeface="Open Sans Bold"/>
                  <a:ea typeface="Open Sans Bold"/>
                  <a:cs typeface="Open Sans Bold"/>
                  <a:sym typeface="Open Sans Bold"/>
                </a:rPr>
                <a:t>Perubahan ide dan data yang digunakan</a:t>
              </a:r>
            </a:p>
          </p:txBody>
        </p:sp>
        <p:sp>
          <p:nvSpPr>
            <p:cNvPr name="TextBox 44" id="44"/>
            <p:cNvSpPr txBox="true"/>
            <p:nvPr/>
          </p:nvSpPr>
          <p:spPr>
            <a:xfrm rot="0">
              <a:off x="119793" y="212664"/>
              <a:ext cx="709331" cy="620902"/>
            </a:xfrm>
            <a:prstGeom prst="rect">
              <a:avLst/>
            </a:prstGeom>
          </p:spPr>
          <p:txBody>
            <a:bodyPr anchor="t" rtlCol="false" tIns="0" lIns="0" bIns="0" rIns="0">
              <a:spAutoFit/>
            </a:bodyPr>
            <a:lstStyle/>
            <a:p>
              <a:pPr algn="ctr">
                <a:lnSpc>
                  <a:spcPts val="3691"/>
                </a:lnSpc>
              </a:pPr>
              <a:r>
                <a:rPr lang="en-US" b="true" sz="3001">
                  <a:solidFill>
                    <a:srgbClr val="FAA607"/>
                  </a:solidFill>
                  <a:latin typeface="Roboto Condensed Bold"/>
                  <a:ea typeface="Roboto Condensed Bold"/>
                  <a:cs typeface="Roboto Condensed Bold"/>
                  <a:sym typeface="Roboto Condensed Bold"/>
                </a:rPr>
                <a:t>03</a:t>
              </a:r>
            </a:p>
          </p:txBody>
        </p:sp>
      </p:grpSp>
      <p:grpSp>
        <p:nvGrpSpPr>
          <p:cNvPr name="Group 45" id="45"/>
          <p:cNvGrpSpPr/>
          <p:nvPr/>
        </p:nvGrpSpPr>
        <p:grpSpPr>
          <a:xfrm rot="0">
            <a:off x="1847695" y="6849443"/>
            <a:ext cx="7809891" cy="825766"/>
            <a:chOff x="0" y="0"/>
            <a:chExt cx="10413188" cy="1101022"/>
          </a:xfrm>
        </p:grpSpPr>
        <p:grpSp>
          <p:nvGrpSpPr>
            <p:cNvPr name="Group 46" id="46"/>
            <p:cNvGrpSpPr/>
            <p:nvPr/>
          </p:nvGrpSpPr>
          <p:grpSpPr>
            <a:xfrm rot="0">
              <a:off x="474459" y="0"/>
              <a:ext cx="9938729" cy="1101022"/>
              <a:chOff x="0" y="0"/>
              <a:chExt cx="1963206" cy="217486"/>
            </a:xfrm>
          </p:grpSpPr>
          <p:sp>
            <p:nvSpPr>
              <p:cNvPr name="Freeform 47" id="47"/>
              <p:cNvSpPr/>
              <p:nvPr/>
            </p:nvSpPr>
            <p:spPr>
              <a:xfrm flipH="false" flipV="false" rot="0">
                <a:off x="0" y="0"/>
                <a:ext cx="1963206" cy="217486"/>
              </a:xfrm>
              <a:custGeom>
                <a:avLst/>
                <a:gdLst/>
                <a:ahLst/>
                <a:cxnLst/>
                <a:rect r="r" b="b" t="t" l="l"/>
                <a:pathLst>
                  <a:path h="217486" w="1963206">
                    <a:moveTo>
                      <a:pt x="27004" y="0"/>
                    </a:moveTo>
                    <a:lnTo>
                      <a:pt x="1936202" y="0"/>
                    </a:lnTo>
                    <a:cubicBezTo>
                      <a:pt x="1951116" y="0"/>
                      <a:pt x="1963206" y="12090"/>
                      <a:pt x="1963206" y="27004"/>
                    </a:cubicBezTo>
                    <a:lnTo>
                      <a:pt x="1963206" y="190482"/>
                    </a:lnTo>
                    <a:cubicBezTo>
                      <a:pt x="1963206" y="197644"/>
                      <a:pt x="1960361" y="204512"/>
                      <a:pt x="1955296" y="209577"/>
                    </a:cubicBezTo>
                    <a:cubicBezTo>
                      <a:pt x="1950232" y="214641"/>
                      <a:pt x="1943364" y="217486"/>
                      <a:pt x="1936202" y="217486"/>
                    </a:cubicBezTo>
                    <a:lnTo>
                      <a:pt x="27004" y="217486"/>
                    </a:lnTo>
                    <a:cubicBezTo>
                      <a:pt x="19842" y="217486"/>
                      <a:pt x="12974" y="214641"/>
                      <a:pt x="7909" y="209577"/>
                    </a:cubicBezTo>
                    <a:cubicBezTo>
                      <a:pt x="2845" y="204512"/>
                      <a:pt x="0" y="197644"/>
                      <a:pt x="0" y="190482"/>
                    </a:cubicBezTo>
                    <a:lnTo>
                      <a:pt x="0" y="27004"/>
                    </a:lnTo>
                    <a:cubicBezTo>
                      <a:pt x="0" y="19842"/>
                      <a:pt x="2845" y="12974"/>
                      <a:pt x="7909" y="7909"/>
                    </a:cubicBezTo>
                    <a:cubicBezTo>
                      <a:pt x="12974" y="2845"/>
                      <a:pt x="19842" y="0"/>
                      <a:pt x="27004" y="0"/>
                    </a:cubicBezTo>
                    <a:close/>
                  </a:path>
                </a:pathLst>
              </a:custGeom>
              <a:solidFill>
                <a:srgbClr val="5D4FCA"/>
              </a:solidFill>
            </p:spPr>
          </p:sp>
          <p:sp>
            <p:nvSpPr>
              <p:cNvPr name="TextBox 48" id="48"/>
              <p:cNvSpPr txBox="true"/>
              <p:nvPr/>
            </p:nvSpPr>
            <p:spPr>
              <a:xfrm>
                <a:off x="0" y="28575"/>
                <a:ext cx="1963206" cy="188911"/>
              </a:xfrm>
              <a:prstGeom prst="rect">
                <a:avLst/>
              </a:prstGeom>
            </p:spPr>
            <p:txBody>
              <a:bodyPr anchor="ctr" rtlCol="false" tIns="50800" lIns="50800" bIns="50800" rIns="50800"/>
              <a:lstStyle/>
              <a:p>
                <a:pPr algn="ctr">
                  <a:lnSpc>
                    <a:spcPts val="2000"/>
                  </a:lnSpc>
                </a:pPr>
              </a:p>
            </p:txBody>
          </p:sp>
        </p:grpSp>
        <p:grpSp>
          <p:nvGrpSpPr>
            <p:cNvPr name="Group 49" id="49"/>
            <p:cNvGrpSpPr/>
            <p:nvPr/>
          </p:nvGrpSpPr>
          <p:grpSpPr>
            <a:xfrm rot="0">
              <a:off x="0" y="76052"/>
              <a:ext cx="948918" cy="948918"/>
              <a:chOff x="0" y="0"/>
              <a:chExt cx="812800" cy="812800"/>
            </a:xfrm>
          </p:grpSpPr>
          <p:sp>
            <p:nvSpPr>
              <p:cNvPr name="Freeform 50" id="5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A607"/>
              </a:solidFill>
            </p:spPr>
          </p:sp>
          <p:sp>
            <p:nvSpPr>
              <p:cNvPr name="TextBox 51" id="51"/>
              <p:cNvSpPr txBox="true"/>
              <p:nvPr/>
            </p:nvSpPr>
            <p:spPr>
              <a:xfrm>
                <a:off x="76200" y="104775"/>
                <a:ext cx="660400" cy="631825"/>
              </a:xfrm>
              <a:prstGeom prst="rect">
                <a:avLst/>
              </a:prstGeom>
            </p:spPr>
            <p:txBody>
              <a:bodyPr anchor="ctr" rtlCol="false" tIns="50800" lIns="50800" bIns="50800" rIns="50800"/>
              <a:lstStyle/>
              <a:p>
                <a:pPr algn="ctr">
                  <a:lnSpc>
                    <a:spcPts val="2000"/>
                  </a:lnSpc>
                </a:pPr>
              </a:p>
            </p:txBody>
          </p:sp>
        </p:grpSp>
        <p:sp>
          <p:nvSpPr>
            <p:cNvPr name="TextBox 52" id="52"/>
            <p:cNvSpPr txBox="true"/>
            <p:nvPr/>
          </p:nvSpPr>
          <p:spPr>
            <a:xfrm rot="0">
              <a:off x="1246210" y="235288"/>
              <a:ext cx="8974798" cy="533615"/>
            </a:xfrm>
            <a:prstGeom prst="rect">
              <a:avLst/>
            </a:prstGeom>
          </p:spPr>
          <p:txBody>
            <a:bodyPr anchor="t" rtlCol="false" tIns="0" lIns="0" bIns="0" rIns="0">
              <a:spAutoFit/>
            </a:bodyPr>
            <a:lstStyle/>
            <a:p>
              <a:pPr algn="l" marL="0" indent="0" lvl="0">
                <a:lnSpc>
                  <a:spcPts val="3405"/>
                </a:lnSpc>
              </a:pPr>
              <a:r>
                <a:rPr lang="en-US" b="true" sz="2432">
                  <a:solidFill>
                    <a:srgbClr val="FFF8E9"/>
                  </a:solidFill>
                  <a:latin typeface="Open Sans Bold"/>
                  <a:ea typeface="Open Sans Bold"/>
                  <a:cs typeface="Open Sans Bold"/>
                  <a:sym typeface="Open Sans Bold"/>
                </a:rPr>
                <a:t>Kesulitan dalam menggabungkan data</a:t>
              </a:r>
            </a:p>
          </p:txBody>
        </p:sp>
        <p:sp>
          <p:nvSpPr>
            <p:cNvPr name="TextBox 53" id="53"/>
            <p:cNvSpPr txBox="true"/>
            <p:nvPr/>
          </p:nvSpPr>
          <p:spPr>
            <a:xfrm rot="0">
              <a:off x="119793" y="212664"/>
              <a:ext cx="709331" cy="620902"/>
            </a:xfrm>
            <a:prstGeom prst="rect">
              <a:avLst/>
            </a:prstGeom>
          </p:spPr>
          <p:txBody>
            <a:bodyPr anchor="t" rtlCol="false" tIns="0" lIns="0" bIns="0" rIns="0">
              <a:spAutoFit/>
            </a:bodyPr>
            <a:lstStyle/>
            <a:p>
              <a:pPr algn="ctr">
                <a:lnSpc>
                  <a:spcPts val="3691"/>
                </a:lnSpc>
              </a:pPr>
              <a:r>
                <a:rPr lang="en-US" b="true" sz="3001">
                  <a:solidFill>
                    <a:srgbClr val="F8F1E3"/>
                  </a:solidFill>
                  <a:latin typeface="Roboto Condensed Bold"/>
                  <a:ea typeface="Roboto Condensed Bold"/>
                  <a:cs typeface="Roboto Condensed Bold"/>
                  <a:sym typeface="Roboto Condensed Bold"/>
                </a:rPr>
                <a:t>04</a:t>
              </a:r>
            </a:p>
          </p:txBody>
        </p:sp>
      </p:grpSp>
      <p:grpSp>
        <p:nvGrpSpPr>
          <p:cNvPr name="Group 54" id="54"/>
          <p:cNvGrpSpPr/>
          <p:nvPr/>
        </p:nvGrpSpPr>
        <p:grpSpPr>
          <a:xfrm rot="0">
            <a:off x="1847695" y="7875234"/>
            <a:ext cx="7809891" cy="825766"/>
            <a:chOff x="0" y="0"/>
            <a:chExt cx="10413188" cy="1101022"/>
          </a:xfrm>
        </p:grpSpPr>
        <p:grpSp>
          <p:nvGrpSpPr>
            <p:cNvPr name="Group 55" id="55"/>
            <p:cNvGrpSpPr/>
            <p:nvPr/>
          </p:nvGrpSpPr>
          <p:grpSpPr>
            <a:xfrm rot="0">
              <a:off x="474459" y="0"/>
              <a:ext cx="9938729" cy="1101022"/>
              <a:chOff x="0" y="0"/>
              <a:chExt cx="1963206" cy="217486"/>
            </a:xfrm>
          </p:grpSpPr>
          <p:sp>
            <p:nvSpPr>
              <p:cNvPr name="Freeform 56" id="56"/>
              <p:cNvSpPr/>
              <p:nvPr/>
            </p:nvSpPr>
            <p:spPr>
              <a:xfrm flipH="false" flipV="false" rot="0">
                <a:off x="0" y="0"/>
                <a:ext cx="1963206" cy="217486"/>
              </a:xfrm>
              <a:custGeom>
                <a:avLst/>
                <a:gdLst/>
                <a:ahLst/>
                <a:cxnLst/>
                <a:rect r="r" b="b" t="t" l="l"/>
                <a:pathLst>
                  <a:path h="217486" w="1963206">
                    <a:moveTo>
                      <a:pt x="27004" y="0"/>
                    </a:moveTo>
                    <a:lnTo>
                      <a:pt x="1936202" y="0"/>
                    </a:lnTo>
                    <a:cubicBezTo>
                      <a:pt x="1951116" y="0"/>
                      <a:pt x="1963206" y="12090"/>
                      <a:pt x="1963206" y="27004"/>
                    </a:cubicBezTo>
                    <a:lnTo>
                      <a:pt x="1963206" y="190482"/>
                    </a:lnTo>
                    <a:cubicBezTo>
                      <a:pt x="1963206" y="197644"/>
                      <a:pt x="1960361" y="204512"/>
                      <a:pt x="1955296" y="209577"/>
                    </a:cubicBezTo>
                    <a:cubicBezTo>
                      <a:pt x="1950232" y="214641"/>
                      <a:pt x="1943364" y="217486"/>
                      <a:pt x="1936202" y="217486"/>
                    </a:cubicBezTo>
                    <a:lnTo>
                      <a:pt x="27004" y="217486"/>
                    </a:lnTo>
                    <a:cubicBezTo>
                      <a:pt x="19842" y="217486"/>
                      <a:pt x="12974" y="214641"/>
                      <a:pt x="7909" y="209577"/>
                    </a:cubicBezTo>
                    <a:cubicBezTo>
                      <a:pt x="2845" y="204512"/>
                      <a:pt x="0" y="197644"/>
                      <a:pt x="0" y="190482"/>
                    </a:cubicBezTo>
                    <a:lnTo>
                      <a:pt x="0" y="27004"/>
                    </a:lnTo>
                    <a:cubicBezTo>
                      <a:pt x="0" y="19842"/>
                      <a:pt x="2845" y="12974"/>
                      <a:pt x="7909" y="7909"/>
                    </a:cubicBezTo>
                    <a:cubicBezTo>
                      <a:pt x="12974" y="2845"/>
                      <a:pt x="19842" y="0"/>
                      <a:pt x="27004" y="0"/>
                    </a:cubicBezTo>
                    <a:close/>
                  </a:path>
                </a:pathLst>
              </a:custGeom>
              <a:solidFill>
                <a:srgbClr val="FAA607"/>
              </a:solidFill>
            </p:spPr>
          </p:sp>
          <p:sp>
            <p:nvSpPr>
              <p:cNvPr name="TextBox 57" id="57"/>
              <p:cNvSpPr txBox="true"/>
              <p:nvPr/>
            </p:nvSpPr>
            <p:spPr>
              <a:xfrm>
                <a:off x="0" y="28575"/>
                <a:ext cx="1963206" cy="188911"/>
              </a:xfrm>
              <a:prstGeom prst="rect">
                <a:avLst/>
              </a:prstGeom>
            </p:spPr>
            <p:txBody>
              <a:bodyPr anchor="ctr" rtlCol="false" tIns="50800" lIns="50800" bIns="50800" rIns="50800"/>
              <a:lstStyle/>
              <a:p>
                <a:pPr algn="ctr">
                  <a:lnSpc>
                    <a:spcPts val="2000"/>
                  </a:lnSpc>
                </a:pPr>
              </a:p>
            </p:txBody>
          </p:sp>
        </p:grpSp>
        <p:grpSp>
          <p:nvGrpSpPr>
            <p:cNvPr name="Group 58" id="58"/>
            <p:cNvGrpSpPr/>
            <p:nvPr/>
          </p:nvGrpSpPr>
          <p:grpSpPr>
            <a:xfrm rot="0">
              <a:off x="0" y="76052"/>
              <a:ext cx="948918" cy="948918"/>
              <a:chOff x="0" y="0"/>
              <a:chExt cx="812800" cy="812800"/>
            </a:xfrm>
          </p:grpSpPr>
          <p:sp>
            <p:nvSpPr>
              <p:cNvPr name="Freeform 59" id="5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D4FCA"/>
              </a:solidFill>
            </p:spPr>
          </p:sp>
          <p:sp>
            <p:nvSpPr>
              <p:cNvPr name="TextBox 60" id="60"/>
              <p:cNvSpPr txBox="true"/>
              <p:nvPr/>
            </p:nvSpPr>
            <p:spPr>
              <a:xfrm>
                <a:off x="76200" y="104775"/>
                <a:ext cx="660400" cy="631825"/>
              </a:xfrm>
              <a:prstGeom prst="rect">
                <a:avLst/>
              </a:prstGeom>
            </p:spPr>
            <p:txBody>
              <a:bodyPr anchor="ctr" rtlCol="false" tIns="50800" lIns="50800" bIns="50800" rIns="50800"/>
              <a:lstStyle/>
              <a:p>
                <a:pPr algn="ctr">
                  <a:lnSpc>
                    <a:spcPts val="2000"/>
                  </a:lnSpc>
                </a:pPr>
              </a:p>
            </p:txBody>
          </p:sp>
        </p:grpSp>
        <p:sp>
          <p:nvSpPr>
            <p:cNvPr name="TextBox 61" id="61"/>
            <p:cNvSpPr txBox="true"/>
            <p:nvPr/>
          </p:nvSpPr>
          <p:spPr>
            <a:xfrm rot="0">
              <a:off x="1189364" y="235288"/>
              <a:ext cx="8563100" cy="547100"/>
            </a:xfrm>
            <a:prstGeom prst="rect">
              <a:avLst/>
            </a:prstGeom>
          </p:spPr>
          <p:txBody>
            <a:bodyPr anchor="t" rtlCol="false" tIns="0" lIns="0" bIns="0" rIns="0">
              <a:spAutoFit/>
            </a:bodyPr>
            <a:lstStyle/>
            <a:p>
              <a:pPr algn="l" marL="0" indent="0" lvl="0">
                <a:lnSpc>
                  <a:spcPts val="3499"/>
                </a:lnSpc>
              </a:pPr>
              <a:r>
                <a:rPr lang="en-US" b="true" sz="2499">
                  <a:solidFill>
                    <a:srgbClr val="FFF8E9"/>
                  </a:solidFill>
                  <a:latin typeface="Open Sans Bold"/>
                  <a:ea typeface="Open Sans Bold"/>
                  <a:cs typeface="Open Sans Bold"/>
                  <a:sym typeface="Open Sans Bold"/>
                </a:rPr>
                <a:t>Kesulitan dalam mencari dataset</a:t>
              </a:r>
            </a:p>
          </p:txBody>
        </p:sp>
        <p:sp>
          <p:nvSpPr>
            <p:cNvPr name="TextBox 62" id="62"/>
            <p:cNvSpPr txBox="true"/>
            <p:nvPr/>
          </p:nvSpPr>
          <p:spPr>
            <a:xfrm rot="0">
              <a:off x="119793" y="212664"/>
              <a:ext cx="709331" cy="620902"/>
            </a:xfrm>
            <a:prstGeom prst="rect">
              <a:avLst/>
            </a:prstGeom>
          </p:spPr>
          <p:txBody>
            <a:bodyPr anchor="t" rtlCol="false" tIns="0" lIns="0" bIns="0" rIns="0">
              <a:spAutoFit/>
            </a:bodyPr>
            <a:lstStyle/>
            <a:p>
              <a:pPr algn="ctr">
                <a:lnSpc>
                  <a:spcPts val="3691"/>
                </a:lnSpc>
              </a:pPr>
              <a:r>
                <a:rPr lang="en-US" b="true" sz="3001">
                  <a:solidFill>
                    <a:srgbClr val="FAA607"/>
                  </a:solidFill>
                  <a:latin typeface="Roboto Condensed Bold"/>
                  <a:ea typeface="Roboto Condensed Bold"/>
                  <a:cs typeface="Roboto Condensed Bold"/>
                  <a:sym typeface="Roboto Condensed Bold"/>
                </a:rPr>
                <a:t>05</a:t>
              </a:r>
            </a:p>
          </p:txBody>
        </p:sp>
      </p:gr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bg>
      <p:bgPr>
        <a:solidFill>
          <a:srgbClr val="FFF8E9"/>
        </a:solidFill>
      </p:bgPr>
    </p:bg>
    <p:spTree>
      <p:nvGrpSpPr>
        <p:cNvPr id="1" name=""/>
        <p:cNvGrpSpPr/>
        <p:nvPr/>
      </p:nvGrpSpPr>
      <p:grpSpPr>
        <a:xfrm>
          <a:off x="0" y="0"/>
          <a:ext cx="0" cy="0"/>
          <a:chOff x="0" y="0"/>
          <a:chExt cx="0" cy="0"/>
        </a:xfrm>
      </p:grpSpPr>
      <p:sp>
        <p:nvSpPr>
          <p:cNvPr name="Freeform 2" id="2"/>
          <p:cNvSpPr/>
          <p:nvPr/>
        </p:nvSpPr>
        <p:spPr>
          <a:xfrm flipH="false" flipV="false" rot="-5687936">
            <a:off x="15336566" y="-1307732"/>
            <a:ext cx="3845468" cy="4114800"/>
          </a:xfrm>
          <a:custGeom>
            <a:avLst/>
            <a:gdLst/>
            <a:ahLst/>
            <a:cxnLst/>
            <a:rect r="r" b="b" t="t" l="l"/>
            <a:pathLst>
              <a:path h="4114800" w="3845468">
                <a:moveTo>
                  <a:pt x="0" y="0"/>
                </a:moveTo>
                <a:lnTo>
                  <a:pt x="3845468" y="0"/>
                </a:lnTo>
                <a:lnTo>
                  <a:pt x="3845468"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6034560">
            <a:off x="-1502391" y="7200900"/>
            <a:ext cx="3845468" cy="4114800"/>
          </a:xfrm>
          <a:custGeom>
            <a:avLst/>
            <a:gdLst/>
            <a:ahLst/>
            <a:cxnLst/>
            <a:rect r="r" b="b" t="t" l="l"/>
            <a:pathLst>
              <a:path h="4114800" w="3845468">
                <a:moveTo>
                  <a:pt x="0" y="0"/>
                </a:moveTo>
                <a:lnTo>
                  <a:pt x="3845468" y="0"/>
                </a:lnTo>
                <a:lnTo>
                  <a:pt x="3845468"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2145208">
            <a:off x="7697412" y="4335480"/>
            <a:ext cx="13333067" cy="5963517"/>
          </a:xfrm>
          <a:custGeom>
            <a:avLst/>
            <a:gdLst/>
            <a:ahLst/>
            <a:cxnLst/>
            <a:rect r="r" b="b" t="t" l="l"/>
            <a:pathLst>
              <a:path h="5963517" w="13333067">
                <a:moveTo>
                  <a:pt x="0" y="0"/>
                </a:moveTo>
                <a:lnTo>
                  <a:pt x="13333067" y="0"/>
                </a:lnTo>
                <a:lnTo>
                  <a:pt x="13333067" y="5963518"/>
                </a:lnTo>
                <a:lnTo>
                  <a:pt x="0" y="596351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2145208">
            <a:off x="-4801739" y="2802959"/>
            <a:ext cx="11211722" cy="5014698"/>
          </a:xfrm>
          <a:custGeom>
            <a:avLst/>
            <a:gdLst/>
            <a:ahLst/>
            <a:cxnLst/>
            <a:rect r="r" b="b" t="t" l="l"/>
            <a:pathLst>
              <a:path h="5014698" w="11211722">
                <a:moveTo>
                  <a:pt x="0" y="0"/>
                </a:moveTo>
                <a:lnTo>
                  <a:pt x="11211722" y="0"/>
                </a:lnTo>
                <a:lnTo>
                  <a:pt x="11211722" y="5014698"/>
                </a:lnTo>
                <a:lnTo>
                  <a:pt x="0" y="501469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13138009" y="1035414"/>
            <a:ext cx="4121291" cy="571004"/>
            <a:chOff x="0" y="0"/>
            <a:chExt cx="1370603" cy="189897"/>
          </a:xfrm>
        </p:grpSpPr>
        <p:sp>
          <p:nvSpPr>
            <p:cNvPr name="Freeform 7" id="7"/>
            <p:cNvSpPr/>
            <p:nvPr/>
          </p:nvSpPr>
          <p:spPr>
            <a:xfrm flipH="false" flipV="false" rot="0">
              <a:off x="0" y="0"/>
              <a:ext cx="1370603" cy="189897"/>
            </a:xfrm>
            <a:custGeom>
              <a:avLst/>
              <a:gdLst/>
              <a:ahLst/>
              <a:cxnLst/>
              <a:rect r="r" b="b" t="t" l="l"/>
              <a:pathLst>
                <a:path h="189897" w="1370603">
                  <a:moveTo>
                    <a:pt x="94948" y="0"/>
                  </a:moveTo>
                  <a:lnTo>
                    <a:pt x="1275655" y="0"/>
                  </a:lnTo>
                  <a:cubicBezTo>
                    <a:pt x="1300837" y="0"/>
                    <a:pt x="1324987" y="10003"/>
                    <a:pt x="1342794" y="27810"/>
                  </a:cubicBezTo>
                  <a:cubicBezTo>
                    <a:pt x="1360600" y="45616"/>
                    <a:pt x="1370603" y="69767"/>
                    <a:pt x="1370603" y="94948"/>
                  </a:cubicBezTo>
                  <a:lnTo>
                    <a:pt x="1370603" y="94948"/>
                  </a:lnTo>
                  <a:cubicBezTo>
                    <a:pt x="1370603" y="147387"/>
                    <a:pt x="1328094" y="189897"/>
                    <a:pt x="1275655" y="189897"/>
                  </a:cubicBezTo>
                  <a:lnTo>
                    <a:pt x="94948" y="189897"/>
                  </a:lnTo>
                  <a:cubicBezTo>
                    <a:pt x="42510" y="189897"/>
                    <a:pt x="0" y="147387"/>
                    <a:pt x="0" y="94948"/>
                  </a:cubicBezTo>
                  <a:lnTo>
                    <a:pt x="0" y="94948"/>
                  </a:lnTo>
                  <a:cubicBezTo>
                    <a:pt x="0" y="42510"/>
                    <a:pt x="42510" y="0"/>
                    <a:pt x="94948" y="0"/>
                  </a:cubicBezTo>
                  <a:close/>
                </a:path>
              </a:pathLst>
            </a:custGeom>
            <a:solidFill>
              <a:srgbClr val="FAA607"/>
            </a:solidFill>
            <a:ln cap="rnd">
              <a:noFill/>
              <a:prstDash val="solid"/>
              <a:round/>
            </a:ln>
          </p:spPr>
        </p:sp>
        <p:sp>
          <p:nvSpPr>
            <p:cNvPr name="TextBox 8" id="8"/>
            <p:cNvSpPr txBox="true"/>
            <p:nvPr/>
          </p:nvSpPr>
          <p:spPr>
            <a:xfrm>
              <a:off x="0" y="-57150"/>
              <a:ext cx="1370603" cy="247047"/>
            </a:xfrm>
            <a:prstGeom prst="rect">
              <a:avLst/>
            </a:prstGeom>
          </p:spPr>
          <p:txBody>
            <a:bodyPr anchor="ctr" rtlCol="false" tIns="50800" lIns="50800" bIns="50800" rIns="50800"/>
            <a:lstStyle/>
            <a:p>
              <a:pPr algn="ctr" marL="0" indent="0" lvl="0">
                <a:lnSpc>
                  <a:spcPts val="2824"/>
                </a:lnSpc>
                <a:spcBef>
                  <a:spcPct val="0"/>
                </a:spcBef>
              </a:pPr>
            </a:p>
          </p:txBody>
        </p:sp>
      </p:grpSp>
      <p:sp>
        <p:nvSpPr>
          <p:cNvPr name="Freeform 9" id="9"/>
          <p:cNvSpPr/>
          <p:nvPr/>
        </p:nvSpPr>
        <p:spPr>
          <a:xfrm flipH="false" flipV="false" rot="0">
            <a:off x="16815378" y="1166754"/>
            <a:ext cx="296763" cy="308325"/>
          </a:xfrm>
          <a:custGeom>
            <a:avLst/>
            <a:gdLst/>
            <a:ahLst/>
            <a:cxnLst/>
            <a:rect r="r" b="b" t="t" l="l"/>
            <a:pathLst>
              <a:path h="308325" w="296763">
                <a:moveTo>
                  <a:pt x="0" y="0"/>
                </a:moveTo>
                <a:lnTo>
                  <a:pt x="296763" y="0"/>
                </a:lnTo>
                <a:lnTo>
                  <a:pt x="296763" y="308325"/>
                </a:lnTo>
                <a:lnTo>
                  <a:pt x="0" y="30832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10548510" y="2730690"/>
            <a:ext cx="6563631" cy="6366722"/>
          </a:xfrm>
          <a:custGeom>
            <a:avLst/>
            <a:gdLst/>
            <a:ahLst/>
            <a:cxnLst/>
            <a:rect r="r" b="b" t="t" l="l"/>
            <a:pathLst>
              <a:path h="6366722" w="6563631">
                <a:moveTo>
                  <a:pt x="0" y="0"/>
                </a:moveTo>
                <a:lnTo>
                  <a:pt x="6563631" y="0"/>
                </a:lnTo>
                <a:lnTo>
                  <a:pt x="6563631" y="6366722"/>
                </a:lnTo>
                <a:lnTo>
                  <a:pt x="0" y="636672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11" id="11"/>
          <p:cNvGrpSpPr/>
          <p:nvPr/>
        </p:nvGrpSpPr>
        <p:grpSpPr>
          <a:xfrm rot="0">
            <a:off x="2174055" y="3717348"/>
            <a:ext cx="7454047" cy="3599891"/>
            <a:chOff x="0" y="0"/>
            <a:chExt cx="1963206" cy="948120"/>
          </a:xfrm>
        </p:grpSpPr>
        <p:sp>
          <p:nvSpPr>
            <p:cNvPr name="Freeform 12" id="12"/>
            <p:cNvSpPr/>
            <p:nvPr/>
          </p:nvSpPr>
          <p:spPr>
            <a:xfrm flipH="false" flipV="false" rot="0">
              <a:off x="0" y="0"/>
              <a:ext cx="1963206" cy="948120"/>
            </a:xfrm>
            <a:custGeom>
              <a:avLst/>
              <a:gdLst/>
              <a:ahLst/>
              <a:cxnLst/>
              <a:rect r="r" b="b" t="t" l="l"/>
              <a:pathLst>
                <a:path h="948120" w="1963206">
                  <a:moveTo>
                    <a:pt x="27004" y="0"/>
                  </a:moveTo>
                  <a:lnTo>
                    <a:pt x="1936202" y="0"/>
                  </a:lnTo>
                  <a:cubicBezTo>
                    <a:pt x="1951116" y="0"/>
                    <a:pt x="1963206" y="12090"/>
                    <a:pt x="1963206" y="27004"/>
                  </a:cubicBezTo>
                  <a:lnTo>
                    <a:pt x="1963206" y="921115"/>
                  </a:lnTo>
                  <a:cubicBezTo>
                    <a:pt x="1963206" y="928277"/>
                    <a:pt x="1960361" y="935146"/>
                    <a:pt x="1955296" y="940210"/>
                  </a:cubicBezTo>
                  <a:cubicBezTo>
                    <a:pt x="1950232" y="945274"/>
                    <a:pt x="1943364" y="948120"/>
                    <a:pt x="1936202" y="948120"/>
                  </a:cubicBezTo>
                  <a:lnTo>
                    <a:pt x="27004" y="948120"/>
                  </a:lnTo>
                  <a:cubicBezTo>
                    <a:pt x="19842" y="948120"/>
                    <a:pt x="12974" y="945274"/>
                    <a:pt x="7909" y="940210"/>
                  </a:cubicBezTo>
                  <a:cubicBezTo>
                    <a:pt x="2845" y="935146"/>
                    <a:pt x="0" y="928277"/>
                    <a:pt x="0" y="921115"/>
                  </a:cubicBezTo>
                  <a:lnTo>
                    <a:pt x="0" y="27004"/>
                  </a:lnTo>
                  <a:cubicBezTo>
                    <a:pt x="0" y="19842"/>
                    <a:pt x="2845" y="12974"/>
                    <a:pt x="7909" y="7909"/>
                  </a:cubicBezTo>
                  <a:cubicBezTo>
                    <a:pt x="12974" y="2845"/>
                    <a:pt x="19842" y="0"/>
                    <a:pt x="27004" y="0"/>
                  </a:cubicBezTo>
                  <a:close/>
                </a:path>
              </a:pathLst>
            </a:custGeom>
            <a:solidFill>
              <a:srgbClr val="FAA607"/>
            </a:solidFill>
          </p:spPr>
        </p:sp>
        <p:sp>
          <p:nvSpPr>
            <p:cNvPr name="TextBox 13" id="13"/>
            <p:cNvSpPr txBox="true"/>
            <p:nvPr/>
          </p:nvSpPr>
          <p:spPr>
            <a:xfrm>
              <a:off x="0" y="28575"/>
              <a:ext cx="1963206" cy="919545"/>
            </a:xfrm>
            <a:prstGeom prst="rect">
              <a:avLst/>
            </a:prstGeom>
          </p:spPr>
          <p:txBody>
            <a:bodyPr anchor="ctr" rtlCol="false" tIns="50800" lIns="50800" bIns="50800" rIns="50800"/>
            <a:lstStyle/>
            <a:p>
              <a:pPr algn="ctr">
                <a:lnSpc>
                  <a:spcPts val="2000"/>
                </a:lnSpc>
              </a:pPr>
            </a:p>
          </p:txBody>
        </p:sp>
      </p:grpSp>
      <p:sp>
        <p:nvSpPr>
          <p:cNvPr name="TextBox 14" id="14"/>
          <p:cNvSpPr txBox="true"/>
          <p:nvPr/>
        </p:nvSpPr>
        <p:spPr>
          <a:xfrm rot="0">
            <a:off x="11428284" y="1200266"/>
            <a:ext cx="1370528" cy="269875"/>
          </a:xfrm>
          <a:prstGeom prst="rect">
            <a:avLst/>
          </a:prstGeom>
        </p:spPr>
        <p:txBody>
          <a:bodyPr anchor="t" rtlCol="false" tIns="0" lIns="0" bIns="0" rIns="0">
            <a:spAutoFit/>
          </a:bodyPr>
          <a:lstStyle/>
          <a:p>
            <a:pPr algn="ctr">
              <a:lnSpc>
                <a:spcPts val="2000"/>
              </a:lnSpc>
            </a:pPr>
            <a:r>
              <a:rPr lang="en-US" sz="2000">
                <a:solidFill>
                  <a:srgbClr val="27194D">
                    <a:alpha val="55686"/>
                  </a:srgbClr>
                </a:solidFill>
                <a:latin typeface="Open Sans"/>
                <a:ea typeface="Open Sans"/>
                <a:cs typeface="Open Sans"/>
                <a:sym typeface="Open Sans"/>
              </a:rPr>
              <a:t>LAYANAN</a:t>
            </a:r>
          </a:p>
        </p:txBody>
      </p:sp>
      <p:sp>
        <p:nvSpPr>
          <p:cNvPr name="TextBox 15" id="15"/>
          <p:cNvSpPr txBox="true"/>
          <p:nvPr/>
        </p:nvSpPr>
        <p:spPr>
          <a:xfrm rot="0">
            <a:off x="9810993" y="1200266"/>
            <a:ext cx="1293441" cy="269875"/>
          </a:xfrm>
          <a:prstGeom prst="rect">
            <a:avLst/>
          </a:prstGeom>
        </p:spPr>
        <p:txBody>
          <a:bodyPr anchor="t" rtlCol="false" tIns="0" lIns="0" bIns="0" rIns="0">
            <a:spAutoFit/>
          </a:bodyPr>
          <a:lstStyle/>
          <a:p>
            <a:pPr algn="ctr">
              <a:lnSpc>
                <a:spcPts val="2000"/>
              </a:lnSpc>
            </a:pPr>
            <a:r>
              <a:rPr lang="en-US" b="true" sz="2000">
                <a:solidFill>
                  <a:srgbClr val="5D4FCA"/>
                </a:solidFill>
                <a:latin typeface="Open Sans Bold"/>
                <a:ea typeface="Open Sans Bold"/>
                <a:cs typeface="Open Sans Bold"/>
                <a:sym typeface="Open Sans Bold"/>
              </a:rPr>
              <a:t>BERANDA</a:t>
            </a:r>
          </a:p>
        </p:txBody>
      </p:sp>
      <p:sp>
        <p:nvSpPr>
          <p:cNvPr name="TextBox 16" id="16"/>
          <p:cNvSpPr txBox="true"/>
          <p:nvPr/>
        </p:nvSpPr>
        <p:spPr>
          <a:xfrm rot="0">
            <a:off x="2174055" y="2398479"/>
            <a:ext cx="7757779" cy="1264202"/>
          </a:xfrm>
          <a:prstGeom prst="rect">
            <a:avLst/>
          </a:prstGeom>
        </p:spPr>
        <p:txBody>
          <a:bodyPr anchor="t" rtlCol="false" tIns="0" lIns="0" bIns="0" rIns="0">
            <a:spAutoFit/>
          </a:bodyPr>
          <a:lstStyle/>
          <a:p>
            <a:pPr algn="l">
              <a:lnSpc>
                <a:spcPts val="10085"/>
              </a:lnSpc>
            </a:pPr>
            <a:r>
              <a:rPr lang="en-US" sz="8199" b="true">
                <a:solidFill>
                  <a:srgbClr val="27194D"/>
                </a:solidFill>
                <a:latin typeface="Roboto Condensed Bold"/>
                <a:ea typeface="Roboto Condensed Bold"/>
                <a:cs typeface="Roboto Condensed Bold"/>
                <a:sym typeface="Roboto Condensed Bold"/>
              </a:rPr>
              <a:t>RENCANA</a:t>
            </a:r>
          </a:p>
        </p:txBody>
      </p:sp>
      <p:sp>
        <p:nvSpPr>
          <p:cNvPr name="TextBox 17" id="17"/>
          <p:cNvSpPr txBox="true"/>
          <p:nvPr/>
        </p:nvSpPr>
        <p:spPr>
          <a:xfrm rot="0">
            <a:off x="2321142" y="4406043"/>
            <a:ext cx="7159872" cy="2174655"/>
          </a:xfrm>
          <a:prstGeom prst="rect">
            <a:avLst/>
          </a:prstGeom>
        </p:spPr>
        <p:txBody>
          <a:bodyPr anchor="t" rtlCol="false" tIns="0" lIns="0" bIns="0" rIns="0">
            <a:spAutoFit/>
          </a:bodyPr>
          <a:lstStyle/>
          <a:p>
            <a:pPr algn="l" marL="539749" indent="-269875" lvl="1">
              <a:lnSpc>
                <a:spcPts val="3499"/>
              </a:lnSpc>
              <a:buFont typeface="Arial"/>
              <a:buChar char="•"/>
            </a:pPr>
            <a:r>
              <a:rPr lang="en-US" b="true" sz="2499">
                <a:solidFill>
                  <a:srgbClr val="FFF8E9"/>
                </a:solidFill>
                <a:latin typeface="Open Sans Bold"/>
                <a:ea typeface="Open Sans Bold"/>
                <a:cs typeface="Open Sans Bold"/>
                <a:sym typeface="Open Sans Bold"/>
              </a:rPr>
              <a:t>Melakukan Data Validation (Pemeriksaan Kembali Hasil Wrangling)</a:t>
            </a:r>
          </a:p>
          <a:p>
            <a:pPr algn="l" marL="539749" indent="-269875" lvl="1">
              <a:lnSpc>
                <a:spcPts val="3499"/>
              </a:lnSpc>
              <a:buFont typeface="Arial"/>
              <a:buChar char="•"/>
            </a:pPr>
            <a:r>
              <a:rPr lang="en-US" b="true" sz="2499">
                <a:solidFill>
                  <a:srgbClr val="FFF8E9"/>
                </a:solidFill>
                <a:latin typeface="Open Sans Bold"/>
                <a:ea typeface="Open Sans Bold"/>
                <a:cs typeface="Open Sans Bold"/>
                <a:sym typeface="Open Sans Bold"/>
              </a:rPr>
              <a:t>Melakukan Feature Engineering secara mendalam</a:t>
            </a:r>
          </a:p>
          <a:p>
            <a:pPr algn="l" marL="539749" indent="-269875" lvl="1">
              <a:lnSpc>
                <a:spcPts val="3499"/>
              </a:lnSpc>
              <a:buFont typeface="Arial"/>
              <a:buChar char="•"/>
            </a:pPr>
            <a:r>
              <a:rPr lang="en-US" b="true" sz="2499">
                <a:solidFill>
                  <a:srgbClr val="FFF8E9"/>
                </a:solidFill>
                <a:latin typeface="Open Sans Bold"/>
                <a:ea typeface="Open Sans Bold"/>
                <a:cs typeface="Open Sans Bold"/>
                <a:sym typeface="Open Sans Bold"/>
              </a:rPr>
              <a:t>Melakukan Transformasi Data</a:t>
            </a:r>
          </a:p>
        </p:txBody>
      </p:sp>
      <p:sp>
        <p:nvSpPr>
          <p:cNvPr name="TextBox 18" id="18"/>
          <p:cNvSpPr txBox="true"/>
          <p:nvPr/>
        </p:nvSpPr>
        <p:spPr>
          <a:xfrm rot="0">
            <a:off x="1847695" y="1109652"/>
            <a:ext cx="3632762" cy="422485"/>
          </a:xfrm>
          <a:prstGeom prst="rect">
            <a:avLst/>
          </a:prstGeom>
        </p:spPr>
        <p:txBody>
          <a:bodyPr anchor="t" rtlCol="false" tIns="0" lIns="0" bIns="0" rIns="0">
            <a:spAutoFit/>
          </a:bodyPr>
          <a:lstStyle/>
          <a:p>
            <a:pPr algn="l">
              <a:lnSpc>
                <a:spcPts val="3107"/>
              </a:lnSpc>
            </a:pPr>
            <a:r>
              <a:rPr lang="en-US" sz="2799" b="true">
                <a:solidFill>
                  <a:srgbClr val="5D4FCA"/>
                </a:solidFill>
                <a:latin typeface="Roboto Condensed Bold"/>
                <a:ea typeface="Roboto Condensed Bold"/>
                <a:cs typeface="Roboto Condensed Bold"/>
                <a:sym typeface="Roboto Condensed Bold"/>
              </a:rPr>
              <a:t>KENDALA DAN RENCANA</a:t>
            </a:r>
          </a:p>
        </p:txBody>
      </p:sp>
      <p:sp>
        <p:nvSpPr>
          <p:cNvPr name="Freeform 19" id="19"/>
          <p:cNvSpPr/>
          <p:nvPr/>
        </p:nvSpPr>
        <p:spPr>
          <a:xfrm flipH="false" flipV="false" rot="0">
            <a:off x="1028700" y="1049653"/>
            <a:ext cx="647545" cy="495666"/>
          </a:xfrm>
          <a:custGeom>
            <a:avLst/>
            <a:gdLst/>
            <a:ahLst/>
            <a:cxnLst/>
            <a:rect r="r" b="b" t="t" l="l"/>
            <a:pathLst>
              <a:path h="495666" w="647545">
                <a:moveTo>
                  <a:pt x="0" y="0"/>
                </a:moveTo>
                <a:lnTo>
                  <a:pt x="647545" y="0"/>
                </a:lnTo>
                <a:lnTo>
                  <a:pt x="647545" y="495666"/>
                </a:lnTo>
                <a:lnTo>
                  <a:pt x="0" y="49566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0" id="20"/>
          <p:cNvSpPr/>
          <p:nvPr/>
        </p:nvSpPr>
        <p:spPr>
          <a:xfrm flipH="false" flipV="false" rot="720432">
            <a:off x="16866407" y="2641717"/>
            <a:ext cx="626952" cy="392130"/>
          </a:xfrm>
          <a:custGeom>
            <a:avLst/>
            <a:gdLst/>
            <a:ahLst/>
            <a:cxnLst/>
            <a:rect r="r" b="b" t="t" l="l"/>
            <a:pathLst>
              <a:path h="392130" w="626952">
                <a:moveTo>
                  <a:pt x="0" y="0"/>
                </a:moveTo>
                <a:lnTo>
                  <a:pt x="626952" y="0"/>
                </a:lnTo>
                <a:lnTo>
                  <a:pt x="626952" y="392130"/>
                </a:lnTo>
                <a:lnTo>
                  <a:pt x="0" y="39213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21" id="21"/>
          <p:cNvSpPr/>
          <p:nvPr/>
        </p:nvSpPr>
        <p:spPr>
          <a:xfrm flipH="false" flipV="false" rot="-3346249">
            <a:off x="286692" y="4006637"/>
            <a:ext cx="1034860" cy="383329"/>
          </a:xfrm>
          <a:custGeom>
            <a:avLst/>
            <a:gdLst/>
            <a:ahLst/>
            <a:cxnLst/>
            <a:rect r="r" b="b" t="t" l="l"/>
            <a:pathLst>
              <a:path h="383329" w="1034860">
                <a:moveTo>
                  <a:pt x="0" y="0"/>
                </a:moveTo>
                <a:lnTo>
                  <a:pt x="1034860" y="0"/>
                </a:lnTo>
                <a:lnTo>
                  <a:pt x="1034860" y="383329"/>
                </a:lnTo>
                <a:lnTo>
                  <a:pt x="0" y="383329"/>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bg>
      <p:bgPr>
        <a:solidFill>
          <a:srgbClr val="FFF8E9"/>
        </a:solidFill>
      </p:bgPr>
    </p:bg>
    <p:spTree>
      <p:nvGrpSpPr>
        <p:cNvPr id="1" name=""/>
        <p:cNvGrpSpPr/>
        <p:nvPr/>
      </p:nvGrpSpPr>
      <p:grpSpPr>
        <a:xfrm>
          <a:off x="0" y="0"/>
          <a:ext cx="0" cy="0"/>
          <a:chOff x="0" y="0"/>
          <a:chExt cx="0" cy="0"/>
        </a:xfrm>
      </p:grpSpPr>
      <p:grpSp>
        <p:nvGrpSpPr>
          <p:cNvPr name="Group 2" id="2"/>
          <p:cNvGrpSpPr/>
          <p:nvPr/>
        </p:nvGrpSpPr>
        <p:grpSpPr>
          <a:xfrm rot="0">
            <a:off x="13138009" y="1035414"/>
            <a:ext cx="4121291" cy="571004"/>
            <a:chOff x="0" y="0"/>
            <a:chExt cx="1370603" cy="189897"/>
          </a:xfrm>
        </p:grpSpPr>
        <p:sp>
          <p:nvSpPr>
            <p:cNvPr name="Freeform 3" id="3"/>
            <p:cNvSpPr/>
            <p:nvPr/>
          </p:nvSpPr>
          <p:spPr>
            <a:xfrm flipH="false" flipV="false" rot="0">
              <a:off x="0" y="0"/>
              <a:ext cx="1370603" cy="189897"/>
            </a:xfrm>
            <a:custGeom>
              <a:avLst/>
              <a:gdLst/>
              <a:ahLst/>
              <a:cxnLst/>
              <a:rect r="r" b="b" t="t" l="l"/>
              <a:pathLst>
                <a:path h="189897" w="1370603">
                  <a:moveTo>
                    <a:pt x="94948" y="0"/>
                  </a:moveTo>
                  <a:lnTo>
                    <a:pt x="1275655" y="0"/>
                  </a:lnTo>
                  <a:cubicBezTo>
                    <a:pt x="1300837" y="0"/>
                    <a:pt x="1324987" y="10003"/>
                    <a:pt x="1342794" y="27810"/>
                  </a:cubicBezTo>
                  <a:cubicBezTo>
                    <a:pt x="1360600" y="45616"/>
                    <a:pt x="1370603" y="69767"/>
                    <a:pt x="1370603" y="94948"/>
                  </a:cubicBezTo>
                  <a:lnTo>
                    <a:pt x="1370603" y="94948"/>
                  </a:lnTo>
                  <a:cubicBezTo>
                    <a:pt x="1370603" y="147387"/>
                    <a:pt x="1328094" y="189897"/>
                    <a:pt x="1275655" y="189897"/>
                  </a:cubicBezTo>
                  <a:lnTo>
                    <a:pt x="94948" y="189897"/>
                  </a:lnTo>
                  <a:cubicBezTo>
                    <a:pt x="42510" y="189897"/>
                    <a:pt x="0" y="147387"/>
                    <a:pt x="0" y="94948"/>
                  </a:cubicBezTo>
                  <a:lnTo>
                    <a:pt x="0" y="94948"/>
                  </a:lnTo>
                  <a:cubicBezTo>
                    <a:pt x="0" y="42510"/>
                    <a:pt x="42510" y="0"/>
                    <a:pt x="94948" y="0"/>
                  </a:cubicBezTo>
                  <a:close/>
                </a:path>
              </a:pathLst>
            </a:custGeom>
            <a:solidFill>
              <a:srgbClr val="FAA607"/>
            </a:solidFill>
            <a:ln cap="rnd">
              <a:noFill/>
              <a:prstDash val="solid"/>
              <a:round/>
            </a:ln>
          </p:spPr>
        </p:sp>
        <p:sp>
          <p:nvSpPr>
            <p:cNvPr name="TextBox 4" id="4"/>
            <p:cNvSpPr txBox="true"/>
            <p:nvPr/>
          </p:nvSpPr>
          <p:spPr>
            <a:xfrm>
              <a:off x="0" y="-57150"/>
              <a:ext cx="1370603" cy="247047"/>
            </a:xfrm>
            <a:prstGeom prst="rect">
              <a:avLst/>
            </a:prstGeom>
          </p:spPr>
          <p:txBody>
            <a:bodyPr anchor="ctr" rtlCol="false" tIns="50800" lIns="50800" bIns="50800" rIns="50800"/>
            <a:lstStyle/>
            <a:p>
              <a:pPr algn="ctr" marL="0" indent="0" lvl="0">
                <a:lnSpc>
                  <a:spcPts val="2824"/>
                </a:lnSpc>
                <a:spcBef>
                  <a:spcPct val="0"/>
                </a:spcBef>
              </a:pPr>
            </a:p>
          </p:txBody>
        </p:sp>
      </p:grpSp>
      <p:sp>
        <p:nvSpPr>
          <p:cNvPr name="Freeform 5" id="5"/>
          <p:cNvSpPr/>
          <p:nvPr/>
        </p:nvSpPr>
        <p:spPr>
          <a:xfrm flipH="false" flipV="false" rot="0">
            <a:off x="16815378" y="1166754"/>
            <a:ext cx="296763" cy="308325"/>
          </a:xfrm>
          <a:custGeom>
            <a:avLst/>
            <a:gdLst/>
            <a:ahLst/>
            <a:cxnLst/>
            <a:rect r="r" b="b" t="t" l="l"/>
            <a:pathLst>
              <a:path h="308325" w="296763">
                <a:moveTo>
                  <a:pt x="0" y="0"/>
                </a:moveTo>
                <a:lnTo>
                  <a:pt x="296763" y="0"/>
                </a:lnTo>
                <a:lnTo>
                  <a:pt x="296763" y="308325"/>
                </a:lnTo>
                <a:lnTo>
                  <a:pt x="0" y="30832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2145208">
            <a:off x="-4074482" y="2541597"/>
            <a:ext cx="14525775" cy="6496983"/>
          </a:xfrm>
          <a:custGeom>
            <a:avLst/>
            <a:gdLst/>
            <a:ahLst/>
            <a:cxnLst/>
            <a:rect r="r" b="b" t="t" l="l"/>
            <a:pathLst>
              <a:path h="6496983" w="14525775">
                <a:moveTo>
                  <a:pt x="0" y="0"/>
                </a:moveTo>
                <a:lnTo>
                  <a:pt x="14525775" y="0"/>
                </a:lnTo>
                <a:lnTo>
                  <a:pt x="14525775" y="6496983"/>
                </a:lnTo>
                <a:lnTo>
                  <a:pt x="0" y="64969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972617" y="2109683"/>
            <a:ext cx="6561049" cy="6561049"/>
          </a:xfrm>
          <a:custGeom>
            <a:avLst/>
            <a:gdLst/>
            <a:ahLst/>
            <a:cxnLst/>
            <a:rect r="r" b="b" t="t" l="l"/>
            <a:pathLst>
              <a:path h="6561049" w="6561049">
                <a:moveTo>
                  <a:pt x="0" y="0"/>
                </a:moveTo>
                <a:lnTo>
                  <a:pt x="6561049" y="0"/>
                </a:lnTo>
                <a:lnTo>
                  <a:pt x="6561049" y="6561049"/>
                </a:lnTo>
                <a:lnTo>
                  <a:pt x="0" y="656104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2145208">
            <a:off x="12600536" y="5752755"/>
            <a:ext cx="8429684" cy="3770368"/>
          </a:xfrm>
          <a:custGeom>
            <a:avLst/>
            <a:gdLst/>
            <a:ahLst/>
            <a:cxnLst/>
            <a:rect r="r" b="b" t="t" l="l"/>
            <a:pathLst>
              <a:path h="3770368" w="8429684">
                <a:moveTo>
                  <a:pt x="0" y="0"/>
                </a:moveTo>
                <a:lnTo>
                  <a:pt x="8429684" y="0"/>
                </a:lnTo>
                <a:lnTo>
                  <a:pt x="8429684" y="3770368"/>
                </a:lnTo>
                <a:lnTo>
                  <a:pt x="0" y="377036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028700" y="1049653"/>
            <a:ext cx="647545" cy="495666"/>
          </a:xfrm>
          <a:custGeom>
            <a:avLst/>
            <a:gdLst/>
            <a:ahLst/>
            <a:cxnLst/>
            <a:rect r="r" b="b" t="t" l="l"/>
            <a:pathLst>
              <a:path h="495666" w="647545">
                <a:moveTo>
                  <a:pt x="0" y="0"/>
                </a:moveTo>
                <a:lnTo>
                  <a:pt x="647545" y="0"/>
                </a:lnTo>
                <a:lnTo>
                  <a:pt x="647545" y="495666"/>
                </a:lnTo>
                <a:lnTo>
                  <a:pt x="0" y="49566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10577904">
            <a:off x="15336566" y="8524547"/>
            <a:ext cx="3845468" cy="4114800"/>
          </a:xfrm>
          <a:custGeom>
            <a:avLst/>
            <a:gdLst/>
            <a:ahLst/>
            <a:cxnLst/>
            <a:rect r="r" b="b" t="t" l="l"/>
            <a:pathLst>
              <a:path h="4114800" w="3845468">
                <a:moveTo>
                  <a:pt x="0" y="0"/>
                </a:moveTo>
                <a:lnTo>
                  <a:pt x="3845468" y="0"/>
                </a:lnTo>
                <a:lnTo>
                  <a:pt x="384546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6034560">
            <a:off x="-1502391" y="7200900"/>
            <a:ext cx="3845468" cy="4114800"/>
          </a:xfrm>
          <a:custGeom>
            <a:avLst/>
            <a:gdLst/>
            <a:ahLst/>
            <a:cxnLst/>
            <a:rect r="r" b="b" t="t" l="l"/>
            <a:pathLst>
              <a:path h="4114800" w="3845468">
                <a:moveTo>
                  <a:pt x="0" y="0"/>
                </a:moveTo>
                <a:lnTo>
                  <a:pt x="3845468" y="0"/>
                </a:lnTo>
                <a:lnTo>
                  <a:pt x="3845468"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2" id="12"/>
          <p:cNvSpPr/>
          <p:nvPr/>
        </p:nvSpPr>
        <p:spPr>
          <a:xfrm flipH="false" flipV="false" rot="4124654">
            <a:off x="16866407" y="3148635"/>
            <a:ext cx="626952" cy="392130"/>
          </a:xfrm>
          <a:custGeom>
            <a:avLst/>
            <a:gdLst/>
            <a:ahLst/>
            <a:cxnLst/>
            <a:rect r="r" b="b" t="t" l="l"/>
            <a:pathLst>
              <a:path h="392130" w="626952">
                <a:moveTo>
                  <a:pt x="0" y="0"/>
                </a:moveTo>
                <a:lnTo>
                  <a:pt x="626952" y="0"/>
                </a:lnTo>
                <a:lnTo>
                  <a:pt x="626952" y="392130"/>
                </a:lnTo>
                <a:lnTo>
                  <a:pt x="0" y="39213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3" id="13"/>
          <p:cNvSpPr/>
          <p:nvPr/>
        </p:nvSpPr>
        <p:spPr>
          <a:xfrm flipH="false" flipV="false" rot="-9344170">
            <a:off x="1659141" y="8782232"/>
            <a:ext cx="626952" cy="392130"/>
          </a:xfrm>
          <a:custGeom>
            <a:avLst/>
            <a:gdLst/>
            <a:ahLst/>
            <a:cxnLst/>
            <a:rect r="r" b="b" t="t" l="l"/>
            <a:pathLst>
              <a:path h="392130" w="626952">
                <a:moveTo>
                  <a:pt x="0" y="0"/>
                </a:moveTo>
                <a:lnTo>
                  <a:pt x="626952" y="0"/>
                </a:lnTo>
                <a:lnTo>
                  <a:pt x="626952" y="392130"/>
                </a:lnTo>
                <a:lnTo>
                  <a:pt x="0" y="392130"/>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4" id="14"/>
          <p:cNvSpPr/>
          <p:nvPr/>
        </p:nvSpPr>
        <p:spPr>
          <a:xfrm flipH="false" flipV="false" rot="-7638806">
            <a:off x="692725" y="3680746"/>
            <a:ext cx="1034860" cy="383329"/>
          </a:xfrm>
          <a:custGeom>
            <a:avLst/>
            <a:gdLst/>
            <a:ahLst/>
            <a:cxnLst/>
            <a:rect r="r" b="b" t="t" l="l"/>
            <a:pathLst>
              <a:path h="383329" w="1034860">
                <a:moveTo>
                  <a:pt x="0" y="0"/>
                </a:moveTo>
                <a:lnTo>
                  <a:pt x="1034860" y="0"/>
                </a:lnTo>
                <a:lnTo>
                  <a:pt x="1034860" y="383329"/>
                </a:lnTo>
                <a:lnTo>
                  <a:pt x="0" y="383329"/>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5" id="15"/>
          <p:cNvSpPr/>
          <p:nvPr/>
        </p:nvSpPr>
        <p:spPr>
          <a:xfrm flipH="false" flipV="false" rot="8999904">
            <a:off x="9220070" y="9006778"/>
            <a:ext cx="1034860" cy="383329"/>
          </a:xfrm>
          <a:custGeom>
            <a:avLst/>
            <a:gdLst/>
            <a:ahLst/>
            <a:cxnLst/>
            <a:rect r="r" b="b" t="t" l="l"/>
            <a:pathLst>
              <a:path h="383329" w="1034860">
                <a:moveTo>
                  <a:pt x="0" y="0"/>
                </a:moveTo>
                <a:lnTo>
                  <a:pt x="1034860" y="0"/>
                </a:lnTo>
                <a:lnTo>
                  <a:pt x="1034860" y="383329"/>
                </a:lnTo>
                <a:lnTo>
                  <a:pt x="0" y="383329"/>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TextBox 16" id="16"/>
          <p:cNvSpPr txBox="true"/>
          <p:nvPr/>
        </p:nvSpPr>
        <p:spPr>
          <a:xfrm rot="0">
            <a:off x="11428284" y="1200266"/>
            <a:ext cx="1370528" cy="269875"/>
          </a:xfrm>
          <a:prstGeom prst="rect">
            <a:avLst/>
          </a:prstGeom>
        </p:spPr>
        <p:txBody>
          <a:bodyPr anchor="t" rtlCol="false" tIns="0" lIns="0" bIns="0" rIns="0">
            <a:spAutoFit/>
          </a:bodyPr>
          <a:lstStyle/>
          <a:p>
            <a:pPr algn="ctr">
              <a:lnSpc>
                <a:spcPts val="2000"/>
              </a:lnSpc>
            </a:pPr>
            <a:r>
              <a:rPr lang="en-US" sz="2000">
                <a:solidFill>
                  <a:srgbClr val="27194D">
                    <a:alpha val="55686"/>
                  </a:srgbClr>
                </a:solidFill>
                <a:latin typeface="Open Sans"/>
                <a:ea typeface="Open Sans"/>
                <a:cs typeface="Open Sans"/>
                <a:sym typeface="Open Sans"/>
              </a:rPr>
              <a:t>LAYANAN</a:t>
            </a:r>
          </a:p>
        </p:txBody>
      </p:sp>
      <p:sp>
        <p:nvSpPr>
          <p:cNvPr name="TextBox 17" id="17"/>
          <p:cNvSpPr txBox="true"/>
          <p:nvPr/>
        </p:nvSpPr>
        <p:spPr>
          <a:xfrm rot="0">
            <a:off x="9810993" y="1200266"/>
            <a:ext cx="1293441" cy="269875"/>
          </a:xfrm>
          <a:prstGeom prst="rect">
            <a:avLst/>
          </a:prstGeom>
        </p:spPr>
        <p:txBody>
          <a:bodyPr anchor="t" rtlCol="false" tIns="0" lIns="0" bIns="0" rIns="0">
            <a:spAutoFit/>
          </a:bodyPr>
          <a:lstStyle/>
          <a:p>
            <a:pPr algn="ctr">
              <a:lnSpc>
                <a:spcPts val="2000"/>
              </a:lnSpc>
            </a:pPr>
            <a:r>
              <a:rPr lang="en-US" b="true" sz="2000">
                <a:solidFill>
                  <a:srgbClr val="5D4FCA"/>
                </a:solidFill>
                <a:latin typeface="Open Sans Bold"/>
                <a:ea typeface="Open Sans Bold"/>
                <a:cs typeface="Open Sans Bold"/>
                <a:sym typeface="Open Sans Bold"/>
              </a:rPr>
              <a:t>BERANDA</a:t>
            </a:r>
          </a:p>
        </p:txBody>
      </p:sp>
      <p:sp>
        <p:nvSpPr>
          <p:cNvPr name="TextBox 18" id="18"/>
          <p:cNvSpPr txBox="true"/>
          <p:nvPr/>
        </p:nvSpPr>
        <p:spPr>
          <a:xfrm rot="0">
            <a:off x="1847695" y="1109652"/>
            <a:ext cx="3115460" cy="422485"/>
          </a:xfrm>
          <a:prstGeom prst="rect">
            <a:avLst/>
          </a:prstGeom>
        </p:spPr>
        <p:txBody>
          <a:bodyPr anchor="t" rtlCol="false" tIns="0" lIns="0" bIns="0" rIns="0">
            <a:spAutoFit/>
          </a:bodyPr>
          <a:lstStyle/>
          <a:p>
            <a:pPr algn="l">
              <a:lnSpc>
                <a:spcPts val="3107"/>
              </a:lnSpc>
            </a:pPr>
            <a:r>
              <a:rPr lang="en-US" sz="2799" b="true">
                <a:solidFill>
                  <a:srgbClr val="5D4FCA"/>
                </a:solidFill>
                <a:latin typeface="Roboto Condensed Bold"/>
                <a:ea typeface="Roboto Condensed Bold"/>
                <a:cs typeface="Roboto Condensed Bold"/>
                <a:sym typeface="Roboto Condensed Bold"/>
              </a:rPr>
              <a:t>KESIMPULAN</a:t>
            </a:r>
          </a:p>
        </p:txBody>
      </p:sp>
      <p:sp>
        <p:nvSpPr>
          <p:cNvPr name="TextBox 19" id="19"/>
          <p:cNvSpPr txBox="true"/>
          <p:nvPr/>
        </p:nvSpPr>
        <p:spPr>
          <a:xfrm rot="0">
            <a:off x="9062840" y="2265570"/>
            <a:ext cx="7365746" cy="1264202"/>
          </a:xfrm>
          <a:prstGeom prst="rect">
            <a:avLst/>
          </a:prstGeom>
        </p:spPr>
        <p:txBody>
          <a:bodyPr anchor="t" rtlCol="false" tIns="0" lIns="0" bIns="0" rIns="0">
            <a:spAutoFit/>
          </a:bodyPr>
          <a:lstStyle/>
          <a:p>
            <a:pPr algn="l">
              <a:lnSpc>
                <a:spcPts val="10085"/>
              </a:lnSpc>
            </a:pPr>
            <a:r>
              <a:rPr lang="en-US" sz="8199" b="true">
                <a:solidFill>
                  <a:srgbClr val="27194D"/>
                </a:solidFill>
                <a:latin typeface="Roboto Condensed Bold"/>
                <a:ea typeface="Roboto Condensed Bold"/>
                <a:cs typeface="Roboto Condensed Bold"/>
                <a:sym typeface="Roboto Condensed Bold"/>
              </a:rPr>
              <a:t>KESIMPULAN</a:t>
            </a:r>
          </a:p>
        </p:txBody>
      </p:sp>
      <p:sp>
        <p:nvSpPr>
          <p:cNvPr name="TextBox 20" id="20"/>
          <p:cNvSpPr txBox="true"/>
          <p:nvPr/>
        </p:nvSpPr>
        <p:spPr>
          <a:xfrm rot="0">
            <a:off x="9144000" y="3834310"/>
            <a:ext cx="7032049" cy="5978900"/>
          </a:xfrm>
          <a:prstGeom prst="rect">
            <a:avLst/>
          </a:prstGeom>
        </p:spPr>
        <p:txBody>
          <a:bodyPr anchor="t" rtlCol="false" tIns="0" lIns="0" bIns="0" rIns="0">
            <a:spAutoFit/>
          </a:bodyPr>
          <a:lstStyle/>
          <a:p>
            <a:pPr algn="just">
              <a:lnSpc>
                <a:spcPts val="2799"/>
              </a:lnSpc>
            </a:pPr>
            <a:r>
              <a:rPr lang="en-US" sz="1999">
                <a:solidFill>
                  <a:srgbClr val="000000"/>
                </a:solidFill>
                <a:latin typeface="Open Sans"/>
                <a:ea typeface="Open Sans"/>
                <a:cs typeface="Open Sans"/>
                <a:sym typeface="Open Sans"/>
              </a:rPr>
              <a:t>Berdasarkan analisis TPT Indonesia tahun 2015–2022, tingkat pengangguran dipengaruhi oleh faktor umur, pendidikan, dan gender. Kelompok usia muda 15–24 tahun memiliki pengangguran tertinggi karena kurang pengalaman dan keterampilan, sementara lulusan SMA/SMK juga lebih rentan akibat ketidaksesuaian kompetensi dengan kebutuhan kerja. Laki-laki cenderung mengalami pengangguran lebih tinggi dibanding   perempuan karena persaingan yang lebih ketat pada sektor-sektor pekerjaan yang didominasi tenaga kerja laki-laki. Secara keseluruhan, dinamika pengangguran sangat dipengaruhi karakteristik demografis sehingga kebijakan perlu disesuaikan dengan kelompok sasaran.</a:t>
            </a:r>
          </a:p>
          <a:p>
            <a:pPr algn="just">
              <a:lnSpc>
                <a:spcPts val="2799"/>
              </a:lnSpc>
            </a:pPr>
          </a:p>
          <a:p>
            <a:pPr algn="just">
              <a:lnSpc>
                <a:spcPts val="2799"/>
              </a:lnSpc>
            </a:pPr>
          </a:p>
          <a:p>
            <a:pPr algn="just">
              <a:lnSpc>
                <a:spcPts val="2799"/>
              </a:lnSpc>
            </a:pPr>
          </a:p>
          <a:p>
            <a:pPr algn="just" marL="0" indent="0" lvl="0">
              <a:lnSpc>
                <a:spcPts val="2799"/>
              </a:lnSpc>
            </a:pP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bg>
      <p:bgPr>
        <a:solidFill>
          <a:srgbClr val="FFF8E9"/>
        </a:solidFill>
      </p:bgPr>
    </p:bg>
    <p:spTree>
      <p:nvGrpSpPr>
        <p:cNvPr id="1" name=""/>
        <p:cNvGrpSpPr/>
        <p:nvPr/>
      </p:nvGrpSpPr>
      <p:grpSpPr>
        <a:xfrm>
          <a:off x="0" y="0"/>
          <a:ext cx="0" cy="0"/>
          <a:chOff x="0" y="0"/>
          <a:chExt cx="0" cy="0"/>
        </a:xfrm>
      </p:grpSpPr>
      <p:sp>
        <p:nvSpPr>
          <p:cNvPr name="Freeform 2" id="2"/>
          <p:cNvSpPr/>
          <p:nvPr/>
        </p:nvSpPr>
        <p:spPr>
          <a:xfrm flipH="false" flipV="false" rot="-816736">
            <a:off x="10836391" y="2819495"/>
            <a:ext cx="10391893" cy="4648010"/>
          </a:xfrm>
          <a:custGeom>
            <a:avLst/>
            <a:gdLst/>
            <a:ahLst/>
            <a:cxnLst/>
            <a:rect r="r" b="b" t="t" l="l"/>
            <a:pathLst>
              <a:path h="4648010" w="10391893">
                <a:moveTo>
                  <a:pt x="0" y="0"/>
                </a:moveTo>
                <a:lnTo>
                  <a:pt x="10391893" y="0"/>
                </a:lnTo>
                <a:lnTo>
                  <a:pt x="10391893" y="4648010"/>
                </a:lnTo>
                <a:lnTo>
                  <a:pt x="0" y="46480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9716006">
            <a:off x="-1367694" y="-1728976"/>
            <a:ext cx="3845468" cy="4114800"/>
          </a:xfrm>
          <a:custGeom>
            <a:avLst/>
            <a:gdLst/>
            <a:ahLst/>
            <a:cxnLst/>
            <a:rect r="r" b="b" t="t" l="l"/>
            <a:pathLst>
              <a:path h="4114800" w="3845468">
                <a:moveTo>
                  <a:pt x="0" y="0"/>
                </a:moveTo>
                <a:lnTo>
                  <a:pt x="3845467" y="0"/>
                </a:lnTo>
                <a:lnTo>
                  <a:pt x="3845467"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2311695" y="1470141"/>
            <a:ext cx="7923091" cy="3543783"/>
          </a:xfrm>
          <a:custGeom>
            <a:avLst/>
            <a:gdLst/>
            <a:ahLst/>
            <a:cxnLst/>
            <a:rect r="r" b="b" t="t" l="l"/>
            <a:pathLst>
              <a:path h="3543783" w="7923091">
                <a:moveTo>
                  <a:pt x="0" y="0"/>
                </a:moveTo>
                <a:lnTo>
                  <a:pt x="7923091" y="0"/>
                </a:lnTo>
                <a:lnTo>
                  <a:pt x="7923091" y="3543783"/>
                </a:lnTo>
                <a:lnTo>
                  <a:pt x="0" y="3543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0">
            <a:off x="13138009" y="1035414"/>
            <a:ext cx="4121291" cy="571004"/>
            <a:chOff x="0" y="0"/>
            <a:chExt cx="1370603" cy="189897"/>
          </a:xfrm>
        </p:grpSpPr>
        <p:sp>
          <p:nvSpPr>
            <p:cNvPr name="Freeform 6" id="6"/>
            <p:cNvSpPr/>
            <p:nvPr/>
          </p:nvSpPr>
          <p:spPr>
            <a:xfrm flipH="false" flipV="false" rot="0">
              <a:off x="0" y="0"/>
              <a:ext cx="1370603" cy="189897"/>
            </a:xfrm>
            <a:custGeom>
              <a:avLst/>
              <a:gdLst/>
              <a:ahLst/>
              <a:cxnLst/>
              <a:rect r="r" b="b" t="t" l="l"/>
              <a:pathLst>
                <a:path h="189897" w="1370603">
                  <a:moveTo>
                    <a:pt x="94948" y="0"/>
                  </a:moveTo>
                  <a:lnTo>
                    <a:pt x="1275655" y="0"/>
                  </a:lnTo>
                  <a:cubicBezTo>
                    <a:pt x="1300837" y="0"/>
                    <a:pt x="1324987" y="10003"/>
                    <a:pt x="1342794" y="27810"/>
                  </a:cubicBezTo>
                  <a:cubicBezTo>
                    <a:pt x="1360600" y="45616"/>
                    <a:pt x="1370603" y="69767"/>
                    <a:pt x="1370603" y="94948"/>
                  </a:cubicBezTo>
                  <a:lnTo>
                    <a:pt x="1370603" y="94948"/>
                  </a:lnTo>
                  <a:cubicBezTo>
                    <a:pt x="1370603" y="147387"/>
                    <a:pt x="1328094" y="189897"/>
                    <a:pt x="1275655" y="189897"/>
                  </a:cubicBezTo>
                  <a:lnTo>
                    <a:pt x="94948" y="189897"/>
                  </a:lnTo>
                  <a:cubicBezTo>
                    <a:pt x="42510" y="189897"/>
                    <a:pt x="0" y="147387"/>
                    <a:pt x="0" y="94948"/>
                  </a:cubicBezTo>
                  <a:lnTo>
                    <a:pt x="0" y="94948"/>
                  </a:lnTo>
                  <a:cubicBezTo>
                    <a:pt x="0" y="42510"/>
                    <a:pt x="42510" y="0"/>
                    <a:pt x="94948" y="0"/>
                  </a:cubicBezTo>
                  <a:close/>
                </a:path>
              </a:pathLst>
            </a:custGeom>
            <a:solidFill>
              <a:srgbClr val="FAA607"/>
            </a:solidFill>
            <a:ln cap="rnd">
              <a:noFill/>
              <a:prstDash val="solid"/>
              <a:round/>
            </a:ln>
          </p:spPr>
        </p:sp>
        <p:sp>
          <p:nvSpPr>
            <p:cNvPr name="TextBox 7" id="7"/>
            <p:cNvSpPr txBox="true"/>
            <p:nvPr/>
          </p:nvSpPr>
          <p:spPr>
            <a:xfrm>
              <a:off x="0" y="-57150"/>
              <a:ext cx="1370603" cy="247047"/>
            </a:xfrm>
            <a:prstGeom prst="rect">
              <a:avLst/>
            </a:prstGeom>
          </p:spPr>
          <p:txBody>
            <a:bodyPr anchor="ctr" rtlCol="false" tIns="50800" lIns="50800" bIns="50800" rIns="50800"/>
            <a:lstStyle/>
            <a:p>
              <a:pPr algn="ctr" marL="0" indent="0" lvl="0">
                <a:lnSpc>
                  <a:spcPts val="2824"/>
                </a:lnSpc>
                <a:spcBef>
                  <a:spcPct val="0"/>
                </a:spcBef>
              </a:pPr>
            </a:p>
          </p:txBody>
        </p:sp>
      </p:grpSp>
      <p:sp>
        <p:nvSpPr>
          <p:cNvPr name="Freeform 8" id="8"/>
          <p:cNvSpPr/>
          <p:nvPr/>
        </p:nvSpPr>
        <p:spPr>
          <a:xfrm flipH="false" flipV="false" rot="0">
            <a:off x="16815378" y="1166754"/>
            <a:ext cx="296763" cy="308325"/>
          </a:xfrm>
          <a:custGeom>
            <a:avLst/>
            <a:gdLst/>
            <a:ahLst/>
            <a:cxnLst/>
            <a:rect r="r" b="b" t="t" l="l"/>
            <a:pathLst>
              <a:path h="308325" w="296763">
                <a:moveTo>
                  <a:pt x="0" y="0"/>
                </a:moveTo>
                <a:lnTo>
                  <a:pt x="296763" y="0"/>
                </a:lnTo>
                <a:lnTo>
                  <a:pt x="296763" y="308325"/>
                </a:lnTo>
                <a:lnTo>
                  <a:pt x="0" y="30832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9" id="9"/>
          <p:cNvSpPr txBox="true"/>
          <p:nvPr/>
        </p:nvSpPr>
        <p:spPr>
          <a:xfrm rot="0">
            <a:off x="7754521" y="3185710"/>
            <a:ext cx="9561929" cy="1554933"/>
          </a:xfrm>
          <a:prstGeom prst="rect">
            <a:avLst/>
          </a:prstGeom>
        </p:spPr>
        <p:txBody>
          <a:bodyPr anchor="t" rtlCol="false" tIns="0" lIns="0" bIns="0" rIns="0">
            <a:spAutoFit/>
          </a:bodyPr>
          <a:lstStyle/>
          <a:p>
            <a:pPr algn="l">
              <a:lnSpc>
                <a:spcPts val="11478"/>
              </a:lnSpc>
            </a:pPr>
            <a:r>
              <a:rPr lang="en-US" sz="11956" b="true">
                <a:solidFill>
                  <a:srgbClr val="27194D"/>
                </a:solidFill>
                <a:latin typeface="Roboto Condensed Bold"/>
                <a:ea typeface="Roboto Condensed Bold"/>
                <a:cs typeface="Roboto Condensed Bold"/>
                <a:sym typeface="Roboto Condensed Bold"/>
              </a:rPr>
              <a:t>TERIMA KASIH</a:t>
            </a:r>
          </a:p>
        </p:txBody>
      </p:sp>
      <p:sp>
        <p:nvSpPr>
          <p:cNvPr name="TextBox 10" id="10"/>
          <p:cNvSpPr txBox="true"/>
          <p:nvPr/>
        </p:nvSpPr>
        <p:spPr>
          <a:xfrm rot="0">
            <a:off x="7754521" y="4802833"/>
            <a:ext cx="7966142" cy="1142480"/>
          </a:xfrm>
          <a:prstGeom prst="rect">
            <a:avLst/>
          </a:prstGeom>
        </p:spPr>
        <p:txBody>
          <a:bodyPr anchor="t" rtlCol="false" tIns="0" lIns="0" bIns="0" rIns="0">
            <a:spAutoFit/>
          </a:bodyPr>
          <a:lstStyle/>
          <a:p>
            <a:pPr algn="l">
              <a:lnSpc>
                <a:spcPts val="8444"/>
              </a:lnSpc>
            </a:pPr>
            <a:r>
              <a:rPr lang="en-US" sz="8796" b="true">
                <a:solidFill>
                  <a:srgbClr val="27194D"/>
                </a:solidFill>
                <a:latin typeface="Roboto Condensed Bold"/>
                <a:ea typeface="Roboto Condensed Bold"/>
                <a:cs typeface="Roboto Condensed Bold"/>
                <a:sym typeface="Roboto Condensed Bold"/>
              </a:rPr>
              <a:t>PERHATIANNYA</a:t>
            </a:r>
          </a:p>
        </p:txBody>
      </p:sp>
      <p:sp>
        <p:nvSpPr>
          <p:cNvPr name="TextBox 11" id="11"/>
          <p:cNvSpPr txBox="true"/>
          <p:nvPr/>
        </p:nvSpPr>
        <p:spPr>
          <a:xfrm rot="0">
            <a:off x="11428284" y="1200266"/>
            <a:ext cx="1370528" cy="269875"/>
          </a:xfrm>
          <a:prstGeom prst="rect">
            <a:avLst/>
          </a:prstGeom>
        </p:spPr>
        <p:txBody>
          <a:bodyPr anchor="t" rtlCol="false" tIns="0" lIns="0" bIns="0" rIns="0">
            <a:spAutoFit/>
          </a:bodyPr>
          <a:lstStyle/>
          <a:p>
            <a:pPr algn="ctr">
              <a:lnSpc>
                <a:spcPts val="2000"/>
              </a:lnSpc>
            </a:pPr>
            <a:r>
              <a:rPr lang="en-US" sz="2000">
                <a:solidFill>
                  <a:srgbClr val="27194D">
                    <a:alpha val="55686"/>
                  </a:srgbClr>
                </a:solidFill>
                <a:latin typeface="Open Sans"/>
                <a:ea typeface="Open Sans"/>
                <a:cs typeface="Open Sans"/>
                <a:sym typeface="Open Sans"/>
              </a:rPr>
              <a:t>LAYANAN</a:t>
            </a:r>
          </a:p>
        </p:txBody>
      </p:sp>
      <p:sp>
        <p:nvSpPr>
          <p:cNvPr name="TextBox 12" id="12"/>
          <p:cNvSpPr txBox="true"/>
          <p:nvPr/>
        </p:nvSpPr>
        <p:spPr>
          <a:xfrm rot="0">
            <a:off x="9810993" y="1200266"/>
            <a:ext cx="1293441" cy="269875"/>
          </a:xfrm>
          <a:prstGeom prst="rect">
            <a:avLst/>
          </a:prstGeom>
        </p:spPr>
        <p:txBody>
          <a:bodyPr anchor="t" rtlCol="false" tIns="0" lIns="0" bIns="0" rIns="0">
            <a:spAutoFit/>
          </a:bodyPr>
          <a:lstStyle/>
          <a:p>
            <a:pPr algn="ctr">
              <a:lnSpc>
                <a:spcPts val="2000"/>
              </a:lnSpc>
            </a:pPr>
            <a:r>
              <a:rPr lang="en-US" b="true" sz="2000">
                <a:solidFill>
                  <a:srgbClr val="5D4FCA"/>
                </a:solidFill>
                <a:latin typeface="Open Sans Bold"/>
                <a:ea typeface="Open Sans Bold"/>
                <a:cs typeface="Open Sans Bold"/>
                <a:sym typeface="Open Sans Bold"/>
              </a:rPr>
              <a:t>BERANDA</a:t>
            </a:r>
          </a:p>
        </p:txBody>
      </p:sp>
      <p:sp>
        <p:nvSpPr>
          <p:cNvPr name="TextBox 13" id="13"/>
          <p:cNvSpPr txBox="true"/>
          <p:nvPr/>
        </p:nvSpPr>
        <p:spPr>
          <a:xfrm rot="0">
            <a:off x="13246539" y="1200266"/>
            <a:ext cx="3394348" cy="269831"/>
          </a:xfrm>
          <a:prstGeom prst="rect">
            <a:avLst/>
          </a:prstGeom>
        </p:spPr>
        <p:txBody>
          <a:bodyPr anchor="t" rtlCol="false" tIns="0" lIns="0" bIns="0" rIns="0">
            <a:spAutoFit/>
          </a:bodyPr>
          <a:lstStyle/>
          <a:p>
            <a:pPr algn="ctr" marL="0" indent="0" lvl="0">
              <a:lnSpc>
                <a:spcPts val="2000"/>
              </a:lnSpc>
              <a:spcBef>
                <a:spcPct val="0"/>
              </a:spcBef>
            </a:pPr>
            <a:r>
              <a:rPr lang="en-US" b="true" sz="2000" strike="noStrike" u="none">
                <a:solidFill>
                  <a:srgbClr val="FFF8E9"/>
                </a:solidFill>
                <a:latin typeface="Open Sans Bold"/>
                <a:ea typeface="Open Sans Bold"/>
                <a:cs typeface="Open Sans Bold"/>
                <a:sym typeface="Open Sans Bold"/>
              </a:rPr>
              <a:t>OLEH : KELOMPOK 3</a:t>
            </a:r>
          </a:p>
        </p:txBody>
      </p:sp>
      <p:grpSp>
        <p:nvGrpSpPr>
          <p:cNvPr name="Group 14" id="14"/>
          <p:cNvGrpSpPr/>
          <p:nvPr/>
        </p:nvGrpSpPr>
        <p:grpSpPr>
          <a:xfrm rot="0">
            <a:off x="7754521" y="6318630"/>
            <a:ext cx="174754" cy="979383"/>
            <a:chOff x="0" y="0"/>
            <a:chExt cx="46026" cy="257944"/>
          </a:xfrm>
        </p:grpSpPr>
        <p:sp>
          <p:nvSpPr>
            <p:cNvPr name="Freeform 15" id="15"/>
            <p:cNvSpPr/>
            <p:nvPr/>
          </p:nvSpPr>
          <p:spPr>
            <a:xfrm flipH="false" flipV="false" rot="0">
              <a:off x="0" y="0"/>
              <a:ext cx="46026" cy="257944"/>
            </a:xfrm>
            <a:custGeom>
              <a:avLst/>
              <a:gdLst/>
              <a:ahLst/>
              <a:cxnLst/>
              <a:rect r="r" b="b" t="t" l="l"/>
              <a:pathLst>
                <a:path h="257944" w="46026">
                  <a:moveTo>
                    <a:pt x="23013" y="0"/>
                  </a:moveTo>
                  <a:lnTo>
                    <a:pt x="23013" y="0"/>
                  </a:lnTo>
                  <a:cubicBezTo>
                    <a:pt x="35723" y="0"/>
                    <a:pt x="46026" y="10303"/>
                    <a:pt x="46026" y="23013"/>
                  </a:cubicBezTo>
                  <a:lnTo>
                    <a:pt x="46026" y="234931"/>
                  </a:lnTo>
                  <a:cubicBezTo>
                    <a:pt x="46026" y="241035"/>
                    <a:pt x="43601" y="246888"/>
                    <a:pt x="39285" y="251204"/>
                  </a:cubicBezTo>
                  <a:cubicBezTo>
                    <a:pt x="34970" y="255520"/>
                    <a:pt x="29116" y="257944"/>
                    <a:pt x="23013" y="257944"/>
                  </a:cubicBezTo>
                  <a:lnTo>
                    <a:pt x="23013" y="257944"/>
                  </a:lnTo>
                  <a:cubicBezTo>
                    <a:pt x="16910" y="257944"/>
                    <a:pt x="11056" y="255520"/>
                    <a:pt x="6740" y="251204"/>
                  </a:cubicBezTo>
                  <a:cubicBezTo>
                    <a:pt x="2425" y="246888"/>
                    <a:pt x="0" y="241035"/>
                    <a:pt x="0" y="234931"/>
                  </a:cubicBezTo>
                  <a:lnTo>
                    <a:pt x="0" y="23013"/>
                  </a:lnTo>
                  <a:cubicBezTo>
                    <a:pt x="0" y="16910"/>
                    <a:pt x="2425" y="11056"/>
                    <a:pt x="6740" y="6740"/>
                  </a:cubicBezTo>
                  <a:cubicBezTo>
                    <a:pt x="11056" y="2425"/>
                    <a:pt x="16910" y="0"/>
                    <a:pt x="23013" y="0"/>
                  </a:cubicBezTo>
                  <a:close/>
                </a:path>
              </a:pathLst>
            </a:custGeom>
            <a:solidFill>
              <a:srgbClr val="FAA607"/>
            </a:solidFill>
          </p:spPr>
        </p:sp>
        <p:sp>
          <p:nvSpPr>
            <p:cNvPr name="TextBox 16" id="16"/>
            <p:cNvSpPr txBox="true"/>
            <p:nvPr/>
          </p:nvSpPr>
          <p:spPr>
            <a:xfrm>
              <a:off x="0" y="28575"/>
              <a:ext cx="46026" cy="229369"/>
            </a:xfrm>
            <a:prstGeom prst="rect">
              <a:avLst/>
            </a:prstGeom>
          </p:spPr>
          <p:txBody>
            <a:bodyPr anchor="ctr" rtlCol="false" tIns="50800" lIns="50800" bIns="50800" rIns="50800"/>
            <a:lstStyle/>
            <a:p>
              <a:pPr algn="ctr">
                <a:lnSpc>
                  <a:spcPts val="2000"/>
                </a:lnSpc>
              </a:pPr>
            </a:p>
          </p:txBody>
        </p:sp>
      </p:grpSp>
      <p:sp>
        <p:nvSpPr>
          <p:cNvPr name="TextBox 17" id="17"/>
          <p:cNvSpPr txBox="true"/>
          <p:nvPr/>
        </p:nvSpPr>
        <p:spPr>
          <a:xfrm rot="0">
            <a:off x="8083943" y="6300201"/>
            <a:ext cx="8731435" cy="807808"/>
          </a:xfrm>
          <a:prstGeom prst="rect">
            <a:avLst/>
          </a:prstGeom>
        </p:spPr>
        <p:txBody>
          <a:bodyPr anchor="t" rtlCol="false" tIns="0" lIns="0" bIns="0" rIns="0">
            <a:spAutoFit/>
          </a:bodyPr>
          <a:lstStyle/>
          <a:p>
            <a:pPr algn="l" marL="0" indent="0" lvl="0">
              <a:lnSpc>
                <a:spcPts val="3360"/>
              </a:lnSpc>
            </a:pPr>
            <a:r>
              <a:rPr lang="en-US" b="true" sz="2100" strike="noStrike" u="none">
                <a:solidFill>
                  <a:srgbClr val="5D4FCA"/>
                </a:solidFill>
                <a:latin typeface="Open Sans Bold"/>
                <a:ea typeface="Open Sans Bold"/>
                <a:cs typeface="Open Sans Bold"/>
                <a:sym typeface="Open Sans Bold"/>
              </a:rPr>
              <a:t>ANALISIS PENGARUH FAKTOR DEMOGRAFIS TERHADAP TINGKAT PENGANGGURAN TERBUKA (TPT) DI INDONESIA TAHUN 2015–2022</a:t>
            </a:r>
          </a:p>
        </p:txBody>
      </p:sp>
      <p:grpSp>
        <p:nvGrpSpPr>
          <p:cNvPr name="Group 18" id="18"/>
          <p:cNvGrpSpPr/>
          <p:nvPr/>
        </p:nvGrpSpPr>
        <p:grpSpPr>
          <a:xfrm rot="0">
            <a:off x="7841898" y="7783788"/>
            <a:ext cx="4073723" cy="626198"/>
            <a:chOff x="0" y="0"/>
            <a:chExt cx="902323" cy="138702"/>
          </a:xfrm>
        </p:grpSpPr>
        <p:sp>
          <p:nvSpPr>
            <p:cNvPr name="Freeform 19" id="19"/>
            <p:cNvSpPr/>
            <p:nvPr/>
          </p:nvSpPr>
          <p:spPr>
            <a:xfrm flipH="false" flipV="false" rot="0">
              <a:off x="0" y="0"/>
              <a:ext cx="902323" cy="138702"/>
            </a:xfrm>
            <a:custGeom>
              <a:avLst/>
              <a:gdLst/>
              <a:ahLst/>
              <a:cxnLst/>
              <a:rect r="r" b="b" t="t" l="l"/>
              <a:pathLst>
                <a:path h="138702" w="902323">
                  <a:moveTo>
                    <a:pt x="69351" y="0"/>
                  </a:moveTo>
                  <a:lnTo>
                    <a:pt x="832972" y="0"/>
                  </a:lnTo>
                  <a:cubicBezTo>
                    <a:pt x="851365" y="0"/>
                    <a:pt x="869005" y="7307"/>
                    <a:pt x="882010" y="20312"/>
                  </a:cubicBezTo>
                  <a:cubicBezTo>
                    <a:pt x="895016" y="33318"/>
                    <a:pt x="902323" y="50958"/>
                    <a:pt x="902323" y="69351"/>
                  </a:cubicBezTo>
                  <a:lnTo>
                    <a:pt x="902323" y="69351"/>
                  </a:lnTo>
                  <a:cubicBezTo>
                    <a:pt x="902323" y="107652"/>
                    <a:pt x="871273" y="138702"/>
                    <a:pt x="832972" y="138702"/>
                  </a:cubicBezTo>
                  <a:lnTo>
                    <a:pt x="69351" y="138702"/>
                  </a:lnTo>
                  <a:cubicBezTo>
                    <a:pt x="31049" y="138702"/>
                    <a:pt x="0" y="107652"/>
                    <a:pt x="0" y="69351"/>
                  </a:cubicBezTo>
                  <a:lnTo>
                    <a:pt x="0" y="69351"/>
                  </a:lnTo>
                  <a:cubicBezTo>
                    <a:pt x="0" y="31049"/>
                    <a:pt x="31049" y="0"/>
                    <a:pt x="69351" y="0"/>
                  </a:cubicBezTo>
                  <a:close/>
                </a:path>
              </a:pathLst>
            </a:custGeom>
            <a:solidFill>
              <a:srgbClr val="5D4FCA"/>
            </a:solidFill>
            <a:ln cap="rnd">
              <a:noFill/>
              <a:prstDash val="solid"/>
              <a:round/>
            </a:ln>
          </p:spPr>
        </p:sp>
        <p:sp>
          <p:nvSpPr>
            <p:cNvPr name="TextBox 20" id="20"/>
            <p:cNvSpPr txBox="true"/>
            <p:nvPr/>
          </p:nvSpPr>
          <p:spPr>
            <a:xfrm>
              <a:off x="0" y="-47625"/>
              <a:ext cx="902323" cy="186327"/>
            </a:xfrm>
            <a:prstGeom prst="rect">
              <a:avLst/>
            </a:prstGeom>
          </p:spPr>
          <p:txBody>
            <a:bodyPr anchor="ctr" rtlCol="false" tIns="50800" lIns="50800" bIns="50800" rIns="50800"/>
            <a:lstStyle/>
            <a:p>
              <a:pPr algn="ctr" marL="0" indent="0" lvl="0">
                <a:lnSpc>
                  <a:spcPts val="2824"/>
                </a:lnSpc>
                <a:spcBef>
                  <a:spcPct val="0"/>
                </a:spcBef>
              </a:pPr>
            </a:p>
          </p:txBody>
        </p:sp>
      </p:grpSp>
      <p:grpSp>
        <p:nvGrpSpPr>
          <p:cNvPr name="Group 21" id="21"/>
          <p:cNvGrpSpPr/>
          <p:nvPr/>
        </p:nvGrpSpPr>
        <p:grpSpPr>
          <a:xfrm rot="0">
            <a:off x="12179992" y="7783788"/>
            <a:ext cx="3057319" cy="626198"/>
            <a:chOff x="0" y="0"/>
            <a:chExt cx="677191" cy="138702"/>
          </a:xfrm>
        </p:grpSpPr>
        <p:sp>
          <p:nvSpPr>
            <p:cNvPr name="Freeform 22" id="22"/>
            <p:cNvSpPr/>
            <p:nvPr/>
          </p:nvSpPr>
          <p:spPr>
            <a:xfrm flipH="false" flipV="false" rot="0">
              <a:off x="0" y="0"/>
              <a:ext cx="677191" cy="138702"/>
            </a:xfrm>
            <a:custGeom>
              <a:avLst/>
              <a:gdLst/>
              <a:ahLst/>
              <a:cxnLst/>
              <a:rect r="r" b="b" t="t" l="l"/>
              <a:pathLst>
                <a:path h="138702" w="677191">
                  <a:moveTo>
                    <a:pt x="69351" y="0"/>
                  </a:moveTo>
                  <a:lnTo>
                    <a:pt x="607840" y="0"/>
                  </a:lnTo>
                  <a:cubicBezTo>
                    <a:pt x="646142" y="0"/>
                    <a:pt x="677191" y="31049"/>
                    <a:pt x="677191" y="69351"/>
                  </a:cubicBezTo>
                  <a:lnTo>
                    <a:pt x="677191" y="69351"/>
                  </a:lnTo>
                  <a:cubicBezTo>
                    <a:pt x="677191" y="87744"/>
                    <a:pt x="669885" y="105384"/>
                    <a:pt x="656879" y="118389"/>
                  </a:cubicBezTo>
                  <a:cubicBezTo>
                    <a:pt x="643873" y="131395"/>
                    <a:pt x="626233" y="138702"/>
                    <a:pt x="607840" y="138702"/>
                  </a:cubicBezTo>
                  <a:lnTo>
                    <a:pt x="69351" y="138702"/>
                  </a:lnTo>
                  <a:cubicBezTo>
                    <a:pt x="31049" y="138702"/>
                    <a:pt x="0" y="107652"/>
                    <a:pt x="0" y="69351"/>
                  </a:cubicBezTo>
                  <a:lnTo>
                    <a:pt x="0" y="69351"/>
                  </a:lnTo>
                  <a:cubicBezTo>
                    <a:pt x="0" y="31049"/>
                    <a:pt x="31049" y="0"/>
                    <a:pt x="69351" y="0"/>
                  </a:cubicBezTo>
                  <a:close/>
                </a:path>
              </a:pathLst>
            </a:custGeom>
            <a:solidFill>
              <a:srgbClr val="000000">
                <a:alpha val="0"/>
              </a:srgbClr>
            </a:solidFill>
            <a:ln w="38100" cap="rnd">
              <a:solidFill>
                <a:srgbClr val="5D4FCA"/>
              </a:solidFill>
              <a:prstDash val="solid"/>
              <a:round/>
            </a:ln>
          </p:spPr>
        </p:sp>
        <p:sp>
          <p:nvSpPr>
            <p:cNvPr name="TextBox 23" id="23"/>
            <p:cNvSpPr txBox="true"/>
            <p:nvPr/>
          </p:nvSpPr>
          <p:spPr>
            <a:xfrm>
              <a:off x="0" y="-47625"/>
              <a:ext cx="677191" cy="186327"/>
            </a:xfrm>
            <a:prstGeom prst="rect">
              <a:avLst/>
            </a:prstGeom>
          </p:spPr>
          <p:txBody>
            <a:bodyPr anchor="ctr" rtlCol="false" tIns="50800" lIns="50800" bIns="50800" rIns="50800"/>
            <a:lstStyle/>
            <a:p>
              <a:pPr algn="ctr" marL="0" indent="0" lvl="0">
                <a:lnSpc>
                  <a:spcPts val="2824"/>
                </a:lnSpc>
                <a:spcBef>
                  <a:spcPct val="0"/>
                </a:spcBef>
              </a:pPr>
            </a:p>
          </p:txBody>
        </p:sp>
      </p:grpSp>
      <p:sp>
        <p:nvSpPr>
          <p:cNvPr name="Freeform 24" id="24"/>
          <p:cNvSpPr/>
          <p:nvPr/>
        </p:nvSpPr>
        <p:spPr>
          <a:xfrm flipH="false" flipV="false" rot="0">
            <a:off x="11368644" y="7868563"/>
            <a:ext cx="452602" cy="452602"/>
          </a:xfrm>
          <a:custGeom>
            <a:avLst/>
            <a:gdLst/>
            <a:ahLst/>
            <a:cxnLst/>
            <a:rect r="r" b="b" t="t" l="l"/>
            <a:pathLst>
              <a:path h="452602" w="452602">
                <a:moveTo>
                  <a:pt x="0" y="0"/>
                </a:moveTo>
                <a:lnTo>
                  <a:pt x="452602" y="0"/>
                </a:lnTo>
                <a:lnTo>
                  <a:pt x="452602" y="452602"/>
                </a:lnTo>
                <a:lnTo>
                  <a:pt x="0" y="45260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25" id="25"/>
          <p:cNvSpPr txBox="true"/>
          <p:nvPr/>
        </p:nvSpPr>
        <p:spPr>
          <a:xfrm rot="0">
            <a:off x="8007432" y="7973897"/>
            <a:ext cx="3147725" cy="299085"/>
          </a:xfrm>
          <a:prstGeom prst="rect">
            <a:avLst/>
          </a:prstGeom>
        </p:spPr>
        <p:txBody>
          <a:bodyPr anchor="t" rtlCol="false" tIns="0" lIns="0" bIns="0" rIns="0">
            <a:spAutoFit/>
          </a:bodyPr>
          <a:lstStyle/>
          <a:p>
            <a:pPr algn="ctr" marL="0" indent="0" lvl="0">
              <a:lnSpc>
                <a:spcPts val="2399"/>
              </a:lnSpc>
              <a:spcBef>
                <a:spcPct val="0"/>
              </a:spcBef>
            </a:pPr>
            <a:r>
              <a:rPr lang="en-US" b="true" sz="2399">
                <a:solidFill>
                  <a:srgbClr val="FFFFFF"/>
                </a:solidFill>
                <a:latin typeface="Open Sans Semi-Bold"/>
                <a:ea typeface="Open Sans Semi-Bold"/>
                <a:cs typeface="Open Sans Semi-Bold"/>
                <a:sym typeface="Open Sans Semi-Bold"/>
              </a:rPr>
              <a:t>SAMPAI JUMPA LAGI</a:t>
            </a:r>
          </a:p>
        </p:txBody>
      </p:sp>
      <p:sp>
        <p:nvSpPr>
          <p:cNvPr name="TextBox 26" id="26"/>
          <p:cNvSpPr txBox="true"/>
          <p:nvPr/>
        </p:nvSpPr>
        <p:spPr>
          <a:xfrm rot="0">
            <a:off x="12417616" y="7975919"/>
            <a:ext cx="2582071" cy="299085"/>
          </a:xfrm>
          <a:prstGeom prst="rect">
            <a:avLst/>
          </a:prstGeom>
        </p:spPr>
        <p:txBody>
          <a:bodyPr anchor="t" rtlCol="false" tIns="0" lIns="0" bIns="0" rIns="0">
            <a:spAutoFit/>
          </a:bodyPr>
          <a:lstStyle/>
          <a:p>
            <a:pPr algn="ctr" marL="0" indent="0" lvl="0">
              <a:lnSpc>
                <a:spcPts val="2399"/>
              </a:lnSpc>
              <a:spcBef>
                <a:spcPct val="0"/>
              </a:spcBef>
            </a:pPr>
            <a:r>
              <a:rPr lang="en-US" b="true" sz="2399">
                <a:solidFill>
                  <a:srgbClr val="27194D"/>
                </a:solidFill>
                <a:latin typeface="Open Sans Semi-Bold"/>
                <a:ea typeface="Open Sans Semi-Bold"/>
                <a:cs typeface="Open Sans Semi-Bold"/>
                <a:sym typeface="Open Sans Semi-Bold"/>
              </a:rPr>
              <a:t>SELENGKAPNYA</a:t>
            </a:r>
          </a:p>
        </p:txBody>
      </p:sp>
      <p:sp>
        <p:nvSpPr>
          <p:cNvPr name="Freeform 27" id="27"/>
          <p:cNvSpPr/>
          <p:nvPr/>
        </p:nvSpPr>
        <p:spPr>
          <a:xfrm flipH="false" flipV="false" rot="0">
            <a:off x="1192931" y="2919010"/>
            <a:ext cx="5757206" cy="5757206"/>
          </a:xfrm>
          <a:custGeom>
            <a:avLst/>
            <a:gdLst/>
            <a:ahLst/>
            <a:cxnLst/>
            <a:rect r="r" b="b" t="t" l="l"/>
            <a:pathLst>
              <a:path h="5757206" w="5757206">
                <a:moveTo>
                  <a:pt x="0" y="0"/>
                </a:moveTo>
                <a:lnTo>
                  <a:pt x="5757206" y="0"/>
                </a:lnTo>
                <a:lnTo>
                  <a:pt x="5757206" y="5757206"/>
                </a:lnTo>
                <a:lnTo>
                  <a:pt x="0" y="575720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28" id="28"/>
          <p:cNvSpPr txBox="true"/>
          <p:nvPr/>
        </p:nvSpPr>
        <p:spPr>
          <a:xfrm rot="0">
            <a:off x="1847695" y="1109652"/>
            <a:ext cx="3115460" cy="422485"/>
          </a:xfrm>
          <a:prstGeom prst="rect">
            <a:avLst/>
          </a:prstGeom>
        </p:spPr>
        <p:txBody>
          <a:bodyPr anchor="t" rtlCol="false" tIns="0" lIns="0" bIns="0" rIns="0">
            <a:spAutoFit/>
          </a:bodyPr>
          <a:lstStyle/>
          <a:p>
            <a:pPr algn="l">
              <a:lnSpc>
                <a:spcPts val="3107"/>
              </a:lnSpc>
            </a:pPr>
            <a:r>
              <a:rPr lang="en-US" sz="2799" b="true">
                <a:solidFill>
                  <a:srgbClr val="5D4FCA"/>
                </a:solidFill>
                <a:latin typeface="Roboto Condensed Bold"/>
                <a:ea typeface="Roboto Condensed Bold"/>
                <a:cs typeface="Roboto Condensed Bold"/>
                <a:sym typeface="Roboto Condensed Bold"/>
              </a:rPr>
              <a:t>DATA WRANGLING</a:t>
            </a:r>
          </a:p>
        </p:txBody>
      </p:sp>
      <p:sp>
        <p:nvSpPr>
          <p:cNvPr name="Freeform 29" id="29"/>
          <p:cNvSpPr/>
          <p:nvPr/>
        </p:nvSpPr>
        <p:spPr>
          <a:xfrm flipH="false" flipV="false" rot="0">
            <a:off x="1028700" y="1049653"/>
            <a:ext cx="647545" cy="495666"/>
          </a:xfrm>
          <a:custGeom>
            <a:avLst/>
            <a:gdLst/>
            <a:ahLst/>
            <a:cxnLst/>
            <a:rect r="r" b="b" t="t" l="l"/>
            <a:pathLst>
              <a:path h="495666" w="647545">
                <a:moveTo>
                  <a:pt x="0" y="0"/>
                </a:moveTo>
                <a:lnTo>
                  <a:pt x="647545" y="0"/>
                </a:lnTo>
                <a:lnTo>
                  <a:pt x="647545" y="495666"/>
                </a:lnTo>
                <a:lnTo>
                  <a:pt x="0" y="49566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0" id="30"/>
          <p:cNvSpPr/>
          <p:nvPr/>
        </p:nvSpPr>
        <p:spPr>
          <a:xfrm flipH="false" flipV="false" rot="1134403">
            <a:off x="15562607" y="7320340"/>
            <a:ext cx="3845468" cy="4114800"/>
          </a:xfrm>
          <a:custGeom>
            <a:avLst/>
            <a:gdLst/>
            <a:ahLst/>
            <a:cxnLst/>
            <a:rect r="r" b="b" t="t" l="l"/>
            <a:pathLst>
              <a:path h="4114800" w="3845468">
                <a:moveTo>
                  <a:pt x="0" y="0"/>
                </a:moveTo>
                <a:lnTo>
                  <a:pt x="3845468" y="0"/>
                </a:lnTo>
                <a:lnTo>
                  <a:pt x="3845468" y="4114800"/>
                </a:lnTo>
                <a:lnTo>
                  <a:pt x="0" y="411480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31" id="31"/>
          <p:cNvSpPr/>
          <p:nvPr/>
        </p:nvSpPr>
        <p:spPr>
          <a:xfrm flipH="false" flipV="false" rot="-1342151">
            <a:off x="7528422" y="1936557"/>
            <a:ext cx="626952" cy="392130"/>
          </a:xfrm>
          <a:custGeom>
            <a:avLst/>
            <a:gdLst/>
            <a:ahLst/>
            <a:cxnLst/>
            <a:rect r="r" b="b" t="t" l="l"/>
            <a:pathLst>
              <a:path h="392130" w="626952">
                <a:moveTo>
                  <a:pt x="0" y="0"/>
                </a:moveTo>
                <a:lnTo>
                  <a:pt x="626952" y="0"/>
                </a:lnTo>
                <a:lnTo>
                  <a:pt x="626952" y="392131"/>
                </a:lnTo>
                <a:lnTo>
                  <a:pt x="0" y="392131"/>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32" id="32"/>
          <p:cNvSpPr/>
          <p:nvPr/>
        </p:nvSpPr>
        <p:spPr>
          <a:xfrm flipH="false" flipV="false" rot="-9956856">
            <a:off x="17002974" y="8162715"/>
            <a:ext cx="626952" cy="392130"/>
          </a:xfrm>
          <a:custGeom>
            <a:avLst/>
            <a:gdLst/>
            <a:ahLst/>
            <a:cxnLst/>
            <a:rect r="r" b="b" t="t" l="l"/>
            <a:pathLst>
              <a:path h="392130" w="626952">
                <a:moveTo>
                  <a:pt x="0" y="0"/>
                </a:moveTo>
                <a:lnTo>
                  <a:pt x="626952" y="0"/>
                </a:lnTo>
                <a:lnTo>
                  <a:pt x="626952" y="392130"/>
                </a:lnTo>
                <a:lnTo>
                  <a:pt x="0" y="392130"/>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33" id="33"/>
          <p:cNvSpPr/>
          <p:nvPr/>
        </p:nvSpPr>
        <p:spPr>
          <a:xfrm flipH="false" flipV="false" rot="6902289">
            <a:off x="-21940" y="5753648"/>
            <a:ext cx="1034860" cy="383329"/>
          </a:xfrm>
          <a:custGeom>
            <a:avLst/>
            <a:gdLst/>
            <a:ahLst/>
            <a:cxnLst/>
            <a:rect r="r" b="b" t="t" l="l"/>
            <a:pathLst>
              <a:path h="383329" w="1034860">
                <a:moveTo>
                  <a:pt x="0" y="0"/>
                </a:moveTo>
                <a:lnTo>
                  <a:pt x="1034860" y="0"/>
                </a:lnTo>
                <a:lnTo>
                  <a:pt x="1034860" y="383330"/>
                </a:lnTo>
                <a:lnTo>
                  <a:pt x="0" y="383330"/>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Freeform 34" id="34"/>
          <p:cNvSpPr/>
          <p:nvPr/>
        </p:nvSpPr>
        <p:spPr>
          <a:xfrm flipH="false" flipV="false" rot="2455979">
            <a:off x="16406379" y="6066735"/>
            <a:ext cx="1034860" cy="383329"/>
          </a:xfrm>
          <a:custGeom>
            <a:avLst/>
            <a:gdLst/>
            <a:ahLst/>
            <a:cxnLst/>
            <a:rect r="r" b="b" t="t" l="l"/>
            <a:pathLst>
              <a:path h="383329" w="1034860">
                <a:moveTo>
                  <a:pt x="0" y="0"/>
                </a:moveTo>
                <a:lnTo>
                  <a:pt x="1034860" y="0"/>
                </a:lnTo>
                <a:lnTo>
                  <a:pt x="1034860" y="383329"/>
                </a:lnTo>
                <a:lnTo>
                  <a:pt x="0" y="383329"/>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DAG4ewvKjQk</dc:identifier>
  <dcterms:modified xsi:type="dcterms:W3CDTF">2011-08-01T06:04:30Z</dcterms:modified>
  <cp:revision>1</cp:revision>
  <dc:title>PPT Projek Data Wrangling Kelompok 3</dc:title>
</cp:coreProperties>
</file>